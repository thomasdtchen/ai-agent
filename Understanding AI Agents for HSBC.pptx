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1.svg" ContentType="image/svg+xml"/>
  <Override PartName="/ppt/media/image13.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1.svg" ContentType="image/svg+xml"/>
  <Override PartName="/ppt/media/image33.svg" ContentType="image/svg+xml"/>
  <Override PartName="/ppt/media/image37.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65" r:id="rId4"/>
    <p:sldId id="266" r:id="rId6"/>
    <p:sldId id="276" r:id="rId7"/>
    <p:sldId id="277" r:id="rId8"/>
    <p:sldId id="257" r:id="rId9"/>
    <p:sldId id="258" r:id="rId10"/>
    <p:sldId id="259" r:id="rId11"/>
    <p:sldId id="260" r:id="rId12"/>
    <p:sldId id="263" r:id="rId13"/>
    <p:sldId id="261" r:id="rId14"/>
    <p:sldId id="262" r:id="rId15"/>
    <p:sldId id="271" r:id="rId16"/>
    <p:sldId id="264"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64"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64"/>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Hello everyone, and welcome. Today, we're going to explore an exciting topic that's reshaping the future of work: AI Agents. In this session, we'll break down what AI Agents are, how they function, and why they are relevant to us here at HSBC. Let's dive in.</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Here's a roadmap of our discussion today. We'll start with a clear definition of what an AI Agent is. Then, we'll dissect its three core components: the Brain, Memory, and Tools. After that, we'll talk about the philosophy behind designing effective Agents. We'll also clarify the key differences between Agents and traditional automated workflows. Finally, we'll wrap up with a summary and open the floor for questions.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To understand AI Agents, we need to look at their three fundamental building blocks. First, the Brain, which is the large language model that does the thinking. Second, Memory, which allows the agent to learn from past experiences. And third, Tools, which are the agent's hands and feet, letting it interact with the outside world. Together, these three components create a system that can understand, learn, and act.</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The first core component is the "Brain." This is essentially the large language model, the AI engine that drives everything. It's what allows the Agent to understand, reason, and plan. Whether it's breaking down a complex request or generating human-like responses, the brain is the central processing unit that gives the Agent its intelligence.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First up is Memory. Think of it as the agent's ability to remember. Short-term memory is like your working memory, keeping track of the current chat. Long-term memory is like a filing cabinet, where important information from past interactions is stored for later use. This diagram shows how information flows between these two systems, allowing the agent to learn and provide personalized service.</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Next is Agentic RAG. Traditional RAG is like a simple search engine. Agentic RAG is smarter. It doesn't just search; it thinks about how to search. As this diagram shows, the agent first optimizes the user's query, then searches the right sources, checks if the information is good enough, and if not, it tries again. This makes it much more effective for finding the right answer.</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Now, let's talk about the MCP Protocol. Imagine it as a universal plug adapter for AI. Instead of every AI app needing a custom connection to every tool, they all connect to an MCP server. This server acts as a hub, translating requests and responses, making it easy to plug in new applications or tools. It's all about standardization and flexibility.</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Skills are what turn a general AI model into a specialist. Think of a skill as a pre-packaged set of instructions for a specific job, like "processing a loan application." By adding this skill to a general model, it instantly knows the workflow, which tools to use, and where to find the necessary information. It's like giving a generalist AI a specialized training manual.</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Finally, let's clarify the key difference between a Workflow and an Agent. A workflow is like a recipe; it's a fixed set of steps. It's reliable for repetitive tasks but can't adapt.</a:t>
            </a:r>
            <a:endParaRPr lang="en-US" sz="1400" b="0" i="0" u="none" strike="noStrike">
              <a:solidFill>
                <a:srgbClr val="000000"/>
              </a:solidFill>
            </a:endParaRPr>
          </a:p>
          <a:p>
            <a:pPr indent="0" algn="l">
              <a:lnSpc>
                <a:spcPct val="100000"/>
              </a:lnSpc>
            </a:pPr>
            <a:r>
              <a:rPr lang="en-US" sz="1400" b="0" i="0" u="none" strike="noStrike">
                <a:solidFill>
                  <a:srgbClr val="000000"/>
                </a:solidFill>
              </a:rPr>
              <a:t>An Agent, as shown in the diagram on the right, is dynamic. It doesn't follow a fixed path; it assesses the situation, decides which tools and skills to use, and charts its own course. This makes it far more flexible for handling the unexpected.</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Let's look at the Single-Agent Architecture. This is the most basic form. One agent does everything: it understands the task, plans how to do it, uses the necessary tools, and delivers the result. It's like having a single employee handle a project from start to finish. It's simple and effective for many tasks.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For more complex tasks, we use a Multi-Agent Architecture. This is like a team of specialists. A main agent acts as the project manager, breaking down the big task into smaller parts and assigning them to sub-agents who are experts in their fields, like research or analysis. They work in parallel and report back to the main agent, who then compiles the final result. It's a powerful model for tackling complex challenges.</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Now, let's talk about a crucial design principle: KISS, or "Keep It Simple, Stupid." The goal isn't to use the most complex technology available, but to use the right tool for the job. We should always start with the simplest solution. Can a well-written prompt get the job done? Great. If not, can an automated workflow handle it? Only when we need true autonomy and adaptability should we reach for a full Agent, and only for the most complex tasks should we consider a multi-agent system.</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That wraps up our overview of the six essential terms for understanding AI Agents. I hope this has been clear and helpful. Now, I'd be happy to answer any questions you may have. Thank you.</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90204"/>
              <a:buNone/>
              <a:defRPr sz="33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90204"/>
              <a:buChar char="•"/>
              <a:defRPr sz="21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marL="914400" marR="0" lvl="1" indent="-342900" algn="l" rtl="0">
              <a:lnSpc>
                <a:spcPct val="90000"/>
              </a:lnSpc>
              <a:spcBef>
                <a:spcPts val="400"/>
              </a:spcBef>
              <a:spcAft>
                <a:spcPts val="0"/>
              </a:spcAft>
              <a:buClr>
                <a:schemeClr val="dk1"/>
              </a:buClr>
              <a:buSzPts val="1800"/>
              <a:buFont typeface="Arial" panose="020B0604020202090204"/>
              <a:buChar char="•"/>
              <a:defRPr sz="18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L="1371600" marR="0" lvl="2" indent="-323850" algn="l" rtl="0">
              <a:lnSpc>
                <a:spcPct val="90000"/>
              </a:lnSpc>
              <a:spcBef>
                <a:spcPts val="400"/>
              </a:spcBef>
              <a:spcAft>
                <a:spcPts val="0"/>
              </a:spcAft>
              <a:buClr>
                <a:schemeClr val="dk1"/>
              </a:buClr>
              <a:buSzPts val="1500"/>
              <a:buFont typeface="Arial" panose="020B0604020202090204"/>
              <a:buChar char="•"/>
              <a:defRPr sz="15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L="0" marR="0" lvl="1"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2pPr>
            <a:lvl3pPr marL="0" marR="0" lvl="2"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3pPr>
            <a:lvl4pPr marL="0" marR="0" lvl="3"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4pPr>
            <a:lvl5pPr marL="0" marR="0" lvl="4"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5pPr>
            <a:lvl6pPr marL="0" marR="0" lvl="5"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6pPr>
            <a:lvl7pPr marL="0" marR="0" lvl="6"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7pPr>
            <a:lvl8pPr marL="0" marR="0" lvl="7"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8pPr>
            <a:lvl9pPr marL="0" marR="0" lvl="8"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2.xml"/><Relationship Id="rId1" Type="http://schemas.openxmlformats.org/officeDocument/2006/relationships/image" Target="../media/image2.jpe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 Id="rId3" Type="http://schemas.openxmlformats.org/officeDocument/2006/relationships/image" Target="../media/image5.png"/><Relationship Id="rId2" Type="http://schemas.openxmlformats.org/officeDocument/2006/relationships/image" Target="../media/image4.svg"/><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9" Type="http://schemas.openxmlformats.org/officeDocument/2006/relationships/notesSlide" Target="../notesSlides/notesSlide4.xml"/><Relationship Id="rId8" Type="http://schemas.openxmlformats.org/officeDocument/2006/relationships/slideLayout" Target="../slideLayouts/slideLayout12.xml"/><Relationship Id="rId7" Type="http://schemas.openxmlformats.org/officeDocument/2006/relationships/image" Target="../media/image13.svg"/><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image" Target="../media/image9.jpeg"/></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5.xml"/><Relationship Id="rId5" Type="http://schemas.openxmlformats.org/officeDocument/2006/relationships/slideLayout" Target="../slideLayouts/slideLayout12.xml"/><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image" Target="../media/image4.svg"/><Relationship Id="rId1" Type="http://schemas.openxmlformats.org/officeDocument/2006/relationships/image" Target="../media/image14.png"/></Relationships>
</file>

<file path=ppt/slides/_rels/slide6.xml.rels><?xml version="1.0" encoding="UTF-8" standalone="yes"?>
<Relationships xmlns="http://schemas.openxmlformats.org/package/2006/relationships"><Relationship Id="rId6" Type="http://schemas.openxmlformats.org/officeDocument/2006/relationships/notesSlide" Target="../notesSlides/notesSlide6.xml"/><Relationship Id="rId5" Type="http://schemas.openxmlformats.org/officeDocument/2006/relationships/slideLayout" Target="../slideLayouts/slideLayout12.xml"/><Relationship Id="rId4" Type="http://schemas.openxmlformats.org/officeDocument/2006/relationships/image" Target="../media/image18.svg"/><Relationship Id="rId3" Type="http://schemas.openxmlformats.org/officeDocument/2006/relationships/image" Target="../media/image17.png"/><Relationship Id="rId2" Type="http://schemas.openxmlformats.org/officeDocument/2006/relationships/image" Target="../media/image4.svg"/><Relationship Id="rId1" Type="http://schemas.openxmlformats.org/officeDocument/2006/relationships/image" Target="../media/image3.png"/></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2.xml"/><Relationship Id="rId4" Type="http://schemas.openxmlformats.org/officeDocument/2006/relationships/image" Target="../media/image22.svg"/><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2.xml"/><Relationship Id="rId2" Type="http://schemas.openxmlformats.org/officeDocument/2006/relationships/image" Target="../media/image24.svg"/><Relationship Id="rId1" Type="http://schemas.openxmlformats.org/officeDocument/2006/relationships/image" Target="../media/image23.png"/></Relationships>
</file>

<file path=ppt/slides/_rels/slide9.xml.rels><?xml version="1.0" encoding="UTF-8" standalone="yes"?>
<Relationships xmlns="http://schemas.openxmlformats.org/package/2006/relationships"><Relationship Id="rId6" Type="http://schemas.openxmlformats.org/officeDocument/2006/relationships/notesSlide" Target="../notesSlides/notesSlide9.xml"/><Relationship Id="rId5" Type="http://schemas.openxmlformats.org/officeDocument/2006/relationships/slideLayout" Target="../slideLayouts/slideLayout12.xml"/><Relationship Id="rId4" Type="http://schemas.openxmlformats.org/officeDocument/2006/relationships/image" Target="../media/image28.svg"/><Relationship Id="rId3" Type="http://schemas.openxmlformats.org/officeDocument/2006/relationships/image" Target="../media/image27.png"/><Relationship Id="rId2" Type="http://schemas.openxmlformats.org/officeDocument/2006/relationships/image" Target="../media/image26.svg"/><Relationship Id="rId1" Type="http://schemas.openxmlformats.org/officeDocument/2006/relationships/image" Target="../media/image25.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2.xml"/><Relationship Id="rId2" Type="http://schemas.openxmlformats.org/officeDocument/2006/relationships/image" Target="../media/image20.svg"/><Relationship Id="rId1" Type="http://schemas.openxmlformats.org/officeDocument/2006/relationships/image" Target="../media/image29.png"/></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image" Target="../media/image33.svg"/><Relationship Id="rId3" Type="http://schemas.openxmlformats.org/officeDocument/2006/relationships/image" Target="../media/image32.png"/><Relationship Id="rId2" Type="http://schemas.openxmlformats.org/officeDocument/2006/relationships/image" Target="../media/image31.svg"/><Relationship Id="rId1" Type="http://schemas.openxmlformats.org/officeDocument/2006/relationships/image" Target="../media/image30.png"/></Relationships>
</file>

<file path=ppt/slides/_rels/slide12.xml.rels><?xml version="1.0" encoding="UTF-8" standalone="yes"?>
<Relationships xmlns="http://schemas.openxmlformats.org/package/2006/relationships"><Relationship Id="rId9" Type="http://schemas.openxmlformats.org/officeDocument/2006/relationships/image" Target="../media/image37.svg"/><Relationship Id="rId8" Type="http://schemas.openxmlformats.org/officeDocument/2006/relationships/image" Target="../media/image36.png"/><Relationship Id="rId7" Type="http://schemas.openxmlformats.org/officeDocument/2006/relationships/image" Target="../media/image28.svg"/><Relationship Id="rId6" Type="http://schemas.openxmlformats.org/officeDocument/2006/relationships/image" Target="../media/image35.png"/><Relationship Id="rId5" Type="http://schemas.openxmlformats.org/officeDocument/2006/relationships/image" Target="../media/image26.svg"/><Relationship Id="rId4" Type="http://schemas.openxmlformats.org/officeDocument/2006/relationships/image" Target="../media/image34.png"/><Relationship Id="rId3" Type="http://schemas.openxmlformats.org/officeDocument/2006/relationships/image" Target="../media/image13.svg"/><Relationship Id="rId2" Type="http://schemas.openxmlformats.org/officeDocument/2006/relationships/image" Target="../media/image12.png"/><Relationship Id="rId12" Type="http://schemas.openxmlformats.org/officeDocument/2006/relationships/notesSlide" Target="../notesSlides/notesSlide12.xml"/><Relationship Id="rId11" Type="http://schemas.openxmlformats.org/officeDocument/2006/relationships/slideLayout" Target="../slideLayouts/slideLayout12.xml"/><Relationship Id="rId10" Type="http://schemas.openxmlformats.org/officeDocument/2006/relationships/image" Target="../media/image38.png"/><Relationship Id="rId1" Type="http://schemas.openxmlformats.org/officeDocument/2006/relationships/image" Target="../media/image2.jpe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000000">
              <a:alpha val="6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1016000" y="2286000"/>
            <a:ext cx="10160000" cy="889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4800" b="1" i="0" u="none" strike="noStrike">
                <a:solidFill>
                  <a:srgbClr val="FFFFFF"/>
                </a:solidFill>
                <a:latin typeface="Poppins"/>
                <a:ea typeface="Poppins"/>
                <a:cs typeface="Poppins"/>
                <a:sym typeface="Poppins"/>
              </a:rPr>
              <a:t>Understanding AI Agents</a:t>
            </a:r>
            <a:endParaRPr lang="en-US" sz="1100"/>
          </a:p>
        </p:txBody>
      </p:sp>
      <p:sp>
        <p:nvSpPr>
          <p:cNvPr id="4" name="AutoShape 4"/>
          <p:cNvSpPr/>
          <p:nvPr/>
        </p:nvSpPr>
        <p:spPr>
          <a:xfrm>
            <a:off x="1016000" y="3429000"/>
            <a:ext cx="10160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0" i="0" u="none" strike="noStrike">
                <a:solidFill>
                  <a:srgbClr val="FFFFFF">
                    <a:alpha val="90196"/>
                  </a:srgbClr>
                </a:solidFill>
                <a:latin typeface="Poppins"/>
                <a:ea typeface="Poppins"/>
                <a:cs typeface="Poppins"/>
                <a:sym typeface="Poppins"/>
              </a:rPr>
              <a:t>A Guide for HSBC Colleagues</a:t>
            </a:r>
            <a:endParaRPr lang="en-US" sz="1100"/>
          </a:p>
        </p:txBody>
      </p:sp>
      <p:sp>
        <p:nvSpPr>
          <p:cNvPr id="5" name="AutoShape 5"/>
          <p:cNvSpPr/>
          <p:nvPr/>
        </p:nvSpPr>
        <p:spPr>
          <a:xfrm>
            <a:off x="1016000" y="4445000"/>
            <a:ext cx="1778000" cy="762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4953000"/>
            <a:ext cx="1016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spc="100">
                <a:solidFill>
                  <a:srgbClr val="FFFFFF">
                    <a:alpha val="60000"/>
                  </a:srgbClr>
                </a:solidFill>
                <a:latin typeface="Poppins"/>
                <a:ea typeface="Poppins"/>
                <a:cs typeface="Poppins"/>
                <a:sym typeface="Poppins"/>
              </a:rPr>
              <a:t>INTERNAL TRAINING SERIES | 2026</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solidFill>
            <a:srgbClr val="FFFFFF">
              <a:alpha val="4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381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Agenda</a:t>
            </a:r>
            <a:endParaRPr lang="en-US" sz="1100"/>
          </a:p>
        </p:txBody>
      </p:sp>
      <p:sp>
        <p:nvSpPr>
          <p:cNvPr id="4" name="AutoShape 4"/>
          <p:cNvSpPr/>
          <p:nvPr/>
        </p:nvSpPr>
        <p:spPr>
          <a:xfrm>
            <a:off x="762000" y="1524000"/>
            <a:ext cx="3302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5" name="AutoShape 5"/>
          <p:cNvSpPr/>
          <p:nvPr/>
        </p:nvSpPr>
        <p:spPr>
          <a:xfrm>
            <a:off x="1016000" y="1905000"/>
            <a:ext cx="889000" cy="889000"/>
          </a:xfrm>
          <a:prstGeom prst="ellipse">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6" name="AutoShape 6"/>
          <p:cNvSpPr/>
          <p:nvPr/>
        </p:nvSpPr>
        <p:spPr>
          <a:xfrm>
            <a:off x="1016000" y="2133600"/>
            <a:ext cx="889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200" b="1" i="0" u="none" strike="noStrike">
                <a:solidFill>
                  <a:srgbClr val="FFFFFF"/>
                </a:solidFill>
                <a:latin typeface="Poppins"/>
                <a:ea typeface="Poppins"/>
                <a:cs typeface="Poppins"/>
                <a:sym typeface="Poppins"/>
              </a:rPr>
              <a:t>01</a:t>
            </a:r>
            <a:endParaRPr lang="en-US" sz="1100"/>
          </a:p>
        </p:txBody>
      </p:sp>
      <p:sp>
        <p:nvSpPr>
          <p:cNvPr id="7" name="AutoShape 7"/>
          <p:cNvSpPr/>
          <p:nvPr/>
        </p:nvSpPr>
        <p:spPr>
          <a:xfrm>
            <a:off x="2159000" y="1905000"/>
            <a:ext cx="165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Poppins"/>
                <a:ea typeface="Poppins"/>
                <a:cs typeface="Poppins"/>
                <a:sym typeface="Poppins"/>
              </a:rPr>
              <a:t>What is an Agent?</a:t>
            </a:r>
            <a:endParaRPr lang="en-US" sz="1100"/>
          </a:p>
        </p:txBody>
      </p:sp>
      <p:sp>
        <p:nvSpPr>
          <p:cNvPr id="8" name="AutoShape 8"/>
          <p:cNvSpPr/>
          <p:nvPr/>
        </p:nvSpPr>
        <p:spPr>
          <a:xfrm>
            <a:off x="2159000" y="24130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66666"/>
                </a:solidFill>
                <a:latin typeface="Noto Sans SC"/>
                <a:ea typeface="Noto Sans SC"/>
                <a:cs typeface="Noto Sans SC"/>
                <a:sym typeface="Noto Sans SC"/>
              </a:rPr>
              <a:t>Definition and core capabilities of AI Agents in modern systems.</a:t>
            </a:r>
            <a:endParaRPr lang="en-US" sz="1100"/>
          </a:p>
        </p:txBody>
      </p:sp>
      <p:sp>
        <p:nvSpPr>
          <p:cNvPr id="9" name="AutoShape 9"/>
          <p:cNvSpPr/>
          <p:nvPr/>
        </p:nvSpPr>
        <p:spPr>
          <a:xfrm>
            <a:off x="4445000" y="1524000"/>
            <a:ext cx="3302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0" name="AutoShape 10"/>
          <p:cNvSpPr/>
          <p:nvPr/>
        </p:nvSpPr>
        <p:spPr>
          <a:xfrm>
            <a:off x="4699000" y="1905000"/>
            <a:ext cx="889000" cy="889000"/>
          </a:xfrm>
          <a:prstGeom prst="ellipse">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1" name="AutoShape 11"/>
          <p:cNvSpPr/>
          <p:nvPr/>
        </p:nvSpPr>
        <p:spPr>
          <a:xfrm>
            <a:off x="4699000" y="2133600"/>
            <a:ext cx="889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200" b="1" i="0" u="none" strike="noStrike">
                <a:solidFill>
                  <a:srgbClr val="FFFFFF"/>
                </a:solidFill>
                <a:latin typeface="Poppins"/>
                <a:ea typeface="Poppins"/>
                <a:cs typeface="Poppins"/>
                <a:sym typeface="Poppins"/>
              </a:rPr>
              <a:t>02</a:t>
            </a:r>
            <a:endParaRPr lang="en-US" sz="1100"/>
          </a:p>
        </p:txBody>
      </p:sp>
      <p:sp>
        <p:nvSpPr>
          <p:cNvPr id="12" name="AutoShape 12"/>
          <p:cNvSpPr/>
          <p:nvPr/>
        </p:nvSpPr>
        <p:spPr>
          <a:xfrm>
            <a:off x="5842000" y="1905000"/>
            <a:ext cx="165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Poppins"/>
                <a:ea typeface="Poppins"/>
                <a:cs typeface="Poppins"/>
                <a:sym typeface="Poppins"/>
              </a:rPr>
              <a:t>The Core Components</a:t>
            </a:r>
            <a:endParaRPr lang="en-US" sz="1100"/>
          </a:p>
        </p:txBody>
      </p:sp>
      <p:sp>
        <p:nvSpPr>
          <p:cNvPr id="13" name="AutoShape 13"/>
          <p:cNvSpPr/>
          <p:nvPr/>
        </p:nvSpPr>
        <p:spPr>
          <a:xfrm>
            <a:off x="5842000" y="24130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66666"/>
                </a:solidFill>
                <a:latin typeface="Noto Sans SC"/>
                <a:ea typeface="Noto Sans SC"/>
                <a:cs typeface="Noto Sans SC"/>
                <a:sym typeface="Noto Sans SC"/>
              </a:rPr>
              <a:t>Breaking down the Brain, Memory, and Tools that power intelligent agents.</a:t>
            </a:r>
            <a:endParaRPr lang="en-US" sz="1100"/>
          </a:p>
        </p:txBody>
      </p:sp>
      <p:sp>
        <p:nvSpPr>
          <p:cNvPr id="14" name="AutoShape 14"/>
          <p:cNvSpPr/>
          <p:nvPr/>
        </p:nvSpPr>
        <p:spPr>
          <a:xfrm>
            <a:off x="8128000" y="1524000"/>
            <a:ext cx="3302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15" name="AutoShape 15"/>
          <p:cNvSpPr/>
          <p:nvPr/>
        </p:nvSpPr>
        <p:spPr>
          <a:xfrm>
            <a:off x="8382000" y="1905000"/>
            <a:ext cx="889000" cy="889000"/>
          </a:xfrm>
          <a:prstGeom prst="ellipse">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6" name="AutoShape 16"/>
          <p:cNvSpPr/>
          <p:nvPr/>
        </p:nvSpPr>
        <p:spPr>
          <a:xfrm>
            <a:off x="8382000" y="2133600"/>
            <a:ext cx="889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200" b="1" i="0" u="none" strike="noStrike">
                <a:solidFill>
                  <a:srgbClr val="FFFFFF"/>
                </a:solidFill>
                <a:latin typeface="Poppins"/>
                <a:ea typeface="Poppins"/>
                <a:cs typeface="Poppins"/>
                <a:sym typeface="Poppins"/>
              </a:rPr>
              <a:t>03</a:t>
            </a:r>
            <a:endParaRPr lang="en-US" sz="1100"/>
          </a:p>
        </p:txBody>
      </p:sp>
      <p:sp>
        <p:nvSpPr>
          <p:cNvPr id="17" name="AutoShape 17"/>
          <p:cNvSpPr/>
          <p:nvPr/>
        </p:nvSpPr>
        <p:spPr>
          <a:xfrm>
            <a:off x="9525000" y="1905000"/>
            <a:ext cx="165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Poppins"/>
                <a:ea typeface="Poppins"/>
                <a:cs typeface="Poppins"/>
                <a:sym typeface="Poppins"/>
              </a:rPr>
              <a:t>LangGraph</a:t>
            </a:r>
            <a:endParaRPr lang="en-US" sz="1600" b="1" i="0" u="none" strike="noStrike">
              <a:solidFill>
                <a:srgbClr val="333333"/>
              </a:solidFill>
              <a:latin typeface="Poppins"/>
              <a:ea typeface="Poppins"/>
              <a:cs typeface="Poppins"/>
              <a:sym typeface="Poppins"/>
            </a:endParaRPr>
          </a:p>
        </p:txBody>
      </p:sp>
      <p:sp>
        <p:nvSpPr>
          <p:cNvPr id="18" name="AutoShape 18"/>
          <p:cNvSpPr/>
          <p:nvPr/>
        </p:nvSpPr>
        <p:spPr>
          <a:xfrm>
            <a:off x="9525000" y="22860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altLang="en-US" sz="1200" b="0" i="0" u="none" strike="noStrike">
                <a:solidFill>
                  <a:srgbClr val="666666"/>
                </a:solidFill>
                <a:latin typeface="Noto Sans SC"/>
                <a:ea typeface="Noto Sans SC"/>
                <a:cs typeface="Noto Sans SC"/>
                <a:sym typeface="Noto Sans SC"/>
              </a:rPr>
              <a:t>Building Stateful, Multi-Step Agent Flows</a:t>
            </a:r>
            <a:r>
              <a:rPr lang="en-US" sz="1200" b="0" i="0" u="none" strike="noStrike">
                <a:solidFill>
                  <a:srgbClr val="666666"/>
                </a:solidFill>
                <a:latin typeface="Noto Sans SC"/>
                <a:ea typeface="Noto Sans SC"/>
                <a:cs typeface="Noto Sans SC"/>
                <a:sym typeface="Noto Sans SC"/>
              </a:rPr>
              <a:t>.</a:t>
            </a:r>
            <a:endParaRPr lang="en-US" sz="1100"/>
          </a:p>
        </p:txBody>
      </p:sp>
      <p:sp>
        <p:nvSpPr>
          <p:cNvPr id="19" name="AutoShape 19"/>
          <p:cNvSpPr/>
          <p:nvPr/>
        </p:nvSpPr>
        <p:spPr>
          <a:xfrm>
            <a:off x="762000" y="3810000"/>
            <a:ext cx="3302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20" name="AutoShape 20"/>
          <p:cNvSpPr/>
          <p:nvPr/>
        </p:nvSpPr>
        <p:spPr>
          <a:xfrm>
            <a:off x="1016000" y="4191000"/>
            <a:ext cx="889000" cy="889000"/>
          </a:xfrm>
          <a:prstGeom prst="ellipse">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21" name="AutoShape 21"/>
          <p:cNvSpPr/>
          <p:nvPr/>
        </p:nvSpPr>
        <p:spPr>
          <a:xfrm>
            <a:off x="1016000" y="4419600"/>
            <a:ext cx="889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200" b="1" i="0" u="none" strike="noStrike">
                <a:solidFill>
                  <a:srgbClr val="FFFFFF"/>
                </a:solidFill>
                <a:latin typeface="Poppins"/>
                <a:ea typeface="Poppins"/>
                <a:cs typeface="Poppins"/>
                <a:sym typeface="Poppins"/>
              </a:rPr>
              <a:t>04</a:t>
            </a:r>
            <a:endParaRPr lang="en-US" sz="1100"/>
          </a:p>
        </p:txBody>
      </p:sp>
      <p:sp>
        <p:nvSpPr>
          <p:cNvPr id="22" name="AutoShape 22"/>
          <p:cNvSpPr/>
          <p:nvPr/>
        </p:nvSpPr>
        <p:spPr>
          <a:xfrm>
            <a:off x="2159000" y="4191000"/>
            <a:ext cx="165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Poppins"/>
                <a:ea typeface="Poppins"/>
                <a:cs typeface="Poppins"/>
                <a:sym typeface="Poppins"/>
              </a:rPr>
              <a:t>Agent vs. Workflow</a:t>
            </a:r>
            <a:endParaRPr lang="en-US" sz="1100"/>
          </a:p>
        </p:txBody>
      </p:sp>
      <p:sp>
        <p:nvSpPr>
          <p:cNvPr id="23" name="AutoShape 23"/>
          <p:cNvSpPr/>
          <p:nvPr/>
        </p:nvSpPr>
        <p:spPr>
          <a:xfrm>
            <a:off x="2159000" y="46990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66666"/>
                </a:solidFill>
                <a:latin typeface="Noto Sans SC"/>
                <a:ea typeface="Noto Sans SC"/>
                <a:cs typeface="Noto Sans SC"/>
                <a:sym typeface="Noto Sans SC"/>
              </a:rPr>
              <a:t>Key differences and practical applications compared to traditional automation.</a:t>
            </a:r>
            <a:endParaRPr lang="en-US" sz="1100"/>
          </a:p>
        </p:txBody>
      </p:sp>
      <p:sp>
        <p:nvSpPr>
          <p:cNvPr id="24" name="AutoShape 24"/>
          <p:cNvSpPr/>
          <p:nvPr/>
        </p:nvSpPr>
        <p:spPr>
          <a:xfrm>
            <a:off x="8195310" y="3810000"/>
            <a:ext cx="3302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25" name="AutoShape 25"/>
          <p:cNvSpPr/>
          <p:nvPr/>
        </p:nvSpPr>
        <p:spPr>
          <a:xfrm>
            <a:off x="8449310" y="4191000"/>
            <a:ext cx="889000" cy="889000"/>
          </a:xfrm>
          <a:prstGeom prst="ellipse">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26" name="AutoShape 26"/>
          <p:cNvSpPr/>
          <p:nvPr/>
        </p:nvSpPr>
        <p:spPr>
          <a:xfrm>
            <a:off x="8449310" y="4419600"/>
            <a:ext cx="889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200" b="1" i="0" u="none" strike="noStrike">
                <a:solidFill>
                  <a:srgbClr val="FFFFFF"/>
                </a:solidFill>
                <a:latin typeface="Poppins"/>
                <a:ea typeface="Poppins"/>
                <a:cs typeface="Poppins"/>
                <a:sym typeface="Poppins"/>
              </a:rPr>
              <a:t>06</a:t>
            </a:r>
            <a:endParaRPr lang="en-US" sz="1100"/>
          </a:p>
        </p:txBody>
      </p:sp>
      <p:sp>
        <p:nvSpPr>
          <p:cNvPr id="27" name="AutoShape 27"/>
          <p:cNvSpPr/>
          <p:nvPr/>
        </p:nvSpPr>
        <p:spPr>
          <a:xfrm>
            <a:off x="9592310" y="4191000"/>
            <a:ext cx="165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Poppins"/>
                <a:ea typeface="Poppins"/>
                <a:cs typeface="Poppins"/>
                <a:sym typeface="Poppins"/>
              </a:rPr>
              <a:t>Summary &amp; Q&amp;A</a:t>
            </a:r>
            <a:endParaRPr lang="en-US" sz="1100"/>
          </a:p>
        </p:txBody>
      </p:sp>
      <p:sp>
        <p:nvSpPr>
          <p:cNvPr id="28" name="AutoShape 28"/>
          <p:cNvSpPr/>
          <p:nvPr/>
        </p:nvSpPr>
        <p:spPr>
          <a:xfrm>
            <a:off x="9592310" y="46990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66666"/>
                </a:solidFill>
                <a:latin typeface="Noto Sans SC"/>
                <a:ea typeface="Noto Sans SC"/>
                <a:cs typeface="Noto Sans SC"/>
                <a:sym typeface="Noto Sans SC"/>
              </a:rPr>
              <a:t>Recap of key takeaways and an open discussion session for questions.</a:t>
            </a:r>
            <a:endParaRPr lang="en-US" sz="1100"/>
          </a:p>
        </p:txBody>
      </p:sp>
      <p:sp>
        <p:nvSpPr>
          <p:cNvPr id="29" name="AutoShape 14"/>
          <p:cNvSpPr/>
          <p:nvPr/>
        </p:nvSpPr>
        <p:spPr>
          <a:xfrm>
            <a:off x="4445000" y="3810000"/>
            <a:ext cx="3302000" cy="1905000"/>
          </a:xfrm>
          <a:prstGeom prst="roundRect">
            <a:avLst>
              <a:gd name="adj" fmla="val 8000"/>
            </a:avLst>
          </a:prstGeom>
          <a:solidFill>
            <a:srgbClr val="FFFFFF">
              <a:alpha val="100000"/>
            </a:srgbClr>
          </a:solidFill>
          <a:ln w="25400" cap="flat" cmpd="sng">
            <a:noFill/>
            <a:prstDash val="solid"/>
            <a:round/>
          </a:ln>
          <a:effectLst>
            <a:outerShdw blurRad="190500" dist="50800" dir="5400000" algn="tl" rotWithShape="0">
              <a:srgbClr val="000000">
                <a:alpha val="8000"/>
              </a:srgbClr>
            </a:outerShdw>
          </a:effectLst>
        </p:spPr>
        <p:txBody>
          <a:bodyPr vert="horz" wrap="square" lIns="63500" tIns="63500" rIns="63500" bIns="63500" rtlCol="0" anchor="ctr"/>
          <a:lstStyle/>
          <a:p>
            <a:pPr algn="ctr">
              <a:defRPr/>
            </a:pPr>
          </a:p>
        </p:txBody>
      </p:sp>
      <p:sp>
        <p:nvSpPr>
          <p:cNvPr id="30" name="AutoShape 15"/>
          <p:cNvSpPr/>
          <p:nvPr/>
        </p:nvSpPr>
        <p:spPr>
          <a:xfrm>
            <a:off x="4699000" y="4191000"/>
            <a:ext cx="889000" cy="889000"/>
          </a:xfrm>
          <a:prstGeom prst="ellipse">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16"/>
          <p:cNvSpPr/>
          <p:nvPr/>
        </p:nvSpPr>
        <p:spPr>
          <a:xfrm>
            <a:off x="4699000" y="4419600"/>
            <a:ext cx="889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200" b="1" i="0" u="none" strike="noStrike">
                <a:solidFill>
                  <a:srgbClr val="FFFFFF"/>
                </a:solidFill>
                <a:latin typeface="Poppins"/>
                <a:ea typeface="Poppins"/>
                <a:cs typeface="Poppins"/>
                <a:sym typeface="Poppins"/>
              </a:rPr>
              <a:t>05</a:t>
            </a:r>
            <a:endParaRPr lang="en-US" sz="1100"/>
          </a:p>
        </p:txBody>
      </p:sp>
      <p:sp>
        <p:nvSpPr>
          <p:cNvPr id="32" name="AutoShape 17"/>
          <p:cNvSpPr/>
          <p:nvPr/>
        </p:nvSpPr>
        <p:spPr>
          <a:xfrm>
            <a:off x="5842000" y="4191000"/>
            <a:ext cx="165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333333"/>
                </a:solidFill>
                <a:latin typeface="Poppins"/>
                <a:ea typeface="Poppins"/>
                <a:cs typeface="Poppins"/>
                <a:sym typeface="Poppins"/>
              </a:rPr>
              <a:t>Design Principles</a:t>
            </a:r>
            <a:endParaRPr lang="en-US" sz="1100"/>
          </a:p>
        </p:txBody>
      </p:sp>
      <p:sp>
        <p:nvSpPr>
          <p:cNvPr id="33" name="AutoShape 18"/>
          <p:cNvSpPr/>
          <p:nvPr/>
        </p:nvSpPr>
        <p:spPr>
          <a:xfrm>
            <a:off x="5842000" y="4699000"/>
            <a:ext cx="1651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666666"/>
                </a:solidFill>
                <a:latin typeface="Noto Sans SC"/>
                <a:ea typeface="Noto Sans SC"/>
                <a:cs typeface="Noto Sans SC"/>
                <a:sym typeface="Noto Sans SC"/>
              </a:rPr>
              <a:t>Solving complex problems in the simplest, most efficient way possible.</a:t>
            </a:r>
            <a:endParaRPr lang="en-US" sz="11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altLang="en-US" sz="2800">
                <a:sym typeface="+mn-ea"/>
              </a:rPr>
              <a:t>What is an AI agent?</a:t>
            </a:r>
            <a:endParaRPr lang="en-US" altLang="en-US" sz="2800"/>
          </a:p>
          <a:p>
            <a:pPr indent="0" algn="l">
              <a:lnSpc>
                <a:spcPct val="125000"/>
              </a:lnSpc>
              <a:defRPr/>
            </a:pPr>
            <a:r>
              <a:rPr lang="en-US" altLang="en-US" sz="1600"/>
              <a:t>An AI agent is a software-based ‘actor’ (entity) that uses an AI engine to take action. It can distinguish its environment, process data, and take actions on its own to achieve specific or singular goal. AI agents operate independently and can interact with users, systems, or other agents.</a:t>
            </a:r>
            <a:endParaRPr lang="en-US" altLang="en-US" sz="1600"/>
          </a:p>
        </p:txBody>
      </p:sp>
      <p:sp>
        <p:nvSpPr>
          <p:cNvPr id="3" name="AutoShape 3"/>
          <p:cNvSpPr/>
          <p:nvPr/>
        </p:nvSpPr>
        <p:spPr>
          <a:xfrm>
            <a:off x="773430" y="1960880"/>
            <a:ext cx="3302000" cy="4699000"/>
          </a:xfrm>
          <a:prstGeom prst="roundRect">
            <a:avLst>
              <a:gd name="adj" fmla="val 4615"/>
            </a:avLst>
          </a:prstGeom>
          <a:solidFill>
            <a:srgbClr val="F9F9F9">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841500" y="1778000"/>
            <a:ext cx="1143000" cy="1143000"/>
          </a:xfrm>
          <a:prstGeom prst="rect">
            <a:avLst/>
          </a:prstGeom>
        </p:spPr>
      </p:pic>
      <p:sp>
        <p:nvSpPr>
          <p:cNvPr id="5" name="AutoShape 5"/>
          <p:cNvSpPr/>
          <p:nvPr/>
        </p:nvSpPr>
        <p:spPr>
          <a:xfrm>
            <a:off x="1016000" y="3111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Poppins"/>
                <a:ea typeface="Poppins"/>
                <a:cs typeface="Poppins"/>
                <a:sym typeface="Poppins"/>
              </a:rPr>
              <a:t>Brain: The Thinking Core</a:t>
            </a:r>
            <a:endParaRPr lang="en-US" sz="1100"/>
          </a:p>
        </p:txBody>
      </p:sp>
      <p:sp>
        <p:nvSpPr>
          <p:cNvPr id="6" name="AutoShape 6"/>
          <p:cNvSpPr/>
          <p:nvPr/>
        </p:nvSpPr>
        <p:spPr>
          <a:xfrm>
            <a:off x="1905000" y="3683000"/>
            <a:ext cx="1016000" cy="381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016000" y="4064000"/>
            <a:ext cx="2794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D40000"/>
                </a:solidFill>
                <a:latin typeface="Poppins"/>
                <a:ea typeface="Poppins"/>
                <a:cs typeface="Poppins"/>
                <a:sym typeface="Poppins"/>
              </a:rPr>
              <a:t>POWERED BY LLMs</a:t>
            </a:r>
            <a:endParaRPr lang="en-US" sz="1100"/>
          </a:p>
        </p:txBody>
      </p:sp>
      <p:sp>
        <p:nvSpPr>
          <p:cNvPr id="8" name="AutoShape 8"/>
          <p:cNvSpPr/>
          <p:nvPr/>
        </p:nvSpPr>
        <p:spPr>
          <a:xfrm>
            <a:off x="1016000" y="4445000"/>
            <a:ext cx="2794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Driven by advanced models like GPT-4 and Claude, forming the foundation of intelligence.</a:t>
            </a:r>
            <a:endParaRPr lang="en-US" sz="1100"/>
          </a:p>
        </p:txBody>
      </p:sp>
      <p:sp>
        <p:nvSpPr>
          <p:cNvPr id="9" name="AutoShape 9"/>
          <p:cNvSpPr/>
          <p:nvPr/>
        </p:nvSpPr>
        <p:spPr>
          <a:xfrm>
            <a:off x="1016000" y="5207000"/>
            <a:ext cx="2794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D40000"/>
                </a:solidFill>
                <a:latin typeface="Poppins"/>
                <a:ea typeface="Poppins"/>
                <a:cs typeface="Poppins"/>
                <a:sym typeface="Poppins"/>
              </a:rPr>
              <a:t>CORE INTELLIGENCE</a:t>
            </a:r>
            <a:endParaRPr lang="en-US" sz="1100"/>
          </a:p>
        </p:txBody>
      </p:sp>
      <p:sp>
        <p:nvSpPr>
          <p:cNvPr id="10" name="AutoShape 10"/>
          <p:cNvSpPr/>
          <p:nvPr/>
        </p:nvSpPr>
        <p:spPr>
          <a:xfrm>
            <a:off x="1016000" y="5588000"/>
            <a:ext cx="2794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Handles complex reasoning, multi-step planning, and the deep understanding of user intent.</a:t>
            </a:r>
            <a:endParaRPr lang="en-US" sz="1100"/>
          </a:p>
        </p:txBody>
      </p:sp>
      <p:sp>
        <p:nvSpPr>
          <p:cNvPr id="11" name="AutoShape 11"/>
          <p:cNvSpPr/>
          <p:nvPr/>
        </p:nvSpPr>
        <p:spPr>
          <a:xfrm>
            <a:off x="4456430" y="1960880"/>
            <a:ext cx="3302000" cy="4699000"/>
          </a:xfrm>
          <a:prstGeom prst="roundRect">
            <a:avLst>
              <a:gd name="adj" fmla="val 4615"/>
            </a:avLst>
          </a:prstGeom>
          <a:solidFill>
            <a:srgbClr val="F9F9F9">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524500" y="1778000"/>
            <a:ext cx="1143000" cy="1143000"/>
          </a:xfrm>
          <a:prstGeom prst="rect">
            <a:avLst/>
          </a:prstGeom>
        </p:spPr>
      </p:pic>
      <p:sp>
        <p:nvSpPr>
          <p:cNvPr id="13" name="AutoShape 13"/>
          <p:cNvSpPr/>
          <p:nvPr/>
        </p:nvSpPr>
        <p:spPr>
          <a:xfrm>
            <a:off x="4699000" y="3111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Poppins"/>
                <a:ea typeface="Poppins"/>
                <a:cs typeface="Poppins"/>
                <a:sym typeface="Poppins"/>
              </a:rPr>
              <a:t>Memory: The Learning System</a:t>
            </a:r>
            <a:endParaRPr lang="en-US" sz="1100"/>
          </a:p>
        </p:txBody>
      </p:sp>
      <p:sp>
        <p:nvSpPr>
          <p:cNvPr id="14" name="AutoShape 14"/>
          <p:cNvSpPr/>
          <p:nvPr/>
        </p:nvSpPr>
        <p:spPr>
          <a:xfrm>
            <a:off x="5588000" y="3683000"/>
            <a:ext cx="1016000" cy="381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4699000" y="4064000"/>
            <a:ext cx="2794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D40000"/>
                </a:solidFill>
                <a:latin typeface="Poppins"/>
                <a:ea typeface="Poppins"/>
                <a:cs typeface="Poppins"/>
                <a:sym typeface="Poppins"/>
              </a:rPr>
              <a:t>SHORT-TERM CONTEXT</a:t>
            </a:r>
            <a:endParaRPr lang="en-US" sz="1100"/>
          </a:p>
        </p:txBody>
      </p:sp>
      <p:sp>
        <p:nvSpPr>
          <p:cNvPr id="16" name="AutoShape 16"/>
          <p:cNvSpPr/>
          <p:nvPr/>
        </p:nvSpPr>
        <p:spPr>
          <a:xfrm>
            <a:off x="4699000" y="4445000"/>
            <a:ext cx="2794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Maintains awareness of the current conversation thread, ensuring coherent dialogue flow.</a:t>
            </a:r>
            <a:endParaRPr lang="en-US" sz="1100"/>
          </a:p>
        </p:txBody>
      </p:sp>
      <p:sp>
        <p:nvSpPr>
          <p:cNvPr id="17" name="AutoShape 17"/>
          <p:cNvSpPr/>
          <p:nvPr/>
        </p:nvSpPr>
        <p:spPr>
          <a:xfrm>
            <a:off x="4699000" y="5207000"/>
            <a:ext cx="2794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D40000"/>
                </a:solidFill>
                <a:latin typeface="Poppins"/>
                <a:ea typeface="Poppins"/>
                <a:cs typeface="Poppins"/>
                <a:sym typeface="Poppins"/>
              </a:rPr>
              <a:t>LONG-TERM RECALL</a:t>
            </a:r>
            <a:endParaRPr lang="en-US" sz="1100"/>
          </a:p>
        </p:txBody>
      </p:sp>
      <p:sp>
        <p:nvSpPr>
          <p:cNvPr id="18" name="AutoShape 18"/>
          <p:cNvSpPr/>
          <p:nvPr/>
        </p:nvSpPr>
        <p:spPr>
          <a:xfrm>
            <a:off x="4699000" y="5588000"/>
            <a:ext cx="2794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Stores, summarizes, and retrieves past interactions to deliver personalized and contextualized service.</a:t>
            </a:r>
            <a:endParaRPr lang="en-US" sz="1100"/>
          </a:p>
        </p:txBody>
      </p:sp>
      <p:sp>
        <p:nvSpPr>
          <p:cNvPr id="19" name="AutoShape 19"/>
          <p:cNvSpPr/>
          <p:nvPr/>
        </p:nvSpPr>
        <p:spPr>
          <a:xfrm>
            <a:off x="8139430" y="1960880"/>
            <a:ext cx="3302000" cy="4699000"/>
          </a:xfrm>
          <a:prstGeom prst="roundRect">
            <a:avLst>
              <a:gd name="adj" fmla="val 4615"/>
            </a:avLst>
          </a:prstGeom>
          <a:solidFill>
            <a:srgbClr val="F9F9F9">
              <a:alpha val="100000"/>
            </a:srgbClr>
          </a:solidFill>
          <a:ln w="25400" cap="flat" cmpd="sng">
            <a:noFill/>
            <a:prstDash val="solid"/>
            <a:round/>
          </a:ln>
          <a:effectLst>
            <a:outerShdw blurRad="203200" dist="50800" dir="5400000" algn="tl" rotWithShape="0">
              <a:srgbClr val="000000">
                <a:alpha val="8000"/>
              </a:srgbClr>
            </a:outerShdw>
          </a:effectLst>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207500" y="1778000"/>
            <a:ext cx="1143000" cy="1143000"/>
          </a:xfrm>
          <a:prstGeom prst="rect">
            <a:avLst/>
          </a:prstGeom>
        </p:spPr>
      </p:pic>
      <p:sp>
        <p:nvSpPr>
          <p:cNvPr id="21" name="AutoShape 21"/>
          <p:cNvSpPr/>
          <p:nvPr/>
        </p:nvSpPr>
        <p:spPr>
          <a:xfrm>
            <a:off x="8382000" y="3111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Poppins"/>
                <a:ea typeface="Poppins"/>
                <a:cs typeface="Poppins"/>
                <a:sym typeface="Poppins"/>
              </a:rPr>
              <a:t>Tools: The Action Interface</a:t>
            </a:r>
            <a:endParaRPr lang="en-US" sz="1100"/>
          </a:p>
        </p:txBody>
      </p:sp>
      <p:sp>
        <p:nvSpPr>
          <p:cNvPr id="22" name="AutoShape 22"/>
          <p:cNvSpPr/>
          <p:nvPr/>
        </p:nvSpPr>
        <p:spPr>
          <a:xfrm>
            <a:off x="9271000" y="3683000"/>
            <a:ext cx="1016000" cy="381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23" name="AutoShape 23"/>
          <p:cNvSpPr/>
          <p:nvPr/>
        </p:nvSpPr>
        <p:spPr>
          <a:xfrm>
            <a:off x="8382000" y="4064000"/>
            <a:ext cx="2794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D40000"/>
                </a:solidFill>
                <a:latin typeface="Poppins"/>
                <a:ea typeface="Poppins"/>
                <a:cs typeface="Poppins"/>
                <a:sym typeface="Poppins"/>
              </a:rPr>
              <a:t>EXTERNAL INTEGRATION</a:t>
            </a:r>
            <a:endParaRPr lang="en-US" sz="1100"/>
          </a:p>
        </p:txBody>
      </p:sp>
      <p:sp>
        <p:nvSpPr>
          <p:cNvPr id="24" name="AutoShape 24"/>
          <p:cNvSpPr/>
          <p:nvPr/>
        </p:nvSpPr>
        <p:spPr>
          <a:xfrm>
            <a:off x="8382000" y="4445000"/>
            <a:ext cx="2794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Connects to databases, APIs, and real-world systems (via MCP or similar protocols).</a:t>
            </a:r>
            <a:endParaRPr lang="en-US" sz="1100"/>
          </a:p>
        </p:txBody>
      </p:sp>
      <p:sp>
        <p:nvSpPr>
          <p:cNvPr id="25" name="AutoShape 25"/>
          <p:cNvSpPr/>
          <p:nvPr/>
        </p:nvSpPr>
        <p:spPr>
          <a:xfrm>
            <a:off x="8382000" y="5207000"/>
            <a:ext cx="2794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D40000"/>
                </a:solidFill>
                <a:latin typeface="Poppins"/>
                <a:ea typeface="Poppins"/>
                <a:cs typeface="Poppins"/>
                <a:sym typeface="Poppins"/>
              </a:rPr>
              <a:t>EXECUTION CAPABILITY</a:t>
            </a:r>
            <a:endParaRPr lang="en-US" sz="1100"/>
          </a:p>
        </p:txBody>
      </p:sp>
      <p:sp>
        <p:nvSpPr>
          <p:cNvPr id="26" name="AutoShape 26"/>
          <p:cNvSpPr/>
          <p:nvPr/>
        </p:nvSpPr>
        <p:spPr>
          <a:xfrm>
            <a:off x="8382000" y="5588000"/>
            <a:ext cx="2794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Encapsulates specific skills and workflows to turn decisions into tangible, effective actions.</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Brain (LLM</a:t>
            </a:r>
            <a:r>
              <a:rPr lang="zh-CN" altLang="en-US" sz="3200" b="1" i="0" u="none" strike="noStrike">
                <a:solidFill>
                  <a:srgbClr val="333333"/>
                </a:solidFill>
                <a:latin typeface="Poppins"/>
                <a:ea typeface="SimSun" charset="0"/>
                <a:cs typeface="Poppins"/>
                <a:sym typeface="Poppins"/>
              </a:rPr>
              <a:t>）</a:t>
            </a:r>
            <a:endParaRPr lang="zh-CN" altLang="en-US" sz="3200" b="1" i="0" u="none" strike="noStrike">
              <a:solidFill>
                <a:srgbClr val="333333"/>
              </a:solidFill>
              <a:latin typeface="Poppins"/>
              <a:ea typeface="SimSun" charset="0"/>
              <a:cs typeface="Poppins"/>
              <a:sym typeface="Poppins"/>
            </a:endParaRPr>
          </a:p>
        </p:txBody>
      </p:sp>
      <p:pic>
        <p:nvPicPr>
          <p:cNvPr id="3" name="Picture 3"/>
          <p:cNvPicPr>
            <a:picLocks noChangeAspect="1"/>
          </p:cNvPicPr>
          <p:nvPr/>
        </p:nvPicPr>
        <p:blipFill>
          <a:blip r:embed="rId1"/>
          <a:srcRect l="21448" r="21448"/>
          <a:stretch>
            <a:fillRect/>
          </a:stretch>
        </p:blipFill>
        <p:spPr>
          <a:xfrm>
            <a:off x="762000" y="1524000"/>
            <a:ext cx="4826000" cy="4699000"/>
          </a:xfrm>
          <a:prstGeom prst="roundRect">
            <a:avLst>
              <a:gd name="adj" fmla="val 4324"/>
            </a:avLst>
          </a:prstGeom>
          <a:noFill/>
          <a:ln w="25400" cap="flat" cmpd="sng">
            <a:noFill/>
            <a:prstDash val="solid"/>
            <a:round/>
          </a:ln>
          <a:effectLst>
            <a:outerShdw blurRad="254000" dist="76200" dir="5400000" algn="tl" rotWithShape="0">
              <a:srgbClr val="000000">
                <a:alpha val="12000"/>
              </a:srgbClr>
            </a:outerShdw>
          </a:effectLst>
        </p:spPr>
      </p:pic>
      <p:sp>
        <p:nvSpPr>
          <p:cNvPr id="4" name="AutoShape 4"/>
          <p:cNvSpPr/>
          <p:nvPr/>
        </p:nvSpPr>
        <p:spPr>
          <a:xfrm>
            <a:off x="5842000" y="1524000"/>
            <a:ext cx="5334000" cy="1270000"/>
          </a:xfrm>
          <a:prstGeom prst="roundRect">
            <a:avLst>
              <a:gd name="adj" fmla="val 12000"/>
            </a:avLst>
          </a:prstGeom>
          <a:solidFill>
            <a:srgbClr val="FFFFFF">
              <a:alpha val="95000"/>
            </a:srgbClr>
          </a:solidFill>
          <a:ln w="25400" cap="flat" cmpd="sng">
            <a:noFill/>
            <a:prstDash val="solid"/>
            <a:round/>
          </a:ln>
          <a:effectLst>
            <a:outerShdw blurRad="1905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5" name="AutoShape 5"/>
          <p:cNvSpPr/>
          <p:nvPr/>
        </p:nvSpPr>
        <p:spPr>
          <a:xfrm>
            <a:off x="6096000" y="1714500"/>
            <a:ext cx="889000" cy="889000"/>
          </a:xfrm>
          <a:prstGeom prst="ellipse">
            <a:avLst/>
          </a:prstGeom>
          <a:solidFill>
            <a:srgbClr val="D40000">
              <a:alpha val="8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86500" y="1905000"/>
            <a:ext cx="508000" cy="508000"/>
          </a:xfrm>
          <a:prstGeom prst="rect">
            <a:avLst/>
          </a:prstGeom>
        </p:spPr>
      </p:pic>
      <p:sp>
        <p:nvSpPr>
          <p:cNvPr id="7" name="AutoShape 7"/>
          <p:cNvSpPr/>
          <p:nvPr/>
        </p:nvSpPr>
        <p:spPr>
          <a:xfrm>
            <a:off x="7239000" y="16764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Poppins"/>
                <a:ea typeface="Poppins"/>
                <a:cs typeface="Poppins"/>
                <a:sym typeface="Poppins"/>
              </a:rPr>
              <a:t>Reasoning</a:t>
            </a:r>
            <a:endParaRPr lang="en-US" sz="1100"/>
          </a:p>
        </p:txBody>
      </p:sp>
      <p:sp>
        <p:nvSpPr>
          <p:cNvPr id="8" name="AutoShape 8"/>
          <p:cNvSpPr/>
          <p:nvPr/>
        </p:nvSpPr>
        <p:spPr>
          <a:xfrm>
            <a:off x="7239000" y="2095500"/>
            <a:ext cx="3683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555555"/>
                </a:solidFill>
                <a:latin typeface="Poppins"/>
                <a:ea typeface="Poppins"/>
                <a:cs typeface="Poppins"/>
                <a:sym typeface="Poppins"/>
              </a:rPr>
              <a:t>Understanding complex instructions and figuring out the optimal strategy to achieve a given goal.</a:t>
            </a:r>
            <a:endParaRPr lang="en-US" sz="1100"/>
          </a:p>
        </p:txBody>
      </p:sp>
      <p:sp>
        <p:nvSpPr>
          <p:cNvPr id="9" name="AutoShape 9"/>
          <p:cNvSpPr/>
          <p:nvPr/>
        </p:nvSpPr>
        <p:spPr>
          <a:xfrm>
            <a:off x="5842000" y="3048000"/>
            <a:ext cx="5334000" cy="1270000"/>
          </a:xfrm>
          <a:prstGeom prst="roundRect">
            <a:avLst>
              <a:gd name="adj" fmla="val 12000"/>
            </a:avLst>
          </a:prstGeom>
          <a:solidFill>
            <a:srgbClr val="FFFFFF">
              <a:alpha val="95000"/>
            </a:srgbClr>
          </a:solidFill>
          <a:ln w="25400" cap="flat" cmpd="sng">
            <a:noFill/>
            <a:prstDash val="solid"/>
            <a:round/>
          </a:ln>
          <a:effectLst>
            <a:outerShdw blurRad="1905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10" name="AutoShape 10"/>
          <p:cNvSpPr/>
          <p:nvPr/>
        </p:nvSpPr>
        <p:spPr>
          <a:xfrm>
            <a:off x="6096000" y="3238500"/>
            <a:ext cx="889000" cy="889000"/>
          </a:xfrm>
          <a:prstGeom prst="ellipse">
            <a:avLst/>
          </a:prstGeom>
          <a:solidFill>
            <a:srgbClr val="D40000">
              <a:alpha val="8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286500" y="3429000"/>
            <a:ext cx="508000" cy="508000"/>
          </a:xfrm>
          <a:prstGeom prst="rect">
            <a:avLst/>
          </a:prstGeom>
        </p:spPr>
      </p:pic>
      <p:sp>
        <p:nvSpPr>
          <p:cNvPr id="12" name="AutoShape 12"/>
          <p:cNvSpPr/>
          <p:nvPr/>
        </p:nvSpPr>
        <p:spPr>
          <a:xfrm>
            <a:off x="7239000" y="32004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Poppins"/>
                <a:ea typeface="Poppins"/>
                <a:cs typeface="Poppins"/>
                <a:sym typeface="Poppins"/>
              </a:rPr>
              <a:t>Planning</a:t>
            </a:r>
            <a:endParaRPr lang="en-US" sz="1100"/>
          </a:p>
        </p:txBody>
      </p:sp>
      <p:sp>
        <p:nvSpPr>
          <p:cNvPr id="13" name="AutoShape 13"/>
          <p:cNvSpPr/>
          <p:nvPr/>
        </p:nvSpPr>
        <p:spPr>
          <a:xfrm>
            <a:off x="7239000" y="3619500"/>
            <a:ext cx="3683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200" b="0" i="0" u="none" strike="noStrike">
                <a:solidFill>
                  <a:srgbClr val="555555"/>
                </a:solidFill>
                <a:latin typeface="Poppins"/>
                <a:ea typeface="Poppins"/>
                <a:cs typeface="Poppins"/>
                <a:sym typeface="Poppins"/>
              </a:rPr>
              <a:t>Decomposing large, complex tasks into smaller, actionable, and manageable sequential steps.</a:t>
            </a:r>
            <a:endParaRPr lang="en-US" sz="1100"/>
          </a:p>
        </p:txBody>
      </p:sp>
      <p:sp>
        <p:nvSpPr>
          <p:cNvPr id="14" name="AutoShape 14"/>
          <p:cNvSpPr/>
          <p:nvPr/>
        </p:nvSpPr>
        <p:spPr>
          <a:xfrm>
            <a:off x="5842000" y="4572000"/>
            <a:ext cx="5334000" cy="1270000"/>
          </a:xfrm>
          <a:prstGeom prst="roundRect">
            <a:avLst>
              <a:gd name="adj" fmla="val 12000"/>
            </a:avLst>
          </a:prstGeom>
          <a:solidFill>
            <a:srgbClr val="FFFFFF">
              <a:alpha val="95000"/>
            </a:srgbClr>
          </a:solidFill>
          <a:ln w="25400" cap="flat" cmpd="sng">
            <a:noFill/>
            <a:prstDash val="solid"/>
            <a:round/>
          </a:ln>
          <a:effectLst>
            <a:outerShdw blurRad="1905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15" name="AutoShape 15"/>
          <p:cNvSpPr/>
          <p:nvPr/>
        </p:nvSpPr>
        <p:spPr>
          <a:xfrm>
            <a:off x="6096000" y="4762500"/>
            <a:ext cx="889000" cy="889000"/>
          </a:xfrm>
          <a:prstGeom prst="ellipse">
            <a:avLst/>
          </a:prstGeom>
          <a:solidFill>
            <a:srgbClr val="D40000">
              <a:alpha val="8000"/>
            </a:srgbClr>
          </a:solidFill>
          <a:ln w="25400" cap="flat" cmpd="sng">
            <a:noFill/>
            <a:prstDash val="solid"/>
            <a:round/>
          </a:ln>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286500" y="4953000"/>
            <a:ext cx="508000" cy="508000"/>
          </a:xfrm>
          <a:prstGeom prst="rect">
            <a:avLst/>
          </a:prstGeom>
        </p:spPr>
      </p:pic>
      <p:sp>
        <p:nvSpPr>
          <p:cNvPr id="17" name="AutoShape 17"/>
          <p:cNvSpPr/>
          <p:nvPr/>
        </p:nvSpPr>
        <p:spPr>
          <a:xfrm>
            <a:off x="7239000" y="47244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333333"/>
                </a:solidFill>
                <a:latin typeface="Poppins"/>
                <a:ea typeface="Poppins"/>
                <a:cs typeface="Poppins"/>
                <a:sym typeface="Poppins"/>
              </a:rPr>
              <a:t>Reflection</a:t>
            </a:r>
            <a:endParaRPr lang="en-US" sz="1800" b="1" i="0" u="none" strike="noStrike">
              <a:solidFill>
                <a:srgbClr val="333333"/>
              </a:solidFill>
              <a:latin typeface="Poppins"/>
              <a:ea typeface="Poppins"/>
              <a:cs typeface="Poppins"/>
              <a:sym typeface="Poppins"/>
            </a:endParaRPr>
          </a:p>
        </p:txBody>
      </p:sp>
      <p:sp>
        <p:nvSpPr>
          <p:cNvPr id="18" name="AutoShape 18"/>
          <p:cNvSpPr/>
          <p:nvPr/>
        </p:nvSpPr>
        <p:spPr>
          <a:xfrm>
            <a:off x="7239000" y="5143500"/>
            <a:ext cx="3683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altLang="en-US" sz="1200" b="0" i="0" u="none" strike="noStrike">
                <a:solidFill>
                  <a:srgbClr val="555555"/>
                </a:solidFill>
                <a:latin typeface="Poppins"/>
                <a:ea typeface="Poppins"/>
                <a:cs typeface="Poppins"/>
                <a:sym typeface="Poppins"/>
              </a:rPr>
              <a:t>Learn from execution results, correct errors, and optimize strategies to achieve self-correction and continuous evolution</a:t>
            </a:r>
            <a:r>
              <a:rPr lang="en-US" sz="1200" b="0" i="0" u="none" strike="noStrike">
                <a:solidFill>
                  <a:srgbClr val="555555"/>
                </a:solidFill>
                <a:latin typeface="Poppins"/>
                <a:ea typeface="Poppins"/>
                <a:cs typeface="Poppins"/>
                <a:sym typeface="Poppins"/>
              </a:rPr>
              <a:t>.</a:t>
            </a:r>
            <a:endParaRPr lang="en-US" sz="1100"/>
          </a:p>
        </p:txBody>
      </p:sp>
      <p:sp>
        <p:nvSpPr>
          <p:cNvPr id="19" name="AutoShape 19"/>
          <p:cNvSpPr/>
          <p:nvPr/>
        </p:nvSpPr>
        <p:spPr>
          <a:xfrm>
            <a:off x="5842000" y="6032500"/>
            <a:ext cx="5334000" cy="571500"/>
          </a:xfrm>
          <a:prstGeom prst="roundRect">
            <a:avLst>
              <a:gd name="adj" fmla="val 22222"/>
            </a:avLst>
          </a:prstGeom>
          <a:solidFill>
            <a:srgbClr val="D40000">
              <a:alpha val="8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6032500" y="6121400"/>
            <a:ext cx="4953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B40000"/>
                </a:solidFill>
                <a:latin typeface="Poppins"/>
                <a:ea typeface="Poppins"/>
                <a:cs typeface="Poppins"/>
                <a:sym typeface="Poppins"/>
              </a:rPr>
              <a:t>Without a powerful "Brain", an Agent cannot make sense of the world or take meaningful action.</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 Memory: Short-term vs. Long-term</a:t>
            </a:r>
            <a:endParaRPr lang="en-US" sz="1100"/>
          </a:p>
        </p:txBody>
      </p:sp>
      <p:sp>
        <p:nvSpPr>
          <p:cNvPr id="3" name="AutoShape 3"/>
          <p:cNvSpPr/>
          <p:nvPr/>
        </p:nvSpPr>
        <p:spPr>
          <a:xfrm>
            <a:off x="762000" y="1397000"/>
            <a:ext cx="4953000" cy="762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200" b="0" i="0" u="none" strike="noStrike">
                <a:solidFill>
                  <a:srgbClr val="666666"/>
                </a:solidFill>
                <a:latin typeface="Poppins"/>
                <a:ea typeface="Poppins"/>
                <a:cs typeface="Poppins"/>
                <a:sym typeface="Poppins"/>
              </a:rPr>
              <a:t>Memory stores context, historical interactions, and business data. It is the cornerstone for enabling continuous learning and personalized responses in AI agents.</a:t>
            </a:r>
            <a:endParaRPr lang="en-US" sz="1100"/>
          </a:p>
        </p:txBody>
      </p:sp>
      <p:sp>
        <p:nvSpPr>
          <p:cNvPr id="4" name="AutoShape 4"/>
          <p:cNvSpPr/>
          <p:nvPr/>
        </p:nvSpPr>
        <p:spPr>
          <a:xfrm>
            <a:off x="762000" y="2413000"/>
            <a:ext cx="4953000" cy="1524000"/>
          </a:xfrm>
          <a:prstGeom prst="roundRect">
            <a:avLst>
              <a:gd name="adj" fmla="val 8333"/>
            </a:avLst>
          </a:prstGeom>
          <a:solidFill>
            <a:srgbClr val="F9F9F9">
              <a:alpha val="100000"/>
            </a:srgbClr>
          </a:solidFill>
          <a:ln w="25400" cap="flat" cmpd="sng">
            <a:noFill/>
            <a:prstDash val="solid"/>
            <a:round/>
          </a:ln>
          <a:effectLst>
            <a:outerShdw blurRad="1016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5" name="AutoShape 5"/>
          <p:cNvSpPr/>
          <p:nvPr/>
        </p:nvSpPr>
        <p:spPr>
          <a:xfrm>
            <a:off x="762000" y="2413000"/>
            <a:ext cx="76200" cy="15240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667000"/>
            <a:ext cx="457200" cy="457200"/>
          </a:xfrm>
          <a:prstGeom prst="rect">
            <a:avLst/>
          </a:prstGeom>
        </p:spPr>
      </p:pic>
      <p:sp>
        <p:nvSpPr>
          <p:cNvPr id="7" name="AutoShape 7"/>
          <p:cNvSpPr/>
          <p:nvPr/>
        </p:nvSpPr>
        <p:spPr>
          <a:xfrm>
            <a:off x="1778000" y="2667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Short-term Memory</a:t>
            </a:r>
            <a:endParaRPr lang="en-US" sz="1100"/>
          </a:p>
        </p:txBody>
      </p:sp>
      <p:sp>
        <p:nvSpPr>
          <p:cNvPr id="8" name="AutoShape 8"/>
          <p:cNvSpPr/>
          <p:nvPr/>
        </p:nvSpPr>
        <p:spPr>
          <a:xfrm>
            <a:off x="1778000" y="3175000"/>
            <a:ext cx="3683000" cy="635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Resides within the LLM's context window, ensuring coherent understanding and response generation for the current conversation turn.</a:t>
            </a:r>
            <a:endParaRPr lang="en-US" sz="1100"/>
          </a:p>
        </p:txBody>
      </p:sp>
      <p:sp>
        <p:nvSpPr>
          <p:cNvPr id="9" name="AutoShape 9"/>
          <p:cNvSpPr/>
          <p:nvPr/>
        </p:nvSpPr>
        <p:spPr>
          <a:xfrm>
            <a:off x="762000" y="4191000"/>
            <a:ext cx="4953000" cy="1651000"/>
          </a:xfrm>
          <a:prstGeom prst="roundRect">
            <a:avLst>
              <a:gd name="adj" fmla="val 7692"/>
            </a:avLst>
          </a:prstGeom>
          <a:solidFill>
            <a:srgbClr val="F9F9F9">
              <a:alpha val="100000"/>
            </a:srgbClr>
          </a:solidFill>
          <a:ln w="25400" cap="flat" cmpd="sng">
            <a:noFill/>
            <a:prstDash val="solid"/>
            <a:round/>
          </a:ln>
          <a:effectLst>
            <a:outerShdw blurRad="1016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10" name="AutoShape 10"/>
          <p:cNvSpPr/>
          <p:nvPr/>
        </p:nvSpPr>
        <p:spPr>
          <a:xfrm>
            <a:off x="762000" y="4191000"/>
            <a:ext cx="76200" cy="16510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79500" y="4445000"/>
            <a:ext cx="457200" cy="457200"/>
          </a:xfrm>
          <a:prstGeom prst="rect">
            <a:avLst/>
          </a:prstGeom>
        </p:spPr>
      </p:pic>
      <p:sp>
        <p:nvSpPr>
          <p:cNvPr id="12" name="AutoShape 12"/>
          <p:cNvSpPr/>
          <p:nvPr/>
        </p:nvSpPr>
        <p:spPr>
          <a:xfrm>
            <a:off x="1778000" y="4445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Long-term Memory</a:t>
            </a:r>
            <a:endParaRPr lang="en-US" sz="1100"/>
          </a:p>
        </p:txBody>
      </p:sp>
      <p:sp>
        <p:nvSpPr>
          <p:cNvPr id="13" name="AutoShape 13"/>
          <p:cNvSpPr/>
          <p:nvPr/>
        </p:nvSpPr>
        <p:spPr>
          <a:xfrm>
            <a:off x="1778000" y="4953000"/>
            <a:ext cx="3683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An independent, persistent storage system. It summarizes and compresses short-term context to retain crucial information over extended periods.</a:t>
            </a:r>
            <a:endParaRPr lang="en-US" sz="1100"/>
          </a:p>
        </p:txBody>
      </p:sp>
      <p:sp>
        <p:nvSpPr>
          <p:cNvPr id="14" name="AutoShape 14"/>
          <p:cNvSpPr/>
          <p:nvPr/>
        </p:nvSpPr>
        <p:spPr>
          <a:xfrm>
            <a:off x="5969000" y="1524000"/>
            <a:ext cx="5334000" cy="4826000"/>
          </a:xfrm>
          <a:prstGeom prst="roundRect">
            <a:avLst>
              <a:gd name="adj" fmla="val 3947"/>
            </a:avLst>
          </a:prstGeom>
          <a:solidFill>
            <a:srgbClr val="F5F5F5">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6223000" y="1714500"/>
            <a:ext cx="4826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333333"/>
                </a:solidFill>
                <a:latin typeface="Poppins"/>
                <a:ea typeface="Poppins"/>
                <a:cs typeface="Poppins"/>
                <a:sym typeface="Poppins"/>
              </a:rPr>
              <a:t>Architecture Data Flow</a:t>
            </a:r>
            <a:endParaRPr lang="en-US" sz="1100"/>
          </a:p>
        </p:txBody>
      </p:sp>
      <p:sp>
        <p:nvSpPr>
          <p:cNvPr id="16" name="AutoShape 16"/>
          <p:cNvSpPr/>
          <p:nvPr/>
        </p:nvSpPr>
        <p:spPr>
          <a:xfrm>
            <a:off x="6223000" y="2286000"/>
            <a:ext cx="1778000" cy="889000"/>
          </a:xfrm>
          <a:prstGeom prst="roundRect">
            <a:avLst>
              <a:gd name="adj" fmla="val 14285"/>
            </a:avLst>
          </a:prstGeom>
          <a:solidFill>
            <a:srgbClr val="E0E0E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6223000" y="2413000"/>
            <a:ext cx="1778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555555"/>
                </a:solidFill>
                <a:latin typeface="Poppins"/>
                <a:ea typeface="Poppins"/>
                <a:cs typeface="Poppins"/>
                <a:sym typeface="Poppins"/>
              </a:rPr>
              <a:t>Current</a:t>
            </a:r>
            <a:br>
              <a:rPr lang="en-US" sz="1200" b="1" i="0" u="none" strike="noStrike">
                <a:solidFill>
                  <a:srgbClr val="555555"/>
                </a:solidFill>
                <a:latin typeface="Poppins"/>
                <a:ea typeface="Poppins"/>
                <a:cs typeface="Poppins"/>
                <a:sym typeface="Poppins"/>
              </a:rPr>
            </a:br>
            <a:r>
              <a:rPr lang="en-US" sz="1200" b="1" i="0" u="none" strike="noStrike">
                <a:solidFill>
                  <a:srgbClr val="555555"/>
                </a:solidFill>
                <a:latin typeface="Poppins"/>
                <a:ea typeface="Poppins"/>
                <a:cs typeface="Poppins"/>
                <a:sym typeface="Poppins"/>
              </a:rPr>
              <a:t>Conversation</a:t>
            </a:r>
            <a:endParaRPr lang="en-US" sz="1100"/>
          </a:p>
        </p:txBody>
      </p:sp>
      <p:cxnSp>
        <p:nvCxnSpPr>
          <p:cNvPr id="18" name="Connector 18"/>
          <p:cNvCxnSpPr/>
          <p:nvPr/>
        </p:nvCxnSpPr>
        <p:spPr>
          <a:xfrm rot="-85925">
            <a:off x="8128079" y="2724150"/>
            <a:ext cx="508000" cy="12700"/>
          </a:xfrm>
          <a:prstGeom prst="line">
            <a:avLst/>
          </a:prstGeom>
          <a:solidFill>
            <a:srgbClr val="DEE0E3">
              <a:alpha val="100000"/>
            </a:srgbClr>
          </a:solidFill>
          <a:ln w="25400" cap="flat" cmpd="sng">
            <a:solidFill>
              <a:srgbClr val="969696">
                <a:alpha val="100000"/>
              </a:srgbClr>
            </a:solidFill>
            <a:prstDash val="solid"/>
            <a:round/>
            <a:headEnd type="none" w="lg" len="lg"/>
            <a:tailEnd type="arrow" w="lg" len="lg"/>
          </a:ln>
        </p:spPr>
      </p:cxnSp>
      <p:sp>
        <p:nvSpPr>
          <p:cNvPr id="19" name="AutoShape 19"/>
          <p:cNvSpPr/>
          <p:nvPr/>
        </p:nvSpPr>
        <p:spPr>
          <a:xfrm>
            <a:off x="8763000" y="2286000"/>
            <a:ext cx="2032000" cy="889000"/>
          </a:xfrm>
          <a:prstGeom prst="roundRect">
            <a:avLst>
              <a:gd name="adj" fmla="val 14285"/>
            </a:avLst>
          </a:prstGeom>
          <a:solidFill>
            <a:srgbClr val="D40000">
              <a:alpha val="100000"/>
            </a:srgbClr>
          </a:solidFill>
          <a:ln w="25400" cap="flat" cmpd="sng">
            <a:noFill/>
            <a:prstDash val="solid"/>
            <a:round/>
          </a:ln>
          <a:effectLst>
            <a:outerShdw blurRad="76200" dist="38100" dir="2700000" algn="tl" rotWithShape="0">
              <a:srgbClr val="D40000">
                <a:alpha val="30000"/>
              </a:srgbClr>
            </a:outerShdw>
          </a:effectLst>
        </p:spPr>
        <p:txBody>
          <a:bodyPr vert="horz" wrap="square" lIns="63500" tIns="63500" rIns="63500" bIns="63500" rtlCol="0" anchor="ctr"/>
          <a:lstStyle/>
          <a:p>
            <a:pPr algn="ctr">
              <a:defRPr/>
            </a:pPr>
          </a:p>
        </p:txBody>
      </p:sp>
      <p:sp>
        <p:nvSpPr>
          <p:cNvPr id="20" name="AutoShape 20"/>
          <p:cNvSpPr/>
          <p:nvPr/>
        </p:nvSpPr>
        <p:spPr>
          <a:xfrm>
            <a:off x="8763000" y="2413000"/>
            <a:ext cx="2032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FFFFFF"/>
                </a:solidFill>
                <a:latin typeface="Poppins"/>
                <a:ea typeface="Poppins"/>
                <a:cs typeface="Poppins"/>
                <a:sym typeface="Poppins"/>
              </a:rPr>
              <a:t>Short-term Memory</a:t>
            </a:r>
            <a:br>
              <a:rPr lang="en-US" sz="1200" b="1" i="0" u="none" strike="noStrike">
                <a:solidFill>
                  <a:srgbClr val="FFFFFF"/>
                </a:solidFill>
                <a:latin typeface="Poppins"/>
                <a:ea typeface="Poppins"/>
                <a:cs typeface="Poppins"/>
                <a:sym typeface="Poppins"/>
              </a:rPr>
            </a:br>
            <a:r>
              <a:rPr lang="en-US" sz="1200" b="1" i="0" u="none" strike="noStrike">
                <a:solidFill>
                  <a:srgbClr val="FFFFFF"/>
                </a:solidFill>
                <a:latin typeface="Poppins"/>
                <a:ea typeface="Poppins"/>
                <a:cs typeface="Poppins"/>
                <a:sym typeface="Poppins"/>
              </a:rPr>
              <a:t>(Context Window)</a:t>
            </a:r>
            <a:endParaRPr lang="en-US" sz="1100"/>
          </a:p>
        </p:txBody>
      </p:sp>
      <p:cxnSp>
        <p:nvCxnSpPr>
          <p:cNvPr id="21" name="Connector 21"/>
          <p:cNvCxnSpPr/>
          <p:nvPr/>
        </p:nvCxnSpPr>
        <p:spPr>
          <a:xfrm rot="5314074">
            <a:off x="9525000" y="3549729"/>
            <a:ext cx="508000" cy="12700"/>
          </a:xfrm>
          <a:prstGeom prst="line">
            <a:avLst/>
          </a:prstGeom>
          <a:solidFill>
            <a:srgbClr val="DEE0E3">
              <a:alpha val="100000"/>
            </a:srgbClr>
          </a:solidFill>
          <a:ln w="25400" cap="flat" cmpd="sng">
            <a:solidFill>
              <a:srgbClr val="646464">
                <a:alpha val="100000"/>
              </a:srgbClr>
            </a:solidFill>
            <a:prstDash val="dash"/>
            <a:round/>
            <a:headEnd type="none" w="lg" len="lg"/>
            <a:tailEnd type="arrow" w="lg" len="lg"/>
          </a:ln>
        </p:spPr>
      </p:cxnSp>
      <p:sp>
        <p:nvSpPr>
          <p:cNvPr id="22" name="AutoShape 22"/>
          <p:cNvSpPr/>
          <p:nvPr/>
        </p:nvSpPr>
        <p:spPr>
          <a:xfrm>
            <a:off x="7747000" y="3429000"/>
            <a:ext cx="1778000" cy="254000"/>
          </a:xfrm>
          <a:prstGeom prst="rect">
            <a:avLst/>
          </a:prstGeom>
          <a:noFill/>
          <a:ln w="12700" cap="flat" cmpd="sng">
            <a:noFill/>
            <a:prstDash val="solid"/>
            <a:round/>
          </a:ln>
        </p:spPr>
        <p:txBody>
          <a:bodyPr vert="horz" wrap="square" lIns="0" tIns="0" rIns="0" bIns="0" rtlCol="0" anchor="ctr" anchorCtr="0"/>
          <a:lstStyle/>
          <a:p>
            <a:pPr indent="0" algn="r">
              <a:lnSpc>
                <a:spcPct val="125000"/>
              </a:lnSpc>
              <a:defRPr/>
            </a:pPr>
            <a:r>
              <a:rPr lang="en-US" sz="1000" b="0" i="0" u="none" strike="noStrike">
                <a:solidFill>
                  <a:srgbClr val="787878"/>
                </a:solidFill>
                <a:latin typeface="Poppins"/>
                <a:ea typeface="Poppins"/>
                <a:cs typeface="Poppins"/>
                <a:sym typeface="Poppins"/>
              </a:rPr>
              <a:t>Summarization &amp; Compression</a:t>
            </a:r>
            <a:endParaRPr lang="en-US" sz="1100"/>
          </a:p>
        </p:txBody>
      </p:sp>
      <p:sp>
        <p:nvSpPr>
          <p:cNvPr id="23" name="AutoShape 23"/>
          <p:cNvSpPr/>
          <p:nvPr/>
        </p:nvSpPr>
        <p:spPr>
          <a:xfrm>
            <a:off x="6223000" y="3937000"/>
            <a:ext cx="4572000" cy="1016000"/>
          </a:xfrm>
          <a:prstGeom prst="roundRect">
            <a:avLst>
              <a:gd name="adj" fmla="val 12500"/>
            </a:avLst>
          </a:prstGeom>
          <a:solidFill>
            <a:srgbClr val="333333">
              <a:alpha val="100000"/>
            </a:srgbClr>
          </a:solidFill>
          <a:ln w="25400" cap="flat" cmpd="sng">
            <a:noFill/>
            <a:prstDash val="solid"/>
            <a:round/>
          </a:ln>
          <a:effectLst>
            <a:outerShdw blurRad="76200" dist="38100" dir="2700000" algn="tl" rotWithShape="0">
              <a:srgbClr val="000000">
                <a:alpha val="20000"/>
              </a:srgbClr>
            </a:outerShdw>
          </a:effectLst>
        </p:spPr>
        <p:txBody>
          <a:bodyPr vert="horz" wrap="square" lIns="63500" tIns="63500" rIns="63500" bIns="63500" rtlCol="0" anchor="ctr"/>
          <a:lstStyle/>
          <a:p>
            <a:pPr algn="ctr">
              <a:defRPr/>
            </a:pPr>
          </a:p>
        </p:txBody>
      </p:sp>
      <p:sp>
        <p:nvSpPr>
          <p:cNvPr id="24" name="AutoShape 24"/>
          <p:cNvSpPr/>
          <p:nvPr/>
        </p:nvSpPr>
        <p:spPr>
          <a:xfrm>
            <a:off x="6223000" y="4127500"/>
            <a:ext cx="4572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FFFFFF"/>
                </a:solidFill>
                <a:latin typeface="Poppins"/>
                <a:ea typeface="Poppins"/>
                <a:cs typeface="Poppins"/>
                <a:sym typeface="Poppins"/>
              </a:rPr>
              <a:t>Long-term Memory (Persistent Storage)</a:t>
            </a:r>
            <a:endParaRPr lang="en-US" sz="1100"/>
          </a:p>
        </p:txBody>
      </p:sp>
      <p:cxnSp>
        <p:nvCxnSpPr>
          <p:cNvPr id="25" name="Connector 25"/>
          <p:cNvCxnSpPr/>
          <p:nvPr/>
        </p:nvCxnSpPr>
        <p:spPr>
          <a:xfrm rot="-5485925">
            <a:off x="9525000" y="4819571"/>
            <a:ext cx="508000" cy="12700"/>
          </a:xfrm>
          <a:prstGeom prst="line">
            <a:avLst/>
          </a:prstGeom>
          <a:solidFill>
            <a:srgbClr val="DEE0E3">
              <a:alpha val="100000"/>
            </a:srgbClr>
          </a:solidFill>
          <a:ln w="25400" cap="flat" cmpd="sng">
            <a:solidFill>
              <a:srgbClr val="D40000">
                <a:alpha val="100000"/>
              </a:srgbClr>
            </a:solidFill>
            <a:prstDash val="solid"/>
            <a:round/>
            <a:headEnd type="none" w="lg" len="lg"/>
            <a:tailEnd type="arrow" w="lg" len="lg"/>
          </a:ln>
        </p:spPr>
      </p:cxnSp>
      <p:sp>
        <p:nvSpPr>
          <p:cNvPr id="26" name="AutoShape 26"/>
          <p:cNvSpPr/>
          <p:nvPr/>
        </p:nvSpPr>
        <p:spPr>
          <a:xfrm>
            <a:off x="7747000" y="4953000"/>
            <a:ext cx="1778000" cy="254000"/>
          </a:xfrm>
          <a:prstGeom prst="rect">
            <a:avLst/>
          </a:prstGeom>
          <a:noFill/>
          <a:ln w="12700" cap="flat" cmpd="sng">
            <a:noFill/>
            <a:prstDash val="solid"/>
            <a:round/>
          </a:ln>
        </p:spPr>
        <p:txBody>
          <a:bodyPr vert="horz" wrap="square" lIns="0" tIns="0" rIns="0" bIns="0" rtlCol="0" anchor="ctr" anchorCtr="0"/>
          <a:lstStyle/>
          <a:p>
            <a:pPr indent="0" algn="r">
              <a:lnSpc>
                <a:spcPct val="125000"/>
              </a:lnSpc>
              <a:defRPr/>
            </a:pPr>
            <a:r>
              <a:rPr lang="en-US" sz="1000" b="1" i="0" u="none" strike="noStrike">
                <a:solidFill>
                  <a:srgbClr val="D40000"/>
                </a:solidFill>
                <a:latin typeface="Poppins"/>
                <a:ea typeface="Poppins"/>
                <a:cs typeface="Poppins"/>
                <a:sym typeface="Poppins"/>
              </a:rPr>
              <a:t>Recall for Context</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Agentic RAG: The Intelligent Upgrade</a:t>
            </a:r>
            <a:endParaRPr lang="en-US" sz="1100"/>
          </a:p>
        </p:txBody>
      </p:sp>
      <p:sp>
        <p:nvSpPr>
          <p:cNvPr id="3" name="AutoShape 3"/>
          <p:cNvSpPr/>
          <p:nvPr/>
        </p:nvSpPr>
        <p:spPr>
          <a:xfrm>
            <a:off x="762000" y="1524000"/>
            <a:ext cx="4826000" cy="1905000"/>
          </a:xfrm>
          <a:prstGeom prst="roundRect">
            <a:avLst>
              <a:gd name="adj" fmla="val 8000"/>
            </a:avLst>
          </a:prstGeom>
          <a:solidFill>
            <a:srgbClr val="F9F9F9">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14500"/>
            <a:ext cx="457200" cy="457200"/>
          </a:xfrm>
          <a:prstGeom prst="rect">
            <a:avLst/>
          </a:prstGeom>
        </p:spPr>
      </p:pic>
      <p:sp>
        <p:nvSpPr>
          <p:cNvPr id="5" name="AutoShape 5"/>
          <p:cNvSpPr/>
          <p:nvPr/>
        </p:nvSpPr>
        <p:spPr>
          <a:xfrm>
            <a:off x="1651000" y="1714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CORE CONCEPT</a:t>
            </a:r>
            <a:endParaRPr lang="en-US" sz="1100"/>
          </a:p>
        </p:txBody>
      </p:sp>
      <p:sp>
        <p:nvSpPr>
          <p:cNvPr id="6" name="AutoShape 6"/>
          <p:cNvSpPr/>
          <p:nvPr/>
        </p:nvSpPr>
        <p:spPr>
          <a:xfrm>
            <a:off x="1016000" y="2286000"/>
            <a:ext cx="4318000" cy="889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200" b="0" i="0" u="none" strike="noStrike">
                <a:solidFill>
                  <a:srgbClr val="555555"/>
                </a:solidFill>
                <a:latin typeface="Noto Sans SC"/>
                <a:ea typeface="Noto Sans SC"/>
                <a:cs typeface="Noto Sans SC"/>
                <a:sym typeface="Noto Sans SC"/>
              </a:rPr>
              <a:t>Agentic RAG is the "intelligent upgrade" of traditional RAG. It dynamically optimizes user queries, verifies retrieved information for accuracy, and autonomously decides whether to continue searching or synthesize an answer.</a:t>
            </a:r>
            <a:endParaRPr lang="en-US" sz="1100"/>
          </a:p>
        </p:txBody>
      </p:sp>
      <p:sp>
        <p:nvSpPr>
          <p:cNvPr id="7" name="AutoShape 7"/>
          <p:cNvSpPr/>
          <p:nvPr/>
        </p:nvSpPr>
        <p:spPr>
          <a:xfrm>
            <a:off x="762000" y="3683000"/>
            <a:ext cx="4826000" cy="1905000"/>
          </a:xfrm>
          <a:prstGeom prst="roundRect">
            <a:avLst>
              <a:gd name="adj" fmla="val 8000"/>
            </a:avLst>
          </a:prstGeom>
          <a:solidFill>
            <a:srgbClr val="F9F9F9">
              <a:alpha val="100000"/>
            </a:srgbClr>
          </a:solidFill>
          <a:ln w="12700" cap="flat" cmpd="sng">
            <a:solidFill>
              <a:srgbClr val="E6E6E6">
                <a:alpha val="100000"/>
              </a:srgbClr>
            </a:solidFill>
            <a:prstDash val="solid"/>
            <a:round/>
          </a:ln>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873500"/>
            <a:ext cx="457200" cy="457200"/>
          </a:xfrm>
          <a:prstGeom prst="rect">
            <a:avLst/>
          </a:prstGeom>
        </p:spPr>
      </p:pic>
      <p:sp>
        <p:nvSpPr>
          <p:cNvPr id="9" name="AutoShape 9"/>
          <p:cNvSpPr/>
          <p:nvPr/>
        </p:nvSpPr>
        <p:spPr>
          <a:xfrm>
            <a:off x="1651000" y="3873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PRACTICAL EXAMPLE</a:t>
            </a:r>
            <a:endParaRPr lang="en-US" sz="1100"/>
          </a:p>
        </p:txBody>
      </p:sp>
      <p:sp>
        <p:nvSpPr>
          <p:cNvPr id="10" name="AutoShape 10"/>
          <p:cNvSpPr/>
          <p:nvPr/>
        </p:nvSpPr>
        <p:spPr>
          <a:xfrm>
            <a:off x="1016000" y="4445000"/>
            <a:ext cx="4318000" cy="889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200" b="0" i="0" u="none" strike="noStrike">
                <a:solidFill>
                  <a:srgbClr val="555555"/>
                </a:solidFill>
                <a:latin typeface="Noto Sans SC"/>
                <a:ea typeface="Noto Sans SC"/>
                <a:cs typeface="Noto Sans SC"/>
                <a:sym typeface="Noto Sans SC"/>
              </a:rPr>
              <a:t>Faced with multiple heterogeneous sources (Database, Knowledge Base, Web), the Agent evaluates the user's intent and automatically selects the most appropriate source to query, rather than a brute-force search of all.</a:t>
            </a:r>
            <a:endParaRPr lang="en-US" sz="1100"/>
          </a:p>
        </p:txBody>
      </p:sp>
      <p:sp>
        <p:nvSpPr>
          <p:cNvPr id="11" name="AutoShape 11"/>
          <p:cNvSpPr/>
          <p:nvPr/>
        </p:nvSpPr>
        <p:spPr>
          <a:xfrm>
            <a:off x="5842000" y="1524000"/>
            <a:ext cx="5588000" cy="4572000"/>
          </a:xfrm>
          <a:prstGeom prst="roundRect">
            <a:avLst>
              <a:gd name="adj" fmla="val 4444"/>
            </a:avLst>
          </a:prstGeom>
          <a:solidFill>
            <a:srgbClr val="F9F9F9">
              <a:alpha val="100000"/>
            </a:srgbClr>
          </a:solidFill>
          <a:ln w="25400" cap="flat" cmpd="sng">
            <a:noFill/>
            <a:prstDash val="solid"/>
            <a:round/>
          </a:ln>
          <a:effectLst>
            <a:outerShdw blurRad="127000" dist="50800" dir="2700000" algn="tl" rotWithShape="0">
              <a:srgbClr val="000000">
                <a:alpha val="5000"/>
              </a:srgbClr>
            </a:outerShdw>
          </a:effectLst>
        </p:spPr>
        <p:txBody>
          <a:bodyPr vert="horz" wrap="square" lIns="63500" tIns="63500" rIns="63500" bIns="63500" rtlCol="0" anchor="ctr"/>
          <a:lstStyle/>
          <a:p>
            <a:pPr algn="ctr">
              <a:defRPr/>
            </a:pPr>
          </a:p>
        </p:txBody>
      </p:sp>
      <p:sp>
        <p:nvSpPr>
          <p:cNvPr id="12" name="AutoShape 12"/>
          <p:cNvSpPr/>
          <p:nvPr/>
        </p:nvSpPr>
        <p:spPr>
          <a:xfrm>
            <a:off x="5842000" y="1714500"/>
            <a:ext cx="5588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Agentic RAG Flow</a:t>
            </a:r>
            <a:endParaRPr lang="en-US" sz="1100"/>
          </a:p>
        </p:txBody>
      </p:sp>
      <p:sp>
        <p:nvSpPr>
          <p:cNvPr id="13" name="AutoShape 13"/>
          <p:cNvSpPr/>
          <p:nvPr/>
        </p:nvSpPr>
        <p:spPr>
          <a:xfrm>
            <a:off x="6223000" y="2286000"/>
            <a:ext cx="1651000" cy="635000"/>
          </a:xfrm>
          <a:prstGeom prst="ellipse">
            <a:avLst/>
          </a:prstGeom>
          <a:solidFill>
            <a:srgbClr val="D40000">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User Query</a:t>
            </a:r>
            <a:endParaRPr lang="en-US" sz="1100"/>
          </a:p>
        </p:txBody>
      </p:sp>
      <p:sp>
        <p:nvSpPr>
          <p:cNvPr id="14" name="AutoShape 14"/>
          <p:cNvSpPr/>
          <p:nvPr/>
        </p:nvSpPr>
        <p:spPr>
          <a:xfrm>
            <a:off x="8382000" y="2286000"/>
            <a:ext cx="1651000" cy="635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Agent (LLM)</a:t>
            </a:r>
            <a:endParaRPr lang="en-US" sz="1100"/>
          </a:p>
        </p:txBody>
      </p:sp>
      <p:sp>
        <p:nvSpPr>
          <p:cNvPr id="15" name="AutoShape 15"/>
          <p:cNvSpPr/>
          <p:nvPr/>
        </p:nvSpPr>
        <p:spPr>
          <a:xfrm>
            <a:off x="6223000" y="3302000"/>
            <a:ext cx="1905000" cy="762000"/>
          </a:xfrm>
          <a:prstGeom prst="diamond">
            <a:avLst/>
          </a:prstGeom>
          <a:solidFill>
            <a:srgbClr val="FFFFFF">
              <a:alpha val="100000"/>
            </a:srgbClr>
          </a:solidFill>
          <a:ln w="25400" cap="flat" cmpd="sng">
            <a:solidFill>
              <a:srgbClr val="333333">
                <a:alpha val="100000"/>
              </a:srgbClr>
            </a:solid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Optimize Query?</a:t>
            </a:r>
            <a:endParaRPr lang="en-US" sz="1100"/>
          </a:p>
        </p:txBody>
      </p:sp>
      <p:sp>
        <p:nvSpPr>
          <p:cNvPr id="16" name="AutoShape 16"/>
          <p:cNvSpPr/>
          <p:nvPr/>
        </p:nvSpPr>
        <p:spPr>
          <a:xfrm>
            <a:off x="6223000" y="4318000"/>
            <a:ext cx="1905000" cy="635000"/>
          </a:xfrm>
          <a:prstGeom prst="roundRect">
            <a:avLst>
              <a:gd name="adj" fmla="val 0"/>
            </a:avLst>
          </a:prstGeom>
          <a:solidFill>
            <a:srgbClr val="EBEBEB">
              <a:alpha val="100000"/>
            </a:srgbClr>
          </a:solidFill>
          <a:ln w="12700" cap="flat" cmpd="sng">
            <a:solidFill>
              <a:srgbClr val="333333">
                <a:alpha val="100000"/>
              </a:srgbClr>
            </a:solid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Query Sources</a:t>
            </a:r>
            <a:br>
              <a:rPr lang="en-US" sz="1100" b="0"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br>
            <a:r>
              <a:rPr lang="en-US" sz="1100" b="0"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(DB, KB, Web)</a:t>
            </a:r>
            <a:endParaRPr lang="en-US" sz="1100"/>
          </a:p>
        </p:txBody>
      </p:sp>
      <p:sp>
        <p:nvSpPr>
          <p:cNvPr id="17" name="AutoShape 17"/>
          <p:cNvSpPr/>
          <p:nvPr/>
        </p:nvSpPr>
        <p:spPr>
          <a:xfrm>
            <a:off x="8382000" y="3302000"/>
            <a:ext cx="1905000" cy="762000"/>
          </a:xfrm>
          <a:prstGeom prst="diamond">
            <a:avLst/>
          </a:prstGeom>
          <a:solidFill>
            <a:srgbClr val="FFFFFF">
              <a:alpha val="100000"/>
            </a:srgbClr>
          </a:solidFill>
          <a:ln w="25400" cap="flat" cmpd="sng">
            <a:solidFill>
              <a:srgbClr val="333333">
                <a:alpha val="100000"/>
              </a:srgbClr>
            </a:solid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Info Sufficient?</a:t>
            </a:r>
            <a:endParaRPr lang="en-US" sz="1100"/>
          </a:p>
        </p:txBody>
      </p:sp>
      <p:sp>
        <p:nvSpPr>
          <p:cNvPr id="18" name="AutoShape 18"/>
          <p:cNvSpPr/>
          <p:nvPr/>
        </p:nvSpPr>
        <p:spPr>
          <a:xfrm>
            <a:off x="8382000" y="4445000"/>
            <a:ext cx="1905000" cy="635000"/>
          </a:xfrm>
          <a:prstGeom prst="ellipse">
            <a:avLst/>
          </a:prstGeom>
          <a:solidFill>
            <a:srgbClr val="333333">
              <a:alpha val="10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Generate Answer</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MCP Protocol: The Universal Connector</a:t>
            </a:r>
            <a:endParaRPr lang="en-US" sz="1100"/>
          </a:p>
        </p:txBody>
      </p:sp>
      <p:sp>
        <p:nvSpPr>
          <p:cNvPr id="3" name="AutoShape 3"/>
          <p:cNvSpPr/>
          <p:nvPr/>
        </p:nvSpPr>
        <p:spPr>
          <a:xfrm>
            <a:off x="762000" y="1524000"/>
            <a:ext cx="4318000" cy="4572000"/>
          </a:xfrm>
          <a:prstGeom prst="roundRect">
            <a:avLst>
              <a:gd name="adj" fmla="val 4705"/>
            </a:avLst>
          </a:prstGeom>
          <a:solidFill>
            <a:srgbClr val="F9F9F9">
              <a:alpha val="100000"/>
            </a:srgbClr>
          </a:solidFill>
          <a:ln w="12700" cap="flat" cmpd="sng">
            <a:solidFill>
              <a:srgbClr val="E5E5E5">
                <a:alpha val="10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1016000" y="1778000"/>
            <a:ext cx="3810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spc="100">
                <a:solidFill>
                  <a:srgbClr val="D40000"/>
                </a:solidFill>
                <a:latin typeface="Poppins"/>
                <a:ea typeface="Poppins"/>
                <a:cs typeface="Poppins"/>
                <a:sym typeface="Poppins"/>
              </a:rPr>
              <a:t>WHAT IS MCP?</a:t>
            </a:r>
            <a:endParaRPr lang="en-US" sz="1100"/>
          </a:p>
        </p:txBody>
      </p:sp>
      <p:sp>
        <p:nvSpPr>
          <p:cNvPr id="5" name="AutoShape 5"/>
          <p:cNvSpPr/>
          <p:nvPr/>
        </p:nvSpPr>
        <p:spPr>
          <a:xfrm>
            <a:off x="1016000" y="2159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333333"/>
                </a:solidFill>
                <a:latin typeface="Poppins"/>
                <a:ea typeface="Poppins"/>
                <a:cs typeface="Poppins"/>
                <a:sym typeface="Poppins"/>
              </a:rPr>
              <a:t>Model Communication Protocol</a:t>
            </a:r>
            <a:endParaRPr lang="en-US" sz="1100"/>
          </a:p>
        </p:txBody>
      </p:sp>
      <p:sp>
        <p:nvSpPr>
          <p:cNvPr id="6" name="AutoShape 6"/>
          <p:cNvSpPr/>
          <p:nvPr/>
        </p:nvSpPr>
        <p:spPr>
          <a:xfrm>
            <a:off x="1016000" y="2667000"/>
            <a:ext cx="3810000" cy="889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200" b="0" i="0" u="none" strike="noStrike">
                <a:solidFill>
                  <a:srgbClr val="666666"/>
                </a:solidFill>
                <a:latin typeface="Noto Sans SC"/>
                <a:ea typeface="Noto Sans SC"/>
                <a:cs typeface="Noto Sans SC"/>
                <a:sym typeface="Noto Sans SC"/>
              </a:rPr>
              <a:t>A unified standard that acts as a central "translator" between AI applications and external resources. It eliminates the need for custom integrations, enabling seamless and standardized communication.</a:t>
            </a:r>
            <a:endParaRPr lang="en-US" sz="1100"/>
          </a:p>
        </p:txBody>
      </p:sp>
      <p:sp>
        <p:nvSpPr>
          <p:cNvPr id="7" name="AutoShape 7"/>
          <p:cNvSpPr/>
          <p:nvPr/>
        </p:nvSpPr>
        <p:spPr>
          <a:xfrm>
            <a:off x="1016000" y="3683000"/>
            <a:ext cx="3810000" cy="762000"/>
          </a:xfrm>
          <a:prstGeom prst="roundRect">
            <a:avLst>
              <a:gd name="adj" fmla="val 13333"/>
            </a:avLst>
          </a:prstGeom>
          <a:solidFill>
            <a:srgbClr val="FFFFFF">
              <a:alpha val="100000"/>
            </a:srgbClr>
          </a:solidFill>
          <a:ln w="25400" cap="flat" cmpd="sng">
            <a:noFill/>
            <a:prstDash val="solid"/>
            <a:round/>
          </a:ln>
          <a:effectLst>
            <a:outerShdw blurRad="127000" dist="50800" dir="2700000" algn="tl" rotWithShape="0">
              <a:srgbClr val="000000">
                <a:alpha val="4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206500" y="3873500"/>
            <a:ext cx="381000" cy="381000"/>
          </a:xfrm>
          <a:prstGeom prst="rect">
            <a:avLst/>
          </a:prstGeom>
        </p:spPr>
      </p:pic>
      <p:sp>
        <p:nvSpPr>
          <p:cNvPr id="9" name="AutoShape 9"/>
          <p:cNvSpPr/>
          <p:nvPr/>
        </p:nvSpPr>
        <p:spPr>
          <a:xfrm>
            <a:off x="1778000" y="3810000"/>
            <a:ext cx="2794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333333"/>
                </a:solidFill>
                <a:latin typeface="Poppins"/>
                <a:ea typeface="Poppins"/>
                <a:cs typeface="Poppins"/>
                <a:sym typeface="Poppins"/>
              </a:rPr>
              <a:t>Standardization</a:t>
            </a:r>
            <a:endParaRPr lang="en-US" sz="1100"/>
          </a:p>
          <a:p>
            <a:pPr indent="0" algn="l">
              <a:lnSpc>
                <a:spcPct val="125000"/>
              </a:lnSpc>
            </a:pPr>
            <a:r>
              <a:rPr lang="en-US" sz="1100" b="0" i="0" u="none" strike="noStrike">
                <a:solidFill>
                  <a:srgbClr val="969696"/>
                </a:solidFill>
                <a:latin typeface="Noto Sans SC"/>
                <a:ea typeface="Noto Sans SC"/>
                <a:cs typeface="Noto Sans SC"/>
                <a:sym typeface="Noto Sans SC"/>
              </a:rPr>
              <a:t>One protocol for all AI integrations</a:t>
            </a:r>
            <a:endParaRPr lang="en-US" sz="1100" b="0" i="0" u="none" strike="noStrike">
              <a:solidFill>
                <a:srgbClr val="969696"/>
              </a:solidFill>
              <a:latin typeface="Noto Sans SC"/>
              <a:ea typeface="Noto Sans SC"/>
              <a:cs typeface="Noto Sans SC"/>
              <a:sym typeface="Noto Sans SC"/>
            </a:endParaRPr>
          </a:p>
        </p:txBody>
      </p:sp>
      <p:sp>
        <p:nvSpPr>
          <p:cNvPr id="10" name="AutoShape 10"/>
          <p:cNvSpPr/>
          <p:nvPr/>
        </p:nvSpPr>
        <p:spPr>
          <a:xfrm>
            <a:off x="1016000" y="4699000"/>
            <a:ext cx="3810000" cy="762000"/>
          </a:xfrm>
          <a:prstGeom prst="roundRect">
            <a:avLst>
              <a:gd name="adj" fmla="val 13333"/>
            </a:avLst>
          </a:prstGeom>
          <a:solidFill>
            <a:srgbClr val="FFFFFF">
              <a:alpha val="100000"/>
            </a:srgbClr>
          </a:solidFill>
          <a:ln w="25400" cap="flat" cmpd="sng">
            <a:noFill/>
            <a:prstDash val="solid"/>
            <a:round/>
          </a:ln>
          <a:effectLst>
            <a:outerShdw blurRad="127000" dist="50800" dir="2700000" algn="tl" rotWithShape="0">
              <a:srgbClr val="000000">
                <a:alpha val="4000"/>
              </a:srgbClr>
            </a:outerShdw>
          </a:effectLst>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206500" y="4889500"/>
            <a:ext cx="381000" cy="381000"/>
          </a:xfrm>
          <a:prstGeom prst="rect">
            <a:avLst/>
          </a:prstGeom>
        </p:spPr>
      </p:pic>
      <p:sp>
        <p:nvSpPr>
          <p:cNvPr id="12" name="AutoShape 12"/>
          <p:cNvSpPr/>
          <p:nvPr/>
        </p:nvSpPr>
        <p:spPr>
          <a:xfrm>
            <a:off x="1778000" y="4826000"/>
            <a:ext cx="2794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1" i="0" u="none" strike="noStrike">
                <a:solidFill>
                  <a:srgbClr val="333333"/>
                </a:solidFill>
                <a:latin typeface="Poppins"/>
                <a:ea typeface="Poppins"/>
                <a:cs typeface="Poppins"/>
                <a:sym typeface="Poppins"/>
              </a:rPr>
              <a:t>Flexibility</a:t>
            </a:r>
            <a:endParaRPr lang="en-US" sz="1100"/>
          </a:p>
          <a:p>
            <a:pPr indent="0" algn="l">
              <a:lnSpc>
                <a:spcPct val="125000"/>
              </a:lnSpc>
            </a:pPr>
            <a:r>
              <a:rPr lang="en-US" sz="1100" b="0" i="0" u="none" strike="noStrike">
                <a:solidFill>
                  <a:srgbClr val="969696"/>
                </a:solidFill>
                <a:latin typeface="Noto Sans SC"/>
                <a:ea typeface="Noto Sans SC"/>
                <a:cs typeface="Noto Sans SC"/>
                <a:sym typeface="Noto Sans SC"/>
              </a:rPr>
              <a:t>Easily plug in new apps or tools</a:t>
            </a:r>
            <a:endParaRPr lang="en-US" sz="1100" b="0" i="0" u="none" strike="noStrike">
              <a:solidFill>
                <a:srgbClr val="969696"/>
              </a:solidFill>
              <a:latin typeface="Noto Sans SC"/>
              <a:ea typeface="Noto Sans SC"/>
              <a:cs typeface="Noto Sans SC"/>
              <a:sym typeface="Noto Sans SC"/>
            </a:endParaRPr>
          </a:p>
        </p:txBody>
      </p:sp>
      <p:sp>
        <p:nvSpPr>
          <p:cNvPr id="13" name="AutoShape 13"/>
          <p:cNvSpPr/>
          <p:nvPr/>
        </p:nvSpPr>
        <p:spPr>
          <a:xfrm>
            <a:off x="5588000" y="1778000"/>
            <a:ext cx="1778000" cy="762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333333"/>
                </a:solidFill>
                <a:latin typeface="Indie Flower"/>
                <a:ea typeface="Indie Flower"/>
                <a:cs typeface="Indie Flower"/>
                <a:sym typeface="Indie Flower"/>
              </a:rPr>
              <a:t>AI App A</a:t>
            </a:r>
            <a:endParaRPr lang="en-US" sz="1100"/>
          </a:p>
        </p:txBody>
      </p:sp>
      <p:sp>
        <p:nvSpPr>
          <p:cNvPr id="14" name="AutoShape 14"/>
          <p:cNvSpPr/>
          <p:nvPr/>
        </p:nvSpPr>
        <p:spPr>
          <a:xfrm>
            <a:off x="5588000" y="2794000"/>
            <a:ext cx="1778000" cy="762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333333"/>
                </a:solidFill>
                <a:latin typeface="Indie Flower"/>
                <a:ea typeface="Indie Flower"/>
                <a:cs typeface="Indie Flower"/>
                <a:sym typeface="Indie Flower"/>
              </a:rPr>
              <a:t>AI App B</a:t>
            </a:r>
            <a:endParaRPr lang="en-US" sz="1100"/>
          </a:p>
        </p:txBody>
      </p:sp>
      <p:sp>
        <p:nvSpPr>
          <p:cNvPr id="15" name="AutoShape 15"/>
          <p:cNvSpPr/>
          <p:nvPr/>
        </p:nvSpPr>
        <p:spPr>
          <a:xfrm>
            <a:off x="5588000" y="3810000"/>
            <a:ext cx="1778000" cy="762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333333"/>
                </a:solidFill>
                <a:latin typeface="Indie Flower"/>
                <a:ea typeface="Indie Flower"/>
                <a:cs typeface="Indie Flower"/>
                <a:sym typeface="Indie Flower"/>
              </a:rPr>
              <a:t>AI App C</a:t>
            </a:r>
            <a:endParaRPr lang="en-US" sz="1100"/>
          </a:p>
        </p:txBody>
      </p:sp>
      <p:sp>
        <p:nvSpPr>
          <p:cNvPr id="16" name="AutoShape 16"/>
          <p:cNvSpPr/>
          <p:nvPr/>
        </p:nvSpPr>
        <p:spPr>
          <a:xfrm>
            <a:off x="7620000" y="2286000"/>
            <a:ext cx="2032000" cy="1270000"/>
          </a:xfrm>
          <a:prstGeom prst="roundRect">
            <a:avLst>
              <a:gd name="adj" fmla="val 0"/>
            </a:avLst>
          </a:prstGeom>
          <a:solidFill>
            <a:srgbClr val="FEF2F2">
              <a:alpha val="100000"/>
            </a:srgbClr>
          </a:solidFill>
          <a:ln w="381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D40000"/>
                </a:solidFill>
                <a:latin typeface="Indie Flower"/>
                <a:ea typeface="Indie Flower"/>
                <a:cs typeface="Indie Flower"/>
                <a:sym typeface="Indie Flower"/>
              </a:rPr>
              <a:t>MCP Server</a:t>
            </a:r>
            <a:endParaRPr lang="en-US" sz="1100"/>
          </a:p>
          <a:p>
            <a:pPr indent="0" algn="ctr">
              <a:lnSpc>
                <a:spcPct val="125000"/>
              </a:lnSpc>
            </a:pPr>
            <a:r>
              <a:rPr lang="en-US" sz="1200" b="0" i="0" u="none" strike="noStrike">
                <a:solidFill>
                  <a:srgbClr val="D40000"/>
                </a:solidFill>
                <a:latin typeface="Indie Flower"/>
                <a:ea typeface="Indie Flower"/>
                <a:cs typeface="Indie Flower"/>
                <a:sym typeface="Indie Flower"/>
              </a:rPr>
              <a:t>(Universal Connector)</a:t>
            </a:r>
            <a:endParaRPr lang="en-US" sz="1200" b="0" i="0" u="none" strike="noStrike">
              <a:solidFill>
                <a:srgbClr val="D40000"/>
              </a:solidFill>
              <a:latin typeface="Indie Flower"/>
              <a:ea typeface="Indie Flower"/>
              <a:cs typeface="Indie Flower"/>
              <a:sym typeface="Indie Flower"/>
            </a:endParaRPr>
          </a:p>
        </p:txBody>
      </p:sp>
      <p:sp>
        <p:nvSpPr>
          <p:cNvPr id="17" name="AutoShape 17"/>
          <p:cNvSpPr/>
          <p:nvPr/>
        </p:nvSpPr>
        <p:spPr>
          <a:xfrm>
            <a:off x="9906000" y="1778000"/>
            <a:ext cx="1778000" cy="762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333333"/>
                </a:solidFill>
                <a:latin typeface="Indie Flower"/>
                <a:ea typeface="Indie Flower"/>
                <a:cs typeface="Indie Flower"/>
                <a:sym typeface="Indie Flower"/>
              </a:rPr>
              <a:t>Tool 1</a:t>
            </a:r>
            <a:endParaRPr lang="en-US" sz="1100"/>
          </a:p>
        </p:txBody>
      </p:sp>
      <p:sp>
        <p:nvSpPr>
          <p:cNvPr id="18" name="AutoShape 18"/>
          <p:cNvSpPr/>
          <p:nvPr/>
        </p:nvSpPr>
        <p:spPr>
          <a:xfrm>
            <a:off x="9906000" y="2794000"/>
            <a:ext cx="1778000" cy="762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333333"/>
                </a:solidFill>
                <a:latin typeface="Indie Flower"/>
                <a:ea typeface="Indie Flower"/>
                <a:cs typeface="Indie Flower"/>
                <a:sym typeface="Indie Flower"/>
              </a:rPr>
              <a:t>Database</a:t>
            </a:r>
            <a:endParaRPr lang="en-US" sz="1100"/>
          </a:p>
        </p:txBody>
      </p:sp>
      <p:sp>
        <p:nvSpPr>
          <p:cNvPr id="19" name="AutoShape 19"/>
          <p:cNvSpPr/>
          <p:nvPr/>
        </p:nvSpPr>
        <p:spPr>
          <a:xfrm>
            <a:off x="9906000" y="3810000"/>
            <a:ext cx="1778000" cy="762000"/>
          </a:xfrm>
          <a:prstGeom prst="roundRect">
            <a:avLst>
              <a:gd name="adj" fmla="val 0"/>
            </a:avLst>
          </a:prstGeom>
          <a:solidFill>
            <a:srgbClr val="FFFFFF">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333333"/>
                </a:solidFill>
                <a:latin typeface="Indie Flower"/>
                <a:ea typeface="Indie Flower"/>
                <a:cs typeface="Indie Flower"/>
                <a:sym typeface="Indie Flower"/>
              </a:rPr>
              <a:t>API</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 Skills: From Generalist to Expert</a:t>
            </a:r>
            <a:endParaRPr lang="en-US" sz="1100"/>
          </a:p>
        </p:txBody>
      </p:sp>
      <p:sp>
        <p:nvSpPr>
          <p:cNvPr id="3" name="AutoShape 3"/>
          <p:cNvSpPr/>
          <p:nvPr/>
        </p:nvSpPr>
        <p:spPr>
          <a:xfrm>
            <a:off x="762000" y="1397000"/>
            <a:ext cx="10668000" cy="762000"/>
          </a:xfrm>
          <a:prstGeom prst="rect">
            <a:avLst/>
          </a:prstGeom>
          <a:noFill/>
          <a:ln w="12700" cap="flat" cmpd="sng">
            <a:noFill/>
            <a:prstDash val="solid"/>
            <a:round/>
          </a:ln>
        </p:spPr>
        <p:txBody>
          <a:bodyPr vert="horz" wrap="square" lIns="0" tIns="0" rIns="0" bIns="0" rtlCol="0" anchor="t" anchorCtr="0"/>
          <a:lstStyle/>
          <a:p>
            <a:pPr indent="0" algn="l">
              <a:lnSpc>
                <a:spcPct val="117000"/>
              </a:lnSpc>
              <a:defRPr/>
            </a:pPr>
            <a:r>
              <a:rPr lang="en-US" sz="1200" b="0" i="0" u="none" strike="noStrike">
                <a:solidFill>
                  <a:srgbClr val="666666"/>
                </a:solidFill>
                <a:latin typeface="Poppins"/>
                <a:ea typeface="Poppins"/>
                <a:cs typeface="Poppins"/>
                <a:sym typeface="Poppins"/>
              </a:rPr>
              <a:t>Skills are the key to upgrading a model from "pure text generation" to "task execution". Each Skill encapsulates domain knowledge, workflows, and tools for a specific business task, turning a generalist into a specialist.</a:t>
            </a:r>
            <a:endParaRPr lang="en-US" sz="1100"/>
          </a:p>
        </p:txBody>
      </p:sp>
      <p:sp>
        <p:nvSpPr>
          <p:cNvPr id="4" name="AutoShape 4"/>
          <p:cNvSpPr/>
          <p:nvPr/>
        </p:nvSpPr>
        <p:spPr>
          <a:xfrm>
            <a:off x="762000" y="2540000"/>
            <a:ext cx="3810000" cy="2794000"/>
          </a:xfrm>
          <a:prstGeom prst="roundRect">
            <a:avLst>
              <a:gd name="adj" fmla="val 5454"/>
            </a:avLst>
          </a:prstGeom>
          <a:solidFill>
            <a:srgbClr val="F0F8FF">
              <a:alpha val="100000"/>
            </a:srgbClr>
          </a:solidFill>
          <a:ln w="25400" cap="flat" cmpd="sng">
            <a:solidFill>
              <a:srgbClr val="0066CC">
                <a:alpha val="100000"/>
              </a:srgbClr>
            </a:solidFill>
            <a:prstDash val="dash"/>
            <a:round/>
          </a:ln>
        </p:spPr>
        <p:txBody>
          <a:bodyPr vert="horz" wrap="square" lIns="0" tIns="0" rIns="0" bIns="0" rtlCol="0" anchor="ctr" anchorCtr="0"/>
          <a:lstStyle/>
          <a:p>
            <a:pPr indent="0" algn="ctr">
              <a:lnSpc>
                <a:spcPct val="125000"/>
              </a:lnSpc>
              <a:defRPr/>
            </a:pPr>
            <a:r>
              <a:rPr lang="en-US" sz="1800" b="1" i="0" u="none" strike="noStrike">
                <a:solidFill>
                  <a:srgbClr val="0066CC"/>
                </a:solidFill>
                <a:latin typeface="Indie Flower"/>
                <a:ea typeface="Indie Flower"/>
                <a:cs typeface="Indie Flower"/>
                <a:sym typeface="Indie Flower"/>
              </a:rPr>
              <a:t>General-Purpose LLM</a:t>
            </a:r>
            <a:endParaRPr lang="en-US" sz="1100"/>
          </a:p>
          <a:p>
            <a:pPr indent="0" algn="ctr">
              <a:lnSpc>
                <a:spcPct val="125000"/>
              </a:lnSpc>
            </a:pPr>
            <a:r>
              <a:rPr lang="en-US" sz="1400" b="1" i="0" u="none" strike="noStrike">
                <a:solidFill>
                  <a:srgbClr val="666666"/>
                </a:solidFill>
                <a:latin typeface="Indie Flower"/>
                <a:ea typeface="Indie Flower"/>
                <a:cs typeface="Indie Flower"/>
                <a:sym typeface="Indie Flower"/>
              </a:rPr>
              <a:t>Pure text generation</a:t>
            </a:r>
            <a:endParaRPr lang="en-US" sz="1400" b="1" i="0" u="none" strike="noStrike">
              <a:solidFill>
                <a:srgbClr val="666666"/>
              </a:solidFill>
              <a:latin typeface="Indie Flower"/>
              <a:ea typeface="Indie Flower"/>
              <a:cs typeface="Indie Flower"/>
              <a:sym typeface="Indie Flower"/>
            </a:endParaRPr>
          </a:p>
          <a:p>
            <a:pPr indent="0" algn="ctr">
              <a:lnSpc>
                <a:spcPct val="125000"/>
              </a:lnSpc>
            </a:pPr>
            <a:r>
              <a:rPr lang="en-US" sz="1400" b="1" i="0" u="none" strike="noStrike">
                <a:solidFill>
                  <a:srgbClr val="666666"/>
                </a:solidFill>
                <a:latin typeface="Indie Flower"/>
                <a:ea typeface="Indie Flower"/>
                <a:cs typeface="Indie Flower"/>
                <a:sym typeface="Indie Flower"/>
              </a:rPr>
              <a:t>No domain focus</a:t>
            </a:r>
            <a:endParaRPr lang="en-US" sz="1400" b="1" i="0" u="none" strike="noStrike">
              <a:solidFill>
                <a:srgbClr val="666666"/>
              </a:solidFill>
              <a:latin typeface="Indie Flower"/>
              <a:ea typeface="Indie Flower"/>
              <a:cs typeface="Indie Flower"/>
              <a:sym typeface="Indie Flower"/>
            </a:endParaR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826000" y="3683000"/>
            <a:ext cx="508000" cy="508000"/>
          </a:xfrm>
          <a:prstGeom prst="rect">
            <a:avLst/>
          </a:prstGeom>
        </p:spPr>
      </p:pic>
      <p:sp>
        <p:nvSpPr>
          <p:cNvPr id="6" name="AutoShape 6"/>
          <p:cNvSpPr/>
          <p:nvPr/>
        </p:nvSpPr>
        <p:spPr>
          <a:xfrm>
            <a:off x="5588000" y="2540000"/>
            <a:ext cx="3810000" cy="2794000"/>
          </a:xfrm>
          <a:prstGeom prst="roundRect">
            <a:avLst>
              <a:gd name="adj" fmla="val 5454"/>
            </a:avLst>
          </a:prstGeom>
          <a:solidFill>
            <a:srgbClr val="FFF8F0">
              <a:alpha val="100000"/>
            </a:srgbClr>
          </a:solidFill>
          <a:ln w="25400" cap="flat" cmpd="sng">
            <a:solidFill>
              <a:srgbClr val="FF8C00">
                <a:alpha val="100000"/>
              </a:srgbClr>
            </a:solid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FF8C00"/>
                </a:solidFill>
                <a:latin typeface="Indie Flower"/>
                <a:ea typeface="Indie Flower"/>
                <a:cs typeface="Indie Flower"/>
                <a:sym typeface="Indie Flower"/>
              </a:rPr>
              <a:t>Domain Expert Agent</a:t>
            </a:r>
            <a:endParaRPr lang="en-US" sz="1100"/>
          </a:p>
          <a:p>
            <a:pPr indent="0" algn="ctr">
              <a:lnSpc>
                <a:spcPct val="125000"/>
              </a:lnSpc>
            </a:pPr>
            <a:r>
              <a:rPr lang="en-US" sz="1400" b="1" i="0" u="none" strike="noStrike">
                <a:solidFill>
                  <a:srgbClr val="666666"/>
                </a:solidFill>
                <a:latin typeface="Indie Flower"/>
                <a:ea typeface="Indie Flower"/>
                <a:cs typeface="Indie Flower"/>
                <a:sym typeface="Indie Flower"/>
              </a:rPr>
              <a:t>+ Skill: "Customer Onboarding"</a:t>
            </a:r>
            <a:endParaRPr lang="en-US" sz="1400" b="1" i="0" u="none" strike="noStrike">
              <a:solidFill>
                <a:srgbClr val="666666"/>
              </a:solidFill>
              <a:latin typeface="Indie Flower"/>
              <a:ea typeface="Indie Flower"/>
              <a:cs typeface="Indie Flower"/>
              <a:sym typeface="Indie Flower"/>
            </a:endParaRPr>
          </a:p>
          <a:p>
            <a:pPr indent="0" algn="ctr">
              <a:lnSpc>
                <a:spcPct val="125000"/>
              </a:lnSpc>
            </a:pPr>
            <a:r>
              <a:rPr lang="en-US" sz="1400" b="1" i="0" u="none" strike="noStrike">
                <a:solidFill>
                  <a:srgbClr val="666666"/>
                </a:solidFill>
                <a:latin typeface="Indie Flower"/>
                <a:ea typeface="Indie Flower"/>
                <a:cs typeface="Indie Flower"/>
                <a:sym typeface="Indie Flower"/>
              </a:rPr>
              <a:t>Workflow | Tools | Knowledge</a:t>
            </a:r>
            <a:endParaRPr lang="en-US" sz="1400" b="1" i="0" u="none" strike="noStrike">
              <a:solidFill>
                <a:srgbClr val="666666"/>
              </a:solidFill>
              <a:latin typeface="Indie Flower"/>
              <a:ea typeface="Indie Flower"/>
              <a:cs typeface="Indie Flower"/>
              <a:sym typeface="Indie Flowe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5080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Indie Flower"/>
                <a:ea typeface="Indie Flower"/>
                <a:cs typeface="Indie Flower"/>
                <a:sym typeface="Indie Flower"/>
              </a:rPr>
              <a:t>Workflow vs. Agent</a:t>
            </a:r>
            <a:endParaRPr lang="en-US" sz="1100"/>
          </a:p>
        </p:txBody>
      </p:sp>
      <p:sp>
        <p:nvSpPr>
          <p:cNvPr id="3" name="AutoShape 3"/>
          <p:cNvSpPr/>
          <p:nvPr/>
        </p:nvSpPr>
        <p:spPr>
          <a:xfrm>
            <a:off x="762000" y="1524000"/>
            <a:ext cx="5207000" cy="2413000"/>
          </a:xfrm>
          <a:prstGeom prst="roundRect">
            <a:avLst>
              <a:gd name="adj" fmla="val 6315"/>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714500"/>
            <a:ext cx="355600" cy="355600"/>
          </a:xfrm>
          <a:prstGeom prst="rect">
            <a:avLst/>
          </a:prstGeom>
        </p:spPr>
      </p:pic>
      <p:sp>
        <p:nvSpPr>
          <p:cNvPr id="5" name="AutoShape 5"/>
          <p:cNvSpPr/>
          <p:nvPr/>
        </p:nvSpPr>
        <p:spPr>
          <a:xfrm>
            <a:off x="1524000" y="1714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D40000"/>
                </a:solidFill>
                <a:latin typeface="Poppins"/>
                <a:ea typeface="Poppins"/>
                <a:cs typeface="Poppins"/>
                <a:sym typeface="Poppins"/>
              </a:rPr>
              <a:t>WORKFLOW</a:t>
            </a:r>
            <a:r>
              <a:rPr lang="en-US" sz="1400" b="0" i="0" u="none" strike="noStrike">
                <a:solidFill>
                  <a:srgbClr val="6B7280"/>
                </a:solidFill>
                <a:latin typeface="Noto Sans SC"/>
                <a:ea typeface="Noto Sans SC"/>
                <a:cs typeface="Noto Sans SC"/>
                <a:sym typeface="Noto Sans SC"/>
              </a:rPr>
              <a:t>| Rigid &amp; Predefined</a:t>
            </a:r>
            <a:endParaRPr lang="en-US" sz="1100"/>
          </a:p>
        </p:txBody>
      </p:sp>
      <p:sp>
        <p:nvSpPr>
          <p:cNvPr id="6" name="AutoShape 6"/>
          <p:cNvSpPr/>
          <p:nvPr/>
        </p:nvSpPr>
        <p:spPr>
          <a:xfrm>
            <a:off x="1016000" y="2286000"/>
            <a:ext cx="4699000" cy="508000"/>
          </a:xfrm>
          <a:prstGeom prst="roundRect">
            <a:avLst>
              <a:gd name="adj" fmla="val 15000"/>
            </a:avLst>
          </a:prstGeom>
          <a:solidFill>
            <a:srgbClr val="FFFFFF">
              <a:alpha val="100000"/>
            </a:srgbClr>
          </a:solidFill>
          <a:ln w="25400" cap="flat" cmpd="sng">
            <a:no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7" name="AutoShape 7"/>
          <p:cNvSpPr/>
          <p:nvPr/>
        </p:nvSpPr>
        <p:spPr>
          <a:xfrm>
            <a:off x="1206500" y="2387600"/>
            <a:ext cx="101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333333"/>
                </a:solidFill>
                <a:latin typeface="Poppins"/>
                <a:ea typeface="Poppins"/>
                <a:cs typeface="Poppins"/>
                <a:sym typeface="Poppins"/>
              </a:rPr>
              <a:t>NATURE</a:t>
            </a:r>
            <a:endParaRPr lang="en-US" sz="1100"/>
          </a:p>
        </p:txBody>
      </p:sp>
      <p:sp>
        <p:nvSpPr>
          <p:cNvPr id="8" name="AutoShape 8"/>
          <p:cNvSpPr/>
          <p:nvPr/>
        </p:nvSpPr>
        <p:spPr>
          <a:xfrm>
            <a:off x="2286000" y="2387600"/>
            <a:ext cx="330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525252"/>
                </a:solidFill>
                <a:latin typeface="Noto Sans SC"/>
                <a:ea typeface="Noto Sans SC"/>
                <a:cs typeface="Noto Sans SC"/>
                <a:sym typeface="Noto Sans SC"/>
              </a:rPr>
              <a:t>Fixed, rule-based process with zero deviation.</a:t>
            </a:r>
            <a:endParaRPr lang="en-US" sz="1100"/>
          </a:p>
        </p:txBody>
      </p:sp>
      <p:sp>
        <p:nvSpPr>
          <p:cNvPr id="9" name="AutoShape 9"/>
          <p:cNvSpPr/>
          <p:nvPr/>
        </p:nvSpPr>
        <p:spPr>
          <a:xfrm>
            <a:off x="1016000" y="2921000"/>
            <a:ext cx="4699000" cy="508000"/>
          </a:xfrm>
          <a:prstGeom prst="roundRect">
            <a:avLst>
              <a:gd name="adj" fmla="val 15000"/>
            </a:avLst>
          </a:prstGeom>
          <a:solidFill>
            <a:srgbClr val="FFFFFF">
              <a:alpha val="100000"/>
            </a:srgbClr>
          </a:solidFill>
          <a:ln w="25400" cap="flat" cmpd="sng">
            <a:no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10" name="AutoShape 10"/>
          <p:cNvSpPr/>
          <p:nvPr/>
        </p:nvSpPr>
        <p:spPr>
          <a:xfrm>
            <a:off x="1206500" y="3022600"/>
            <a:ext cx="101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333333"/>
                </a:solidFill>
                <a:latin typeface="Poppins"/>
                <a:ea typeface="Poppins"/>
                <a:cs typeface="Poppins"/>
                <a:sym typeface="Poppins"/>
              </a:rPr>
              <a:t>EXECUTION</a:t>
            </a:r>
            <a:endParaRPr lang="en-US" sz="1100"/>
          </a:p>
        </p:txBody>
      </p:sp>
      <p:sp>
        <p:nvSpPr>
          <p:cNvPr id="11" name="AutoShape 11"/>
          <p:cNvSpPr/>
          <p:nvPr/>
        </p:nvSpPr>
        <p:spPr>
          <a:xfrm>
            <a:off x="2286000" y="3022600"/>
            <a:ext cx="330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525252"/>
                </a:solidFill>
                <a:latin typeface="Noto Sans SC"/>
                <a:ea typeface="Noto Sans SC"/>
                <a:cs typeface="Noto Sans SC"/>
                <a:sym typeface="Noto Sans SC"/>
              </a:rPr>
              <a:t>Follows a strict, pre-written script step-by-step.</a:t>
            </a:r>
            <a:endParaRPr lang="en-US" sz="1100"/>
          </a:p>
        </p:txBody>
      </p:sp>
      <p:sp>
        <p:nvSpPr>
          <p:cNvPr id="12" name="AutoShape 12"/>
          <p:cNvSpPr/>
          <p:nvPr/>
        </p:nvSpPr>
        <p:spPr>
          <a:xfrm>
            <a:off x="6223000" y="1524000"/>
            <a:ext cx="5207000" cy="2413000"/>
          </a:xfrm>
          <a:prstGeom prst="roundRect">
            <a:avLst>
              <a:gd name="adj" fmla="val 6315"/>
            </a:avLst>
          </a:prstGeom>
          <a:solidFill>
            <a:srgbClr val="F3F4F6">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77000" y="1714500"/>
            <a:ext cx="355600" cy="355600"/>
          </a:xfrm>
          <a:prstGeom prst="rect">
            <a:avLst/>
          </a:prstGeom>
        </p:spPr>
      </p:pic>
      <p:sp>
        <p:nvSpPr>
          <p:cNvPr id="14" name="AutoShape 14"/>
          <p:cNvSpPr/>
          <p:nvPr/>
        </p:nvSpPr>
        <p:spPr>
          <a:xfrm>
            <a:off x="6985000" y="17145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D40000"/>
                </a:solidFill>
                <a:latin typeface="Poppins"/>
                <a:ea typeface="Poppins"/>
                <a:cs typeface="Poppins"/>
                <a:sym typeface="Poppins"/>
              </a:rPr>
              <a:t>AI AGENT</a:t>
            </a:r>
            <a:r>
              <a:rPr lang="en-US" sz="1400" b="0" i="0" u="none" strike="noStrike">
                <a:solidFill>
                  <a:srgbClr val="6B7280"/>
                </a:solidFill>
                <a:latin typeface="Noto Sans SC"/>
                <a:ea typeface="Noto Sans SC"/>
                <a:cs typeface="Noto Sans SC"/>
                <a:sym typeface="Noto Sans SC"/>
              </a:rPr>
              <a:t>| Autonomous &amp; Dynamic</a:t>
            </a:r>
            <a:endParaRPr lang="en-US" sz="1100"/>
          </a:p>
        </p:txBody>
      </p:sp>
      <p:sp>
        <p:nvSpPr>
          <p:cNvPr id="15" name="AutoShape 15"/>
          <p:cNvSpPr/>
          <p:nvPr/>
        </p:nvSpPr>
        <p:spPr>
          <a:xfrm>
            <a:off x="6477000" y="2286000"/>
            <a:ext cx="4699000" cy="508000"/>
          </a:xfrm>
          <a:prstGeom prst="roundRect">
            <a:avLst>
              <a:gd name="adj" fmla="val 15000"/>
            </a:avLst>
          </a:prstGeom>
          <a:solidFill>
            <a:srgbClr val="FFFFFF">
              <a:alpha val="100000"/>
            </a:srgbClr>
          </a:solidFill>
          <a:ln w="25400" cap="flat" cmpd="sng">
            <a:no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16" name="AutoShape 16"/>
          <p:cNvSpPr/>
          <p:nvPr/>
        </p:nvSpPr>
        <p:spPr>
          <a:xfrm>
            <a:off x="6667500" y="2387600"/>
            <a:ext cx="101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333333"/>
                </a:solidFill>
                <a:latin typeface="Poppins"/>
                <a:ea typeface="Poppins"/>
                <a:cs typeface="Poppins"/>
                <a:sym typeface="Poppins"/>
              </a:rPr>
              <a:t>NATURE</a:t>
            </a:r>
            <a:endParaRPr lang="en-US" sz="1100"/>
          </a:p>
        </p:txBody>
      </p:sp>
      <p:sp>
        <p:nvSpPr>
          <p:cNvPr id="17" name="AutoShape 17"/>
          <p:cNvSpPr/>
          <p:nvPr/>
        </p:nvSpPr>
        <p:spPr>
          <a:xfrm>
            <a:off x="7747000" y="2387600"/>
            <a:ext cx="330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525252"/>
                </a:solidFill>
                <a:latin typeface="Noto Sans SC"/>
                <a:ea typeface="Noto Sans SC"/>
                <a:cs typeface="Noto Sans SC"/>
                <a:sym typeface="Noto Sans SC"/>
              </a:rPr>
              <a:t>AI-native core with reasoning &amp; self-learning.</a:t>
            </a:r>
            <a:endParaRPr lang="en-US" sz="1100"/>
          </a:p>
        </p:txBody>
      </p:sp>
      <p:sp>
        <p:nvSpPr>
          <p:cNvPr id="18" name="AutoShape 18"/>
          <p:cNvSpPr/>
          <p:nvPr/>
        </p:nvSpPr>
        <p:spPr>
          <a:xfrm>
            <a:off x="6477000" y="2921000"/>
            <a:ext cx="4699000" cy="508000"/>
          </a:xfrm>
          <a:prstGeom prst="roundRect">
            <a:avLst>
              <a:gd name="adj" fmla="val 15000"/>
            </a:avLst>
          </a:prstGeom>
          <a:solidFill>
            <a:srgbClr val="FFFFFF">
              <a:alpha val="100000"/>
            </a:srgbClr>
          </a:solidFill>
          <a:ln w="25400" cap="flat" cmpd="sng">
            <a:noFill/>
            <a:prstDash val="solid"/>
            <a:round/>
          </a:ln>
          <a:effectLst>
            <a:outerShdw blurRad="508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19" name="AutoShape 19"/>
          <p:cNvSpPr/>
          <p:nvPr/>
        </p:nvSpPr>
        <p:spPr>
          <a:xfrm>
            <a:off x="6667500" y="3022600"/>
            <a:ext cx="1016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1" i="0" u="none" strike="noStrike">
                <a:solidFill>
                  <a:srgbClr val="333333"/>
                </a:solidFill>
                <a:latin typeface="Poppins"/>
                <a:ea typeface="Poppins"/>
                <a:cs typeface="Poppins"/>
                <a:sym typeface="Poppins"/>
              </a:rPr>
              <a:t>EXECUTION</a:t>
            </a:r>
            <a:endParaRPr lang="en-US" sz="1100"/>
          </a:p>
        </p:txBody>
      </p:sp>
      <p:sp>
        <p:nvSpPr>
          <p:cNvPr id="20" name="AutoShape 20"/>
          <p:cNvSpPr/>
          <p:nvPr/>
        </p:nvSpPr>
        <p:spPr>
          <a:xfrm>
            <a:off x="7747000" y="3022600"/>
            <a:ext cx="3302000" cy="3048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100" b="0" i="0" u="none" strike="noStrike">
                <a:solidFill>
                  <a:srgbClr val="525252"/>
                </a:solidFill>
                <a:latin typeface="Noto Sans SC"/>
                <a:ea typeface="Noto Sans SC"/>
                <a:cs typeface="Noto Sans SC"/>
                <a:sym typeface="Noto Sans SC"/>
              </a:rPr>
              <a:t>Proactively decomposes tasks &amp; plans dynamically.</a:t>
            </a:r>
            <a:endParaRPr lang="en-US" sz="1100"/>
          </a:p>
        </p:txBody>
      </p:sp>
      <p:sp>
        <p:nvSpPr>
          <p:cNvPr id="21" name="AutoShape 21"/>
          <p:cNvSpPr/>
          <p:nvPr/>
        </p:nvSpPr>
        <p:spPr>
          <a:xfrm>
            <a:off x="762000" y="4191000"/>
            <a:ext cx="5207000" cy="2032000"/>
          </a:xfrm>
          <a:prstGeom prst="roundRect">
            <a:avLst>
              <a:gd name="adj" fmla="val 7500"/>
            </a:avLst>
          </a:prstGeom>
          <a:solidFill>
            <a:srgbClr val="FFFFFF">
              <a:alpha val="100000"/>
            </a:srgbClr>
          </a:solidFill>
          <a:ln w="12700" cap="flat" cmpd="sng">
            <a:solidFill>
              <a:srgbClr val="E5E7EB">
                <a:alpha val="100000"/>
              </a:srgbClr>
            </a:solid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22" name="AutoShape 22"/>
          <p:cNvSpPr/>
          <p:nvPr/>
        </p:nvSpPr>
        <p:spPr>
          <a:xfrm>
            <a:off x="1016000" y="4381500"/>
            <a:ext cx="4699000" cy="254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6B7280"/>
                </a:solidFill>
                <a:latin typeface="Poppins"/>
                <a:ea typeface="Poppins"/>
                <a:cs typeface="Poppins"/>
                <a:sym typeface="Poppins"/>
              </a:rPr>
              <a:t>ARCHITECTURE: LINEAR PIPELINE</a:t>
            </a:r>
            <a:endParaRPr lang="en-US" sz="1100"/>
          </a:p>
        </p:txBody>
      </p:sp>
      <p:sp>
        <p:nvSpPr>
          <p:cNvPr id="23" name="AutoShape 23"/>
          <p:cNvSpPr/>
          <p:nvPr/>
        </p:nvSpPr>
        <p:spPr>
          <a:xfrm>
            <a:off x="6223000" y="4191000"/>
            <a:ext cx="5207000" cy="2032000"/>
          </a:xfrm>
          <a:prstGeom prst="roundRect">
            <a:avLst>
              <a:gd name="adj" fmla="val 7500"/>
            </a:avLst>
          </a:prstGeom>
          <a:solidFill>
            <a:srgbClr val="FFFFFF">
              <a:alpha val="100000"/>
            </a:srgbClr>
          </a:solidFill>
          <a:ln w="12700" cap="flat" cmpd="sng">
            <a:solidFill>
              <a:srgbClr val="E5E7EB">
                <a:alpha val="100000"/>
              </a:srgbClr>
            </a:solid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24" name="AutoShape 24"/>
          <p:cNvSpPr/>
          <p:nvPr/>
        </p:nvSpPr>
        <p:spPr>
          <a:xfrm>
            <a:off x="6477000" y="4381500"/>
            <a:ext cx="4699000" cy="254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300" b="1" i="0" u="none" strike="noStrike">
                <a:solidFill>
                  <a:srgbClr val="6B7280"/>
                </a:solidFill>
                <a:latin typeface="Poppins"/>
                <a:ea typeface="Poppins"/>
                <a:cs typeface="Poppins"/>
                <a:sym typeface="Poppins"/>
              </a:rPr>
              <a:t>ARCHITECTURE: DYNAMIC NETWORK</a:t>
            </a:r>
            <a:endParaRPr lang="en-US" sz="1100"/>
          </a:p>
        </p:txBody>
      </p:sp>
      <p:sp>
        <p:nvSpPr>
          <p:cNvPr id="25" name="AutoShape 25"/>
          <p:cNvSpPr/>
          <p:nvPr/>
        </p:nvSpPr>
        <p:spPr>
          <a:xfrm>
            <a:off x="1016000" y="4826000"/>
            <a:ext cx="889000" cy="635000"/>
          </a:xfrm>
          <a:prstGeom prst="roundRect">
            <a:avLst>
              <a:gd name="adj" fmla="val 0"/>
            </a:avLst>
          </a:prstGeom>
          <a:solidFill>
            <a:srgbClr val="F3F4F6">
              <a:alpha val="100000"/>
            </a:srgbClr>
          </a:solidFill>
          <a:ln w="25400" cap="flat" cmpd="sng">
            <a:solidFill>
              <a:srgbClr val="374151">
                <a:alpha val="100000"/>
              </a:srgbClr>
            </a:solid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374151"/>
                </a:solidFill>
                <a:latin typeface="Indie Flower"/>
                <a:ea typeface="Indie Flower"/>
                <a:cs typeface="Indie Flower"/>
                <a:sym typeface="Indie Flower"/>
              </a:rPr>
              <a:t>Step 1</a:t>
            </a:r>
            <a:endParaRPr lang="en-US" sz="1100"/>
          </a:p>
        </p:txBody>
      </p:sp>
      <p:sp>
        <p:nvSpPr>
          <p:cNvPr id="26" name="AutoShape 26"/>
          <p:cNvSpPr/>
          <p:nvPr/>
        </p:nvSpPr>
        <p:spPr>
          <a:xfrm>
            <a:off x="1968500" y="5016500"/>
            <a:ext cx="254000" cy="254000"/>
          </a:xfrm>
          <a:prstGeom prst="rightArrow">
            <a:avLst/>
          </a:prstGeom>
          <a:solidFill>
            <a:srgbClr val="374151">
              <a:alpha val="100000"/>
            </a:srgbClr>
          </a:solidFill>
          <a:ln w="25400" cap="flat" cmpd="sng">
            <a:noFill/>
            <a:prstDash val="solid"/>
            <a:round/>
          </a:ln>
        </p:spPr>
        <p:txBody>
          <a:bodyPr vert="horz" wrap="square" lIns="63500" tIns="63500" rIns="63500" bIns="63500" rtlCol="0" anchor="ctr"/>
          <a:lstStyle/>
          <a:p>
            <a:pPr algn="ctr">
              <a:defRPr/>
            </a:pPr>
          </a:p>
        </p:txBody>
      </p:sp>
      <p:sp>
        <p:nvSpPr>
          <p:cNvPr id="27" name="AutoShape 27"/>
          <p:cNvSpPr/>
          <p:nvPr/>
        </p:nvSpPr>
        <p:spPr>
          <a:xfrm>
            <a:off x="2286000" y="4826000"/>
            <a:ext cx="889000" cy="635000"/>
          </a:xfrm>
          <a:prstGeom prst="roundRect">
            <a:avLst>
              <a:gd name="adj" fmla="val 0"/>
            </a:avLst>
          </a:prstGeom>
          <a:solidFill>
            <a:srgbClr val="F3F4F6">
              <a:alpha val="100000"/>
            </a:srgbClr>
          </a:solidFill>
          <a:ln w="25400" cap="flat" cmpd="sng">
            <a:solidFill>
              <a:srgbClr val="374151">
                <a:alpha val="100000"/>
              </a:srgbClr>
            </a:solid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374151"/>
                </a:solidFill>
                <a:latin typeface="Indie Flower"/>
                <a:ea typeface="Indie Flower"/>
                <a:cs typeface="Indie Flower"/>
                <a:sym typeface="Indie Flower"/>
              </a:rPr>
              <a:t>Step 2</a:t>
            </a:r>
            <a:endParaRPr lang="en-US" sz="1100"/>
          </a:p>
        </p:txBody>
      </p:sp>
      <p:sp>
        <p:nvSpPr>
          <p:cNvPr id="28" name="AutoShape 28"/>
          <p:cNvSpPr/>
          <p:nvPr/>
        </p:nvSpPr>
        <p:spPr>
          <a:xfrm>
            <a:off x="3238500" y="5016500"/>
            <a:ext cx="254000" cy="254000"/>
          </a:xfrm>
          <a:prstGeom prst="rightArrow">
            <a:avLst/>
          </a:prstGeom>
          <a:solidFill>
            <a:srgbClr val="374151">
              <a:alpha val="100000"/>
            </a:srgbClr>
          </a:solidFill>
          <a:ln w="25400" cap="flat" cmpd="sng">
            <a:noFill/>
            <a:prstDash val="solid"/>
            <a:round/>
          </a:ln>
        </p:spPr>
        <p:txBody>
          <a:bodyPr vert="horz" wrap="square" lIns="63500" tIns="63500" rIns="63500" bIns="63500" rtlCol="0" anchor="ctr"/>
          <a:lstStyle/>
          <a:p>
            <a:pPr algn="ctr">
              <a:defRPr/>
            </a:pPr>
          </a:p>
        </p:txBody>
      </p:sp>
      <p:sp>
        <p:nvSpPr>
          <p:cNvPr id="29" name="AutoShape 29"/>
          <p:cNvSpPr/>
          <p:nvPr/>
        </p:nvSpPr>
        <p:spPr>
          <a:xfrm>
            <a:off x="3556000" y="4826000"/>
            <a:ext cx="889000" cy="635000"/>
          </a:xfrm>
          <a:prstGeom prst="roundRect">
            <a:avLst>
              <a:gd name="adj" fmla="val 0"/>
            </a:avLst>
          </a:prstGeom>
          <a:solidFill>
            <a:srgbClr val="F3F4F6">
              <a:alpha val="100000"/>
            </a:srgbClr>
          </a:solidFill>
          <a:ln w="25400" cap="flat" cmpd="sng">
            <a:solidFill>
              <a:srgbClr val="374151">
                <a:alpha val="100000"/>
              </a:srgbClr>
            </a:solid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374151"/>
                </a:solidFill>
                <a:latin typeface="Indie Flower"/>
                <a:ea typeface="Indie Flower"/>
                <a:cs typeface="Indie Flower"/>
                <a:sym typeface="Indie Flower"/>
              </a:rPr>
              <a:t>Step 3</a:t>
            </a:r>
            <a:endParaRPr lang="en-US" sz="1100"/>
          </a:p>
        </p:txBody>
      </p:sp>
      <p:sp>
        <p:nvSpPr>
          <p:cNvPr id="30" name="AutoShape 30"/>
          <p:cNvSpPr/>
          <p:nvPr/>
        </p:nvSpPr>
        <p:spPr>
          <a:xfrm>
            <a:off x="4508500" y="5016500"/>
            <a:ext cx="254000" cy="254000"/>
          </a:xfrm>
          <a:prstGeom prst="rightArrow">
            <a:avLst/>
          </a:prstGeom>
          <a:solidFill>
            <a:srgbClr val="374151">
              <a:alpha val="100000"/>
            </a:srgbClr>
          </a:solidFill>
          <a:ln w="25400" cap="flat" cmpd="sng">
            <a:noFill/>
            <a:prstDash val="solid"/>
            <a:round/>
          </a:ln>
        </p:spPr>
        <p:txBody>
          <a:bodyPr vert="horz" wrap="square" lIns="63500" tIns="63500" rIns="63500" bIns="63500" rtlCol="0" anchor="ctr"/>
          <a:lstStyle/>
          <a:p>
            <a:pPr algn="ctr">
              <a:defRPr/>
            </a:pPr>
          </a:p>
        </p:txBody>
      </p:sp>
      <p:sp>
        <p:nvSpPr>
          <p:cNvPr id="31" name="AutoShape 31"/>
          <p:cNvSpPr/>
          <p:nvPr/>
        </p:nvSpPr>
        <p:spPr>
          <a:xfrm>
            <a:off x="4826000" y="4826000"/>
            <a:ext cx="889000" cy="635000"/>
          </a:xfrm>
          <a:prstGeom prst="roundRect">
            <a:avLst>
              <a:gd name="adj" fmla="val 0"/>
            </a:avLst>
          </a:prstGeom>
          <a:solidFill>
            <a:srgbClr val="FEF2F2">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200" b="1" i="0" u="none" strike="noStrike">
                <a:solidFill>
                  <a:srgbClr val="D40000"/>
                </a:solidFill>
                <a:latin typeface="Indie Flower"/>
                <a:ea typeface="Indie Flower"/>
                <a:cs typeface="Indie Flower"/>
                <a:sym typeface="Indie Flower"/>
              </a:rPr>
              <a:t>Step 4</a:t>
            </a:r>
            <a:endParaRPr lang="en-US" sz="1100"/>
          </a:p>
        </p:txBody>
      </p:sp>
      <p:sp>
        <p:nvSpPr>
          <p:cNvPr id="32" name="AutoShape 32"/>
          <p:cNvSpPr/>
          <p:nvPr/>
        </p:nvSpPr>
        <p:spPr>
          <a:xfrm>
            <a:off x="8064500" y="4699000"/>
            <a:ext cx="1016000" cy="1016000"/>
          </a:xfrm>
          <a:prstGeom prst="ellipse">
            <a:avLst/>
          </a:prstGeom>
          <a:solidFill>
            <a:srgbClr val="D40000">
              <a:alpha val="1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400" b="1" i="0" u="none" strike="noStrike">
                <a:solidFill>
                  <a:srgbClr val="D40000"/>
                </a:solidFill>
                <a:latin typeface="Indie Flower"/>
                <a:ea typeface="Indie Flower"/>
                <a:cs typeface="Indie Flower"/>
                <a:sym typeface="Indie Flower"/>
              </a:rPr>
              <a:t>Agent</a:t>
            </a:r>
            <a:endParaRPr lang="en-US" sz="1100"/>
          </a:p>
        </p:txBody>
      </p:sp>
      <p:sp>
        <p:nvSpPr>
          <p:cNvPr id="33" name="AutoShape 33"/>
          <p:cNvSpPr/>
          <p:nvPr/>
        </p:nvSpPr>
        <p:spPr>
          <a:xfrm>
            <a:off x="6731000" y="4826000"/>
            <a:ext cx="889000" cy="508000"/>
          </a:xfrm>
          <a:prstGeom prst="roundRect">
            <a:avLst>
              <a:gd name="adj" fmla="val 0"/>
            </a:avLst>
          </a:prstGeom>
          <a:solidFill>
            <a:srgbClr val="F3F4F6">
              <a:alpha val="100000"/>
            </a:srgbClr>
          </a:solidFill>
          <a:ln w="25400" cap="flat" cmpd="sng">
            <a:solidFill>
              <a:srgbClr val="374151">
                <a:alpha val="100000"/>
              </a:srgbClr>
            </a:solid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4B5563"/>
                </a:solidFill>
                <a:latin typeface="Indie Flower"/>
                <a:ea typeface="Indie Flower"/>
                <a:cs typeface="Indie Flower"/>
                <a:sym typeface="Indie Flower"/>
              </a:rPr>
              <a:t>Tool A</a:t>
            </a:r>
            <a:endParaRPr lang="en-US" sz="1100"/>
          </a:p>
        </p:txBody>
      </p:sp>
      <p:sp>
        <p:nvSpPr>
          <p:cNvPr id="34" name="AutoShape 34"/>
          <p:cNvSpPr/>
          <p:nvPr/>
        </p:nvSpPr>
        <p:spPr>
          <a:xfrm>
            <a:off x="9525000" y="4826000"/>
            <a:ext cx="889000" cy="508000"/>
          </a:xfrm>
          <a:prstGeom prst="roundRect">
            <a:avLst>
              <a:gd name="adj" fmla="val 0"/>
            </a:avLst>
          </a:prstGeom>
          <a:solidFill>
            <a:srgbClr val="F3F4F6">
              <a:alpha val="100000"/>
            </a:srgbClr>
          </a:solidFill>
          <a:ln w="25400" cap="flat" cmpd="sng">
            <a:solidFill>
              <a:srgbClr val="374151">
                <a:alpha val="100000"/>
              </a:srgbClr>
            </a:solid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4B5563"/>
                </a:solidFill>
                <a:latin typeface="Indie Flower"/>
                <a:ea typeface="Indie Flower"/>
                <a:cs typeface="Indie Flower"/>
                <a:sym typeface="Indie Flower"/>
              </a:rPr>
              <a:t>Data B</a:t>
            </a:r>
            <a:endParaRPr lang="en-US" sz="1100"/>
          </a:p>
        </p:txBody>
      </p:sp>
      <p:sp>
        <p:nvSpPr>
          <p:cNvPr id="35" name="AutoShape 35"/>
          <p:cNvSpPr/>
          <p:nvPr/>
        </p:nvSpPr>
        <p:spPr>
          <a:xfrm>
            <a:off x="8128000" y="5842000"/>
            <a:ext cx="889000" cy="381000"/>
          </a:xfrm>
          <a:prstGeom prst="roundRect">
            <a:avLst>
              <a:gd name="adj" fmla="val 0"/>
            </a:avLst>
          </a:prstGeom>
          <a:solidFill>
            <a:srgbClr val="F3F4F6">
              <a:alpha val="100000"/>
            </a:srgbClr>
          </a:solidFill>
          <a:ln w="25400" cap="flat" cmpd="sng">
            <a:solidFill>
              <a:srgbClr val="374151">
                <a:alpha val="100000"/>
              </a:srgbClr>
            </a:solidFill>
            <a:prstDash val="solid"/>
            <a:round/>
          </a:ln>
        </p:spPr>
        <p:txBody>
          <a:bodyPr vert="horz" wrap="square" lIns="0" tIns="0" rIns="0" bIns="0" rtlCol="0" anchor="ctr" anchorCtr="0"/>
          <a:lstStyle/>
          <a:p>
            <a:pPr indent="0" algn="ctr">
              <a:lnSpc>
                <a:spcPct val="125000"/>
              </a:lnSpc>
              <a:defRPr/>
            </a:pPr>
            <a:r>
              <a:rPr lang="en-US" sz="1100" b="0" i="0" u="none" strike="noStrike">
                <a:solidFill>
                  <a:srgbClr val="4B5563"/>
                </a:solidFill>
                <a:latin typeface="Indie Flower"/>
                <a:ea typeface="Indie Flower"/>
                <a:cs typeface="Indie Flower"/>
                <a:sym typeface="Indie Flower"/>
              </a:rPr>
              <a:t>Skill C</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 Single-Agent Architecture</a:t>
            </a:r>
            <a:endParaRPr lang="en-US" sz="1100"/>
          </a:p>
        </p:txBody>
      </p:sp>
      <p:sp>
        <p:nvSpPr>
          <p:cNvPr id="3" name="AutoShape 3"/>
          <p:cNvSpPr/>
          <p:nvPr/>
        </p:nvSpPr>
        <p:spPr>
          <a:xfrm>
            <a:off x="762000" y="1524000"/>
            <a:ext cx="4953000" cy="2286000"/>
          </a:xfrm>
          <a:prstGeom prst="roundRect">
            <a:avLst>
              <a:gd name="adj" fmla="val 6666"/>
            </a:avLst>
          </a:prstGeom>
          <a:solidFill>
            <a:srgbClr val="F8F8F8">
              <a:alpha val="100000"/>
            </a:srgbClr>
          </a:solidFill>
          <a:ln w="25400" cap="flat" cmpd="sng">
            <a:noFill/>
            <a:prstDash val="solid"/>
            <a:round/>
          </a:ln>
          <a:effectLst>
            <a:outerShdw blurRad="101600" dist="25400" dir="2700000" algn="tl" rotWithShape="0">
              <a:srgbClr val="000000">
                <a:alpha val="5000"/>
              </a:srgbClr>
            </a:outerShdw>
          </a:effectLst>
        </p:spPr>
        <p:txBody>
          <a:bodyPr vert="horz" wrap="square" lIns="63500" tIns="63500" rIns="63500" bIns="63500" rtlCol="0" anchor="ctr"/>
          <a:lstStyle/>
          <a:p>
            <a:pPr algn="ctr">
              <a:defRPr/>
            </a:pPr>
          </a:p>
        </p:txBody>
      </p:sp>
      <p:sp>
        <p:nvSpPr>
          <p:cNvPr id="4" name="AutoShape 4"/>
          <p:cNvSpPr/>
          <p:nvPr/>
        </p:nvSpPr>
        <p:spPr>
          <a:xfrm>
            <a:off x="762000" y="1524000"/>
            <a:ext cx="4953000" cy="508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1016000" y="17780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CORE CONCEPT</a:t>
            </a:r>
            <a:endParaRPr lang="en-US" sz="1100"/>
          </a:p>
        </p:txBody>
      </p:sp>
      <p:sp>
        <p:nvSpPr>
          <p:cNvPr id="6" name="AutoShape 6"/>
          <p:cNvSpPr/>
          <p:nvPr/>
        </p:nvSpPr>
        <p:spPr>
          <a:xfrm>
            <a:off x="1016000" y="2286000"/>
            <a:ext cx="44450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200" b="0" i="0" u="none" strike="noStrike">
                <a:solidFill>
                  <a:srgbClr val="555555"/>
                </a:solidFill>
                <a:latin typeface="Noto Sans SC"/>
                <a:ea typeface="Noto Sans SC"/>
                <a:cs typeface="Noto Sans SC"/>
                <a:sym typeface="Noto Sans SC"/>
              </a:rPr>
              <a:t>A</a:t>
            </a:r>
            <a:r>
              <a:rPr lang="en-US" sz="1200" b="1" i="0" u="none" strike="noStrike">
                <a:solidFill>
                  <a:srgbClr val="555555"/>
                </a:solidFill>
                <a:latin typeface="Noto Sans SC"/>
                <a:ea typeface="Noto Sans SC"/>
                <a:cs typeface="Noto Sans SC"/>
                <a:sym typeface="Noto Sans SC"/>
              </a:rPr>
              <a:t>Single-Agent</a:t>
            </a:r>
            <a:r>
              <a:rPr lang="en-US" sz="1200" b="0" i="0" u="none" strike="noStrike">
                <a:solidFill>
                  <a:srgbClr val="555555"/>
                </a:solidFill>
                <a:latin typeface="Noto Sans SC"/>
                <a:ea typeface="Noto Sans SC"/>
                <a:cs typeface="Noto Sans SC"/>
                <a:sym typeface="Noto Sans SC"/>
              </a:rPr>
              <a:t>handles the entire task workflow independently: from understanding the task, making decisions, invoking tools, to generating the final result. This is the most fundamental and straightforward architectural form in AI systems.</a:t>
            </a:r>
            <a:endParaRPr lang="en-US" sz="1100"/>
          </a:p>
        </p:txBody>
      </p:sp>
      <p:sp>
        <p:nvSpPr>
          <p:cNvPr id="7" name="AutoShape 7"/>
          <p:cNvSpPr/>
          <p:nvPr/>
        </p:nvSpPr>
        <p:spPr>
          <a:xfrm>
            <a:off x="762000" y="4064000"/>
            <a:ext cx="4953000" cy="1651000"/>
          </a:xfrm>
          <a:prstGeom prst="roundRect">
            <a:avLst>
              <a:gd name="adj" fmla="val 9230"/>
            </a:avLst>
          </a:prstGeom>
          <a:solidFill>
            <a:srgbClr val="FFF5F5">
              <a:alpha val="100000"/>
            </a:srgbClr>
          </a:solidFill>
          <a:ln w="12700" cap="flat" cmpd="sng">
            <a:solidFill>
              <a:srgbClr val="D40000">
                <a:alpha val="10000"/>
              </a:srgbClr>
            </a:solidFill>
            <a:prstDash val="solid"/>
            <a:round/>
          </a:ln>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4381500"/>
            <a:ext cx="609600" cy="609600"/>
          </a:xfrm>
          <a:prstGeom prst="rect">
            <a:avLst/>
          </a:prstGeom>
        </p:spPr>
      </p:pic>
      <p:sp>
        <p:nvSpPr>
          <p:cNvPr id="9" name="AutoShape 9"/>
          <p:cNvSpPr/>
          <p:nvPr/>
        </p:nvSpPr>
        <p:spPr>
          <a:xfrm>
            <a:off x="1841500" y="4318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500" b="1" i="0" u="none" strike="noStrike">
                <a:solidFill>
                  <a:srgbClr val="333333"/>
                </a:solidFill>
                <a:latin typeface="Poppins"/>
                <a:ea typeface="Poppins"/>
                <a:cs typeface="Poppins"/>
                <a:sym typeface="Poppins"/>
              </a:rPr>
              <a:t>Key Characteristics</a:t>
            </a:r>
            <a:endParaRPr lang="en-US" sz="1100"/>
          </a:p>
        </p:txBody>
      </p:sp>
      <p:sp>
        <p:nvSpPr>
          <p:cNvPr id="10" name="AutoShape 10"/>
          <p:cNvSpPr/>
          <p:nvPr/>
        </p:nvSpPr>
        <p:spPr>
          <a:xfrm>
            <a:off x="1841500" y="4826000"/>
            <a:ext cx="3683000" cy="762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200" b="0" i="0" u="none" strike="noStrike">
                <a:solidFill>
                  <a:srgbClr val="666666"/>
                </a:solidFill>
                <a:latin typeface="Noto Sans SC"/>
                <a:ea typeface="Noto Sans SC"/>
                <a:cs typeface="Noto Sans SC"/>
                <a:sym typeface="Noto Sans SC"/>
              </a:rPr>
              <a:t>• Full end-to-end workflow management</a:t>
            </a:r>
            <a:br>
              <a:rPr lang="en-US" sz="1200" b="0" i="0" u="none" strike="noStrike">
                <a:solidFill>
                  <a:srgbClr val="666666"/>
                </a:solidFill>
                <a:latin typeface="Noto Sans SC"/>
                <a:ea typeface="Noto Sans SC"/>
                <a:cs typeface="Noto Sans SC"/>
                <a:sym typeface="Noto Sans SC"/>
              </a:rPr>
            </a:br>
            <a:r>
              <a:rPr lang="en-US" sz="1200" b="0" i="0" u="none" strike="noStrike">
                <a:solidFill>
                  <a:srgbClr val="666666"/>
                </a:solidFill>
                <a:latin typeface="Noto Sans SC"/>
                <a:ea typeface="Noto Sans SC"/>
                <a:cs typeface="Noto Sans SC"/>
                <a:sym typeface="Noto Sans SC"/>
              </a:rPr>
              <a:t>• Self-sufficient decision making loop</a:t>
            </a:r>
            <a:br>
              <a:rPr lang="en-US" sz="1200" b="0" i="0" u="none" strike="noStrike">
                <a:solidFill>
                  <a:srgbClr val="666666"/>
                </a:solidFill>
                <a:latin typeface="Noto Sans SC"/>
                <a:ea typeface="Noto Sans SC"/>
                <a:cs typeface="Noto Sans SC"/>
                <a:sym typeface="Noto Sans SC"/>
              </a:rPr>
            </a:br>
            <a:r>
              <a:rPr lang="en-US" sz="1200" b="0" i="0" u="none" strike="noStrike">
                <a:solidFill>
                  <a:srgbClr val="666666"/>
                </a:solidFill>
                <a:latin typeface="Noto Sans SC"/>
                <a:ea typeface="Noto Sans SC"/>
                <a:cs typeface="Noto Sans SC"/>
                <a:sym typeface="Noto Sans SC"/>
              </a:rPr>
              <a:t>• Simplest form for AI orchestration</a:t>
            </a:r>
            <a:endParaRPr lang="en-US" sz="1100"/>
          </a:p>
        </p:txBody>
      </p:sp>
      <p:sp>
        <p:nvSpPr>
          <p:cNvPr id="11" name="AutoShape 11"/>
          <p:cNvSpPr/>
          <p:nvPr/>
        </p:nvSpPr>
        <p:spPr>
          <a:xfrm>
            <a:off x="5969000" y="1524000"/>
            <a:ext cx="5207000" cy="4572000"/>
          </a:xfrm>
          <a:prstGeom prst="roundRect">
            <a:avLst>
              <a:gd name="adj" fmla="val 4444"/>
            </a:avLst>
          </a:prstGeom>
          <a:solidFill>
            <a:srgbClr val="F9F9F9">
              <a:alpha val="100000"/>
            </a:srgbClr>
          </a:solidFill>
          <a:ln w="25400" cap="flat" cmpd="sng">
            <a:noFill/>
            <a:prstDash val="solid"/>
            <a:round/>
          </a:ln>
          <a:effectLst>
            <a:outerShdw blurRad="152400" dist="50800" dir="2700000" algn="tl" rotWithShape="0">
              <a:srgbClr val="000000">
                <a:alpha val="6000"/>
              </a:srgbClr>
            </a:outerShdw>
          </a:effectLst>
        </p:spPr>
        <p:txBody>
          <a:bodyPr vert="horz" wrap="square" lIns="63500" tIns="63500" rIns="63500" bIns="63500" rtlCol="0" anchor="ctr"/>
          <a:lstStyle/>
          <a:p>
            <a:pPr algn="ctr">
              <a:defRPr/>
            </a:pPr>
          </a:p>
        </p:txBody>
      </p:sp>
      <p:sp>
        <p:nvSpPr>
          <p:cNvPr id="12" name="AutoShape 12"/>
          <p:cNvSpPr/>
          <p:nvPr/>
        </p:nvSpPr>
        <p:spPr>
          <a:xfrm>
            <a:off x="6223000" y="1778000"/>
            <a:ext cx="4699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333333"/>
                </a:solidFill>
                <a:latin typeface="Indie Flower"/>
                <a:ea typeface="Indie Flower"/>
                <a:cs typeface="Indie Flower"/>
                <a:sym typeface="Indie Flower"/>
              </a:rPr>
              <a:t>Single-Agent Workflow</a:t>
            </a:r>
            <a:endParaRPr lang="en-US" sz="1100"/>
          </a:p>
        </p:txBody>
      </p:sp>
      <p:sp>
        <p:nvSpPr>
          <p:cNvPr id="13" name="AutoShape 13"/>
          <p:cNvSpPr/>
          <p:nvPr/>
        </p:nvSpPr>
        <p:spPr>
          <a:xfrm>
            <a:off x="6604000" y="2413000"/>
            <a:ext cx="3810000" cy="762000"/>
          </a:xfrm>
          <a:prstGeom prst="ellipse">
            <a:avLst/>
          </a:prstGeom>
          <a:solidFill>
            <a:srgbClr val="FFFFFF">
              <a:alpha val="100000"/>
            </a:srgbClr>
          </a:solidFill>
          <a:ln w="25400" cap="flat" cmpd="sng">
            <a:solidFill>
              <a:srgbClr val="D40000">
                <a:alpha val="100000"/>
              </a:srgbClr>
            </a:solidFill>
            <a:prstDash val="dash"/>
            <a:round/>
          </a:ln>
        </p:spPr>
        <p:txBody>
          <a:bodyPr vert="horz" wrap="square" lIns="0" tIns="0" rIns="0" bIns="0" rtlCol="0" anchor="ctr" anchorCtr="0"/>
          <a:lstStyle/>
          <a:p>
            <a:pPr indent="0" algn="ctr">
              <a:lnSpc>
                <a:spcPct val="125000"/>
              </a:lnSpc>
              <a:defRPr/>
            </a:pPr>
            <a:r>
              <a:rPr lang="en-US" sz="1400" b="0" i="0" u="none" strike="noStrike">
                <a:solidFill>
                  <a:srgbClr val="D40000"/>
                </a:solidFill>
                <a:latin typeface="Indie Flower"/>
                <a:ea typeface="Indie Flower"/>
                <a:cs typeface="Indie Flower"/>
                <a:sym typeface="Indie Flower"/>
              </a:rPr>
              <a:t>Task Input</a:t>
            </a:r>
            <a:endParaRPr lang="en-US" sz="1100"/>
          </a:p>
        </p:txBody>
      </p:sp>
      <p:sp>
        <p:nvSpPr>
          <p:cNvPr id="14" name="AutoShape 14"/>
          <p:cNvSpPr/>
          <p:nvPr/>
        </p:nvSpPr>
        <p:spPr>
          <a:xfrm>
            <a:off x="8255000" y="3175000"/>
            <a:ext cx="508000" cy="381000"/>
          </a:xfrm>
          <a:prstGeom prst="downArrow">
            <a:avLst/>
          </a:prstGeom>
          <a:solidFill>
            <a:srgbClr val="D40000">
              <a:alpha val="60000"/>
            </a:srgbClr>
          </a:solidFill>
          <a:ln w="12700" cap="flat" cmpd="sng">
            <a:solidFill>
              <a:srgbClr val="D40000">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6477000" y="3683000"/>
            <a:ext cx="4064000" cy="1524000"/>
          </a:xfrm>
          <a:prstGeom prst="roundRect">
            <a:avLst>
              <a:gd name="adj" fmla="val 0"/>
            </a:avLst>
          </a:prstGeom>
          <a:solidFill>
            <a:srgbClr val="FFF5F5">
              <a:alpha val="100000"/>
            </a:srgbClr>
          </a:solidFill>
          <a:ln w="25400" cap="flat" cmpd="sng">
            <a:solidFill>
              <a:srgbClr val="D40000">
                <a:alpha val="100000"/>
              </a:srgbClr>
            </a:solidFill>
            <a:prstDash val="solid"/>
            <a:round/>
          </a:ln>
        </p:spPr>
        <p:txBody>
          <a:bodyPr vert="horz" wrap="square" lIns="0" tIns="0" rIns="0" bIns="0" rtlCol="0" anchor="ctr" anchorCtr="0"/>
          <a:lstStyle/>
          <a:p>
            <a:pPr indent="0" algn="ctr">
              <a:lnSpc>
                <a:spcPct val="125000"/>
              </a:lnSpc>
              <a:defRPr/>
            </a:pPr>
            <a:r>
              <a:rPr lang="en-US" sz="1600" b="1" i="0" u="none" strike="noStrike">
                <a:solidFill>
                  <a:srgbClr val="333333"/>
                </a:solidFill>
                <a:latin typeface="Indie Flower"/>
                <a:ea typeface="Indie Flower"/>
                <a:cs typeface="Indie Flower"/>
                <a:sym typeface="Indie Flower"/>
              </a:rPr>
              <a:t>Agent</a:t>
            </a:r>
            <a:endParaRPr lang="en-US" sz="1100"/>
          </a:p>
          <a:p>
            <a:pPr indent="0" algn="ctr">
              <a:lnSpc>
                <a:spcPct val="125000"/>
              </a:lnSpc>
            </a:pPr>
            <a:r>
              <a:rPr lang="en-US" sz="1200" b="0" i="0" u="none" strike="noStrike">
                <a:solidFill>
                  <a:srgbClr val="333333"/>
                </a:solidFill>
                <a:latin typeface="Indie Flower"/>
                <a:ea typeface="Indie Flower"/>
                <a:cs typeface="Indie Flower"/>
                <a:sym typeface="Indie Flower"/>
              </a:rPr>
              <a:t>(Understand → Plan → Execute)</a:t>
            </a:r>
            <a:endParaRPr lang="en-US" sz="1200" b="0" i="0" u="none" strike="noStrike">
              <a:solidFill>
                <a:srgbClr val="333333"/>
              </a:solidFill>
              <a:latin typeface="Indie Flower"/>
              <a:ea typeface="Indie Flower"/>
              <a:cs typeface="Indie Flower"/>
              <a:sym typeface="Indie Flower"/>
            </a:endParaRPr>
          </a:p>
        </p:txBody>
      </p:sp>
      <p:sp>
        <p:nvSpPr>
          <p:cNvPr id="16" name="AutoShape 16"/>
          <p:cNvSpPr/>
          <p:nvPr/>
        </p:nvSpPr>
        <p:spPr>
          <a:xfrm>
            <a:off x="8255000" y="5334000"/>
            <a:ext cx="508000" cy="381000"/>
          </a:xfrm>
          <a:prstGeom prst="downArrow">
            <a:avLst/>
          </a:prstGeom>
          <a:solidFill>
            <a:srgbClr val="D40000">
              <a:alpha val="60000"/>
            </a:srgbClr>
          </a:solidFill>
          <a:ln w="12700" cap="flat" cmpd="sng">
            <a:solidFill>
              <a:srgbClr val="D40000">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604000" y="5715000"/>
            <a:ext cx="3810000" cy="635000"/>
          </a:xfrm>
          <a:prstGeom prst="ellipse">
            <a:avLst/>
          </a:prstGeom>
          <a:solidFill>
            <a:srgbClr val="FFFFFF">
              <a:alpha val="100000"/>
            </a:srgbClr>
          </a:solidFill>
          <a:ln w="25400" cap="flat" cmpd="sng">
            <a:solidFill>
              <a:srgbClr val="D40000">
                <a:alpha val="100000"/>
              </a:srgbClr>
            </a:solidFill>
            <a:prstDash val="dash"/>
            <a:round/>
          </a:ln>
        </p:spPr>
        <p:txBody>
          <a:bodyPr vert="horz" wrap="square" lIns="0" tIns="0" rIns="0" bIns="0" rtlCol="0" anchor="ctr" anchorCtr="0"/>
          <a:lstStyle/>
          <a:p>
            <a:pPr indent="0" algn="ctr">
              <a:lnSpc>
                <a:spcPct val="125000"/>
              </a:lnSpc>
              <a:defRPr/>
            </a:pPr>
            <a:r>
              <a:rPr lang="en-US" sz="1400" b="0" i="0" u="none" strike="noStrike">
                <a:solidFill>
                  <a:srgbClr val="D40000"/>
                </a:solidFill>
                <a:latin typeface="Indie Flower"/>
                <a:ea typeface="Indie Flower"/>
                <a:cs typeface="Indie Flower"/>
                <a:sym typeface="Indie Flower"/>
              </a:rPr>
              <a:t>Task Output</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 Multi-Agent Architecture</a:t>
            </a:r>
            <a:endParaRPr lang="en-US" sz="1100"/>
          </a:p>
        </p:txBody>
      </p:sp>
      <p:sp>
        <p:nvSpPr>
          <p:cNvPr id="3" name="AutoShape 3"/>
          <p:cNvSpPr/>
          <p:nvPr/>
        </p:nvSpPr>
        <p:spPr>
          <a:xfrm>
            <a:off x="762000" y="1524000"/>
            <a:ext cx="4953000" cy="889000"/>
          </a:xfrm>
          <a:prstGeom prst="rect">
            <a:avLst/>
          </a:prstGeom>
          <a:noFill/>
          <a:ln w="12700" cap="flat" cmpd="sng">
            <a:noFill/>
            <a:prstDash val="solid"/>
            <a:round/>
          </a:ln>
        </p:spPr>
        <p:txBody>
          <a:bodyPr vert="horz" wrap="square" lIns="0" tIns="0" rIns="0" bIns="0" rtlCol="0" anchor="ctr" anchorCtr="0"/>
          <a:lstStyle/>
          <a:p>
            <a:pPr indent="0" algn="l">
              <a:lnSpc>
                <a:spcPct val="117000"/>
              </a:lnSpc>
              <a:defRPr/>
            </a:pPr>
            <a:r>
              <a:rPr lang="en-US" sz="1300" b="0" i="0" u="none" strike="noStrike">
                <a:solidFill>
                  <a:srgbClr val="666666"/>
                </a:solidFill>
                <a:latin typeface="Poppins"/>
                <a:ea typeface="Poppins"/>
                <a:cs typeface="Poppins"/>
                <a:sym typeface="Poppins"/>
              </a:rPr>
              <a:t>A Multi-Agent system mimics a high-performing human team, structured with one central orchestrator and multiple specialized executors to tackle complex, multi-faceted challenges.</a:t>
            </a:r>
            <a:endParaRPr lang="en-US" sz="1100"/>
          </a:p>
        </p:txBody>
      </p:sp>
      <p:sp>
        <p:nvSpPr>
          <p:cNvPr id="4" name="AutoShape 4"/>
          <p:cNvSpPr/>
          <p:nvPr/>
        </p:nvSpPr>
        <p:spPr>
          <a:xfrm>
            <a:off x="762000" y="2603500"/>
            <a:ext cx="4953000" cy="1460500"/>
          </a:xfrm>
          <a:prstGeom prst="roundRect">
            <a:avLst>
              <a:gd name="adj" fmla="val 10434"/>
            </a:avLst>
          </a:prstGeom>
          <a:solidFill>
            <a:srgbClr val="FDF2F2">
              <a:alpha val="100000"/>
            </a:srgbClr>
          </a:solidFill>
          <a:ln w="12700" cap="flat" cmpd="sng">
            <a:solidFill>
              <a:srgbClr val="D40000">
                <a:alpha val="1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2603500"/>
            <a:ext cx="76200" cy="14605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2921000"/>
            <a:ext cx="609600" cy="609600"/>
          </a:xfrm>
          <a:prstGeom prst="rect">
            <a:avLst/>
          </a:prstGeom>
        </p:spPr>
      </p:pic>
      <p:sp>
        <p:nvSpPr>
          <p:cNvPr id="7" name="AutoShape 7"/>
          <p:cNvSpPr/>
          <p:nvPr/>
        </p:nvSpPr>
        <p:spPr>
          <a:xfrm>
            <a:off x="1841500" y="2794000"/>
            <a:ext cx="355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Main Agent (The Coordinator)</a:t>
            </a:r>
            <a:endParaRPr lang="en-US" sz="1100"/>
          </a:p>
        </p:txBody>
      </p:sp>
      <p:sp>
        <p:nvSpPr>
          <p:cNvPr id="8" name="AutoShape 8"/>
          <p:cNvSpPr/>
          <p:nvPr/>
        </p:nvSpPr>
        <p:spPr>
          <a:xfrm>
            <a:off x="1841500" y="3238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Responsible for decomposing the main goal into sub-tasks, assigning work to the right specialists, and finally compiling all the outputs into a cohesive result.</a:t>
            </a:r>
            <a:endParaRPr lang="en-US" sz="1100"/>
          </a:p>
        </p:txBody>
      </p:sp>
      <p:sp>
        <p:nvSpPr>
          <p:cNvPr id="9" name="AutoShape 9"/>
          <p:cNvSpPr/>
          <p:nvPr/>
        </p:nvSpPr>
        <p:spPr>
          <a:xfrm>
            <a:off x="762000" y="4254500"/>
            <a:ext cx="4953000" cy="1460500"/>
          </a:xfrm>
          <a:prstGeom prst="roundRect">
            <a:avLst>
              <a:gd name="adj" fmla="val 10434"/>
            </a:avLst>
          </a:prstGeom>
          <a:solidFill>
            <a:srgbClr val="F9F9F9">
              <a:alpha val="100000"/>
            </a:srgbClr>
          </a:solidFill>
          <a:ln w="12700" cap="flat" cmpd="sng">
            <a:solidFill>
              <a:srgbClr val="DCDCDC">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762000" y="4254500"/>
            <a:ext cx="76200" cy="14605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4572000"/>
            <a:ext cx="609600" cy="609600"/>
          </a:xfrm>
          <a:prstGeom prst="rect">
            <a:avLst/>
          </a:prstGeom>
        </p:spPr>
      </p:pic>
      <p:sp>
        <p:nvSpPr>
          <p:cNvPr id="12" name="AutoShape 12"/>
          <p:cNvSpPr/>
          <p:nvPr/>
        </p:nvSpPr>
        <p:spPr>
          <a:xfrm>
            <a:off x="1841500" y="4445000"/>
            <a:ext cx="355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D40000"/>
                </a:solidFill>
                <a:latin typeface="Poppins"/>
                <a:ea typeface="Poppins"/>
                <a:cs typeface="Poppins"/>
                <a:sym typeface="Poppins"/>
              </a:rPr>
              <a:t>Specialized Sub-Agents</a:t>
            </a:r>
            <a:endParaRPr lang="en-US" sz="1100"/>
          </a:p>
        </p:txBody>
      </p:sp>
      <p:sp>
        <p:nvSpPr>
          <p:cNvPr id="13" name="AutoShape 13"/>
          <p:cNvSpPr/>
          <p:nvPr/>
        </p:nvSpPr>
        <p:spPr>
          <a:xfrm>
            <a:off x="1841500" y="4889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08000"/>
              </a:lnSpc>
              <a:defRPr/>
            </a:pPr>
            <a:r>
              <a:rPr lang="en-US" sz="1100" b="0" i="0" u="none" strike="noStrike">
                <a:solidFill>
                  <a:srgbClr val="555555"/>
                </a:solidFill>
                <a:latin typeface="Poppins"/>
                <a:ea typeface="Poppins"/>
                <a:cs typeface="Poppins"/>
                <a:sym typeface="Poppins"/>
              </a:rPr>
              <a:t>Domain experts (e.g., Research, Analysis) that execute their assigned micro-tasks independently and efficiently, then send their specific results back to the Main Agent.</a:t>
            </a:r>
            <a:endParaRPr lang="en-US" sz="1100"/>
          </a:p>
        </p:txBody>
      </p:sp>
      <p:sp>
        <p:nvSpPr>
          <p:cNvPr id="14" name="AutoShape 14"/>
          <p:cNvSpPr/>
          <p:nvPr/>
        </p:nvSpPr>
        <p:spPr>
          <a:xfrm>
            <a:off x="6096000" y="1397000"/>
            <a:ext cx="5080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333333"/>
                </a:solidFill>
                <a:latin typeface="Comic Sans Ms" panose="030F0902030302020204"/>
                <a:ea typeface="Comic Sans Ms" panose="030F0902030302020204"/>
                <a:cs typeface="Comic Sans Ms" panose="030F0902030302020204"/>
                <a:sym typeface="Comic Sans Ms" panose="030F0902030302020204"/>
              </a:rPr>
              <a:t>Multi-Agent Team</a:t>
            </a:r>
            <a:endParaRPr lang="en-US" sz="1100"/>
          </a:p>
        </p:txBody>
      </p:sp>
      <p:sp>
        <p:nvSpPr>
          <p:cNvPr id="15" name="AutoShape 15"/>
          <p:cNvSpPr/>
          <p:nvPr/>
        </p:nvSpPr>
        <p:spPr>
          <a:xfrm>
            <a:off x="6731000" y="2032000"/>
            <a:ext cx="3810000" cy="1016000"/>
          </a:xfrm>
          <a:prstGeom prst="roundRect">
            <a:avLst>
              <a:gd name="adj" fmla="val 15000"/>
            </a:avLst>
          </a:prstGeom>
          <a:solidFill>
            <a:srgbClr val="FFF8DC">
              <a:alpha val="100000"/>
            </a:srgbClr>
          </a:solidFill>
          <a:ln w="25400" cap="flat" cmpd="sng">
            <a:solidFill>
              <a:srgbClr val="D40000">
                <a:alpha val="100000"/>
              </a:srgbClr>
            </a:solidFill>
            <a:prstDash val="dash"/>
            <a:round/>
          </a:ln>
        </p:spPr>
        <p:txBody>
          <a:bodyPr vert="horz" wrap="square" lIns="0" tIns="0" rIns="0" bIns="0" rtlCol="0" anchor="ctr" anchorCtr="0"/>
          <a:lstStyle/>
          <a:p>
            <a:pPr indent="0" algn="ctr">
              <a:lnSpc>
                <a:spcPct val="125000"/>
              </a:lnSpc>
              <a:defRPr/>
            </a:pPr>
            <a:r>
              <a:rPr lang="en-US" sz="1400" b="1" i="0" u="none" strike="noStrike">
                <a:solidFill>
                  <a:srgbClr val="D40000"/>
                </a:solidFill>
                <a:latin typeface="Comic Sans Ms" panose="030F0902030302020204"/>
                <a:ea typeface="Comic Sans Ms" panose="030F0902030302020204"/>
                <a:cs typeface="Comic Sans Ms" panose="030F0902030302020204"/>
                <a:sym typeface="Comic Sans Ms" panose="030F0902030302020204"/>
              </a:rPr>
              <a:t>Main Agent (Coordinator)</a:t>
            </a:r>
            <a:endParaRPr lang="en-US" sz="1100"/>
          </a:p>
        </p:txBody>
      </p:sp>
      <p:sp>
        <p:nvSpPr>
          <p:cNvPr id="16" name="AutoShape 16"/>
          <p:cNvSpPr/>
          <p:nvPr/>
        </p:nvSpPr>
        <p:spPr>
          <a:xfrm>
            <a:off x="6096000" y="3556000"/>
            <a:ext cx="1651000" cy="1270000"/>
          </a:xfrm>
          <a:prstGeom prst="roundRect">
            <a:avLst>
              <a:gd name="adj" fmla="val 12000"/>
            </a:avLst>
          </a:prstGeom>
          <a:solidFill>
            <a:srgbClr val="F0F8FF">
              <a:alpha val="100000"/>
            </a:srgbClr>
          </a:solidFill>
          <a:ln w="25400" cap="flat" cmpd="sng">
            <a:solidFill>
              <a:srgbClr val="0066CC">
                <a:alpha val="100000"/>
              </a:srgbClr>
            </a:solidFill>
            <a:prstDash val="dash"/>
            <a:round/>
          </a:ln>
        </p:spPr>
        <p:txBody>
          <a:bodyPr vert="horz" wrap="square" lIns="0" tIns="0" rIns="0" bIns="0" rtlCol="0" anchor="ctr" anchorCtr="0"/>
          <a:lstStyle/>
          <a:p>
            <a:pPr indent="0" algn="ctr">
              <a:lnSpc>
                <a:spcPct val="125000"/>
              </a:lnSpc>
              <a:defRPr/>
            </a:pPr>
            <a:r>
              <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rPr>
              <a:t>Sub-Agent</a:t>
            </a:r>
            <a:endParaRPr lang="en-US" sz="1100"/>
          </a:p>
          <a:p>
            <a:pPr indent="0" algn="ctr">
              <a:lnSpc>
                <a:spcPct val="125000"/>
              </a:lnSpc>
            </a:pPr>
            <a:r>
              <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rPr>
              <a:t>(Research)</a:t>
            </a:r>
            <a:endPar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endParaRPr>
          </a:p>
        </p:txBody>
      </p:sp>
      <p:sp>
        <p:nvSpPr>
          <p:cNvPr id="17" name="AutoShape 17"/>
          <p:cNvSpPr/>
          <p:nvPr/>
        </p:nvSpPr>
        <p:spPr>
          <a:xfrm>
            <a:off x="8001000" y="3556000"/>
            <a:ext cx="1651000" cy="1270000"/>
          </a:xfrm>
          <a:prstGeom prst="roundRect">
            <a:avLst>
              <a:gd name="adj" fmla="val 12000"/>
            </a:avLst>
          </a:prstGeom>
          <a:solidFill>
            <a:srgbClr val="F0F8FF">
              <a:alpha val="100000"/>
            </a:srgbClr>
          </a:solidFill>
          <a:ln w="25400" cap="flat" cmpd="sng">
            <a:solidFill>
              <a:srgbClr val="0066CC">
                <a:alpha val="100000"/>
              </a:srgbClr>
            </a:solidFill>
            <a:prstDash val="dash"/>
            <a:round/>
          </a:ln>
        </p:spPr>
        <p:txBody>
          <a:bodyPr vert="horz" wrap="square" lIns="0" tIns="0" rIns="0" bIns="0" rtlCol="0" anchor="ctr" anchorCtr="0"/>
          <a:lstStyle/>
          <a:p>
            <a:pPr indent="0" algn="ctr">
              <a:lnSpc>
                <a:spcPct val="125000"/>
              </a:lnSpc>
              <a:defRPr/>
            </a:pPr>
            <a:r>
              <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rPr>
              <a:t>Sub-Agent</a:t>
            </a:r>
            <a:endParaRPr lang="en-US" sz="1100"/>
          </a:p>
          <a:p>
            <a:pPr indent="0" algn="ctr">
              <a:lnSpc>
                <a:spcPct val="125000"/>
              </a:lnSpc>
            </a:pPr>
            <a:r>
              <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rPr>
              <a:t>(Analysis)</a:t>
            </a:r>
            <a:endPar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endParaRPr>
          </a:p>
        </p:txBody>
      </p:sp>
      <p:sp>
        <p:nvSpPr>
          <p:cNvPr id="18" name="AutoShape 18"/>
          <p:cNvSpPr/>
          <p:nvPr/>
        </p:nvSpPr>
        <p:spPr>
          <a:xfrm>
            <a:off x="9906000" y="3556000"/>
            <a:ext cx="1651000" cy="1270000"/>
          </a:xfrm>
          <a:prstGeom prst="roundRect">
            <a:avLst>
              <a:gd name="adj" fmla="val 12000"/>
            </a:avLst>
          </a:prstGeom>
          <a:solidFill>
            <a:srgbClr val="F0F8FF">
              <a:alpha val="100000"/>
            </a:srgbClr>
          </a:solidFill>
          <a:ln w="25400" cap="flat" cmpd="sng">
            <a:solidFill>
              <a:srgbClr val="0066CC">
                <a:alpha val="100000"/>
              </a:srgbClr>
            </a:solidFill>
            <a:prstDash val="dash"/>
            <a:round/>
          </a:ln>
        </p:spPr>
        <p:txBody>
          <a:bodyPr vert="horz" wrap="square" lIns="0" tIns="0" rIns="0" bIns="0" rtlCol="0" anchor="ctr" anchorCtr="0"/>
          <a:lstStyle/>
          <a:p>
            <a:pPr indent="0" algn="ctr">
              <a:lnSpc>
                <a:spcPct val="125000"/>
              </a:lnSpc>
              <a:defRPr/>
            </a:pPr>
            <a:r>
              <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rPr>
              <a:t>Sub-Agent</a:t>
            </a:r>
            <a:endParaRPr lang="en-US" sz="1100"/>
          </a:p>
          <a:p>
            <a:pPr indent="0" algn="ctr">
              <a:lnSpc>
                <a:spcPct val="125000"/>
              </a:lnSpc>
            </a:pPr>
            <a:r>
              <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rPr>
              <a:t>(Reporting)</a:t>
            </a:r>
            <a:endParaRPr lang="en-US" sz="1200" b="1" i="0" u="none" strike="noStrike">
              <a:solidFill>
                <a:srgbClr val="0066CC"/>
              </a:solidFill>
              <a:latin typeface="Comic Sans Ms" panose="030F0902030302020204"/>
              <a:ea typeface="Comic Sans Ms" panose="030F0902030302020204"/>
              <a:cs typeface="Comic Sans Ms" panose="030F0902030302020204"/>
              <a:sym typeface="Comic Sans Ms" panose="030F0902030302020204"/>
            </a:endParaRPr>
          </a:p>
        </p:txBody>
      </p:sp>
      <p:sp>
        <p:nvSpPr>
          <p:cNvPr id="19" name="AutoShape 19"/>
          <p:cNvSpPr/>
          <p:nvPr/>
        </p:nvSpPr>
        <p:spPr>
          <a:xfrm>
            <a:off x="6540500" y="3048000"/>
            <a:ext cx="762000" cy="254000"/>
          </a:xfrm>
          <a:prstGeom prst="downArrow">
            <a:avLst/>
          </a:prstGeom>
          <a:solidFill>
            <a:srgbClr val="D40000">
              <a:alpha val="6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900" b="0"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Task</a:t>
            </a:r>
            <a:endParaRPr lang="en-US" sz="1100"/>
          </a:p>
        </p:txBody>
      </p:sp>
      <p:sp>
        <p:nvSpPr>
          <p:cNvPr id="20" name="AutoShape 20"/>
          <p:cNvSpPr/>
          <p:nvPr/>
        </p:nvSpPr>
        <p:spPr>
          <a:xfrm>
            <a:off x="8445500" y="3048000"/>
            <a:ext cx="762000" cy="254000"/>
          </a:xfrm>
          <a:prstGeom prst="downArrow">
            <a:avLst/>
          </a:prstGeom>
          <a:solidFill>
            <a:srgbClr val="D40000">
              <a:alpha val="6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900" b="0"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Task</a:t>
            </a:r>
            <a:endParaRPr lang="en-US" sz="1100"/>
          </a:p>
        </p:txBody>
      </p:sp>
      <p:sp>
        <p:nvSpPr>
          <p:cNvPr id="21" name="AutoShape 21"/>
          <p:cNvSpPr/>
          <p:nvPr/>
        </p:nvSpPr>
        <p:spPr>
          <a:xfrm>
            <a:off x="10350500" y="3048000"/>
            <a:ext cx="762000" cy="254000"/>
          </a:xfrm>
          <a:prstGeom prst="downArrow">
            <a:avLst/>
          </a:prstGeom>
          <a:solidFill>
            <a:srgbClr val="D40000">
              <a:alpha val="6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900" b="0"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Task</a:t>
            </a:r>
            <a:endParaRPr lang="en-US" sz="1100"/>
          </a:p>
        </p:txBody>
      </p:sp>
      <p:sp>
        <p:nvSpPr>
          <p:cNvPr id="22" name="AutoShape 22"/>
          <p:cNvSpPr/>
          <p:nvPr/>
        </p:nvSpPr>
        <p:spPr>
          <a:xfrm>
            <a:off x="6540500" y="4953000"/>
            <a:ext cx="762000" cy="254000"/>
          </a:xfrm>
          <a:prstGeom prst="upArrow">
            <a:avLst/>
          </a:prstGeom>
          <a:solidFill>
            <a:srgbClr val="0066CC">
              <a:alpha val="6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900" b="0"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Result</a:t>
            </a:r>
            <a:endParaRPr lang="en-US" sz="1100"/>
          </a:p>
        </p:txBody>
      </p:sp>
      <p:sp>
        <p:nvSpPr>
          <p:cNvPr id="23" name="AutoShape 23"/>
          <p:cNvSpPr/>
          <p:nvPr/>
        </p:nvSpPr>
        <p:spPr>
          <a:xfrm>
            <a:off x="8445500" y="4953000"/>
            <a:ext cx="762000" cy="254000"/>
          </a:xfrm>
          <a:prstGeom prst="upArrow">
            <a:avLst/>
          </a:prstGeom>
          <a:solidFill>
            <a:srgbClr val="0066CC">
              <a:alpha val="6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900" b="0"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Result</a:t>
            </a:r>
            <a:endParaRPr lang="en-US" sz="1100"/>
          </a:p>
        </p:txBody>
      </p:sp>
      <p:sp>
        <p:nvSpPr>
          <p:cNvPr id="24" name="AutoShape 24"/>
          <p:cNvSpPr/>
          <p:nvPr/>
        </p:nvSpPr>
        <p:spPr>
          <a:xfrm>
            <a:off x="10350500" y="4953000"/>
            <a:ext cx="762000" cy="254000"/>
          </a:xfrm>
          <a:prstGeom prst="upArrow">
            <a:avLst/>
          </a:prstGeom>
          <a:solidFill>
            <a:srgbClr val="0066CC">
              <a:alpha val="60000"/>
            </a:srgbClr>
          </a:solidFill>
          <a:ln w="25400" cap="flat" cmpd="sng">
            <a:noFill/>
            <a:prstDash val="solid"/>
            <a:round/>
          </a:ln>
        </p:spPr>
        <p:txBody>
          <a:bodyPr vert="horz" wrap="square" lIns="0" tIns="0" rIns="0" bIns="0" rtlCol="0" anchor="ctr" anchorCtr="0"/>
          <a:lstStyle/>
          <a:p>
            <a:pPr indent="0" algn="ctr">
              <a:lnSpc>
                <a:spcPct val="125000"/>
              </a:lnSpc>
              <a:defRPr/>
            </a:pPr>
            <a:r>
              <a:rPr lang="en-US" sz="900" b="0" i="0" u="none" strike="noStrike">
                <a:solidFill>
                  <a:srgbClr val="FFFFFF"/>
                </a:solidFill>
                <a:latin typeface="Comic Sans Ms" panose="030F0902030302020204"/>
                <a:ea typeface="Comic Sans Ms" panose="030F0902030302020204"/>
                <a:cs typeface="Comic Sans Ms" panose="030F0902030302020204"/>
                <a:sym typeface="Comic Sans Ms" panose="030F0902030302020204"/>
              </a:rPr>
              <a:t>Result</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127000"/>
            <a:ext cx="12192000" cy="68580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762000" y="635000"/>
            <a:ext cx="10668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333333"/>
                </a:solidFill>
                <a:latin typeface="Poppins"/>
                <a:ea typeface="Poppins"/>
                <a:cs typeface="Poppins"/>
                <a:sym typeface="Poppins"/>
              </a:rPr>
              <a:t>The Design Principle</a:t>
            </a:r>
            <a:endParaRPr lang="en-US" sz="1100"/>
          </a:p>
        </p:txBody>
      </p:sp>
      <p:sp>
        <p:nvSpPr>
          <p:cNvPr id="4" name="AutoShape 4"/>
          <p:cNvSpPr/>
          <p:nvPr/>
        </p:nvSpPr>
        <p:spPr>
          <a:xfrm>
            <a:off x="762000" y="1270000"/>
            <a:ext cx="10668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400" b="1" i="0" u="none" strike="noStrike">
                <a:solidFill>
                  <a:srgbClr val="D40000"/>
                </a:solidFill>
                <a:latin typeface="Poppins"/>
                <a:ea typeface="Poppins"/>
                <a:cs typeface="Poppins"/>
                <a:sym typeface="Poppins"/>
              </a:rPr>
              <a:t>Keep It Simple</a:t>
            </a:r>
            <a:endParaRPr lang="en-US" sz="1100"/>
          </a:p>
        </p:txBody>
      </p:sp>
      <p:sp>
        <p:nvSpPr>
          <p:cNvPr id="5" name="AutoShape 5"/>
          <p:cNvSpPr/>
          <p:nvPr/>
        </p:nvSpPr>
        <p:spPr>
          <a:xfrm>
            <a:off x="762000" y="2032000"/>
            <a:ext cx="5588000" cy="1079500"/>
          </a:xfrm>
          <a:prstGeom prst="roundRect">
            <a:avLst>
              <a:gd name="adj" fmla="val 11764"/>
            </a:avLst>
          </a:prstGeom>
          <a:solidFill>
            <a:srgbClr val="FFFFFF">
              <a:alpha val="92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6" name="AutoShape 6"/>
          <p:cNvSpPr/>
          <p:nvPr/>
        </p:nvSpPr>
        <p:spPr>
          <a:xfrm>
            <a:off x="762000" y="2184400"/>
            <a:ext cx="76200" cy="774700"/>
          </a:xfrm>
          <a:prstGeom prst="roundRect">
            <a:avLst>
              <a:gd name="adj" fmla="val 5000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7" name="AutoShape 7"/>
          <p:cNvSpPr/>
          <p:nvPr/>
        </p:nvSpPr>
        <p:spPr>
          <a:xfrm>
            <a:off x="1041400" y="2311400"/>
            <a:ext cx="558800" cy="558800"/>
          </a:xfrm>
          <a:prstGeom prst="ellipse">
            <a:avLst/>
          </a:prstGeom>
          <a:solidFill>
            <a:srgbClr val="D40000">
              <a:alpha val="10000"/>
            </a:srgbClr>
          </a:solidFill>
          <a:ln w="25400" cap="flat" cmpd="sng">
            <a:noFill/>
            <a:prstDash val="solid"/>
            <a:round/>
          </a:ln>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168400" y="2438400"/>
            <a:ext cx="304800" cy="304800"/>
          </a:xfrm>
          <a:prstGeom prst="rect">
            <a:avLst/>
          </a:prstGeom>
        </p:spPr>
      </p:pic>
      <p:sp>
        <p:nvSpPr>
          <p:cNvPr id="9" name="AutoShape 9"/>
          <p:cNvSpPr/>
          <p:nvPr/>
        </p:nvSpPr>
        <p:spPr>
          <a:xfrm>
            <a:off x="1778000" y="2159000"/>
            <a:ext cx="4318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Poppins"/>
                <a:ea typeface="Poppins"/>
                <a:cs typeface="Poppins"/>
                <a:sym typeface="Poppins"/>
              </a:rPr>
              <a:t>1. Use a prompt if it can solve the problem</a:t>
            </a:r>
            <a:endParaRPr lang="en-US" sz="1100"/>
          </a:p>
        </p:txBody>
      </p:sp>
      <p:sp>
        <p:nvSpPr>
          <p:cNvPr id="10" name="AutoShape 10"/>
          <p:cNvSpPr/>
          <p:nvPr/>
        </p:nvSpPr>
        <p:spPr>
          <a:xfrm>
            <a:off x="1778000" y="26670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555555"/>
                </a:solidFill>
                <a:latin typeface="Poppins"/>
                <a:ea typeface="Poppins"/>
                <a:cs typeface="Poppins"/>
                <a:sym typeface="Poppins"/>
              </a:rPr>
              <a:t>Start with a well-crafted prompt to a large language model for the most straightforward tasks.</a:t>
            </a:r>
            <a:endParaRPr lang="en-US" sz="1100"/>
          </a:p>
        </p:txBody>
      </p:sp>
      <p:sp>
        <p:nvSpPr>
          <p:cNvPr id="11" name="AutoShape 11"/>
          <p:cNvSpPr/>
          <p:nvPr/>
        </p:nvSpPr>
        <p:spPr>
          <a:xfrm>
            <a:off x="762000" y="3302000"/>
            <a:ext cx="5588000" cy="1079500"/>
          </a:xfrm>
          <a:prstGeom prst="roundRect">
            <a:avLst>
              <a:gd name="adj" fmla="val 11764"/>
            </a:avLst>
          </a:prstGeom>
          <a:solidFill>
            <a:srgbClr val="FFFFFF">
              <a:alpha val="92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2" name="AutoShape 12"/>
          <p:cNvSpPr/>
          <p:nvPr/>
        </p:nvSpPr>
        <p:spPr>
          <a:xfrm>
            <a:off x="762000" y="3454400"/>
            <a:ext cx="76200" cy="774700"/>
          </a:xfrm>
          <a:prstGeom prst="roundRect">
            <a:avLst>
              <a:gd name="adj" fmla="val 5000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1041400" y="3581400"/>
            <a:ext cx="558800" cy="558800"/>
          </a:xfrm>
          <a:prstGeom prst="ellipse">
            <a:avLst/>
          </a:prstGeom>
          <a:solidFill>
            <a:srgbClr val="D40000">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168400" y="3708400"/>
            <a:ext cx="304800" cy="304800"/>
          </a:xfrm>
          <a:prstGeom prst="rect">
            <a:avLst/>
          </a:prstGeom>
        </p:spPr>
      </p:pic>
      <p:sp>
        <p:nvSpPr>
          <p:cNvPr id="15" name="AutoShape 15"/>
          <p:cNvSpPr/>
          <p:nvPr/>
        </p:nvSpPr>
        <p:spPr>
          <a:xfrm>
            <a:off x="1778000" y="3429000"/>
            <a:ext cx="4318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Poppins"/>
                <a:ea typeface="Poppins"/>
                <a:cs typeface="Poppins"/>
                <a:sym typeface="Poppins"/>
              </a:rPr>
              <a:t>2. Use an automated workflow for fixed steps</a:t>
            </a:r>
            <a:endParaRPr lang="en-US" sz="1100"/>
          </a:p>
        </p:txBody>
      </p:sp>
      <p:sp>
        <p:nvSpPr>
          <p:cNvPr id="16" name="AutoShape 16"/>
          <p:cNvSpPr/>
          <p:nvPr/>
        </p:nvSpPr>
        <p:spPr>
          <a:xfrm>
            <a:off x="1778000" y="38354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555555"/>
                </a:solidFill>
                <a:latin typeface="Poppins"/>
                <a:ea typeface="Poppins"/>
                <a:cs typeface="Poppins"/>
                <a:sym typeface="Poppins"/>
              </a:rPr>
              <a:t>For tasks requiring a predictable sequence of operations, a workflow is more efficient and reliable.</a:t>
            </a:r>
            <a:endParaRPr lang="en-US" sz="1100"/>
          </a:p>
        </p:txBody>
      </p:sp>
      <p:sp>
        <p:nvSpPr>
          <p:cNvPr id="17" name="AutoShape 17"/>
          <p:cNvSpPr/>
          <p:nvPr/>
        </p:nvSpPr>
        <p:spPr>
          <a:xfrm>
            <a:off x="762000" y="4572000"/>
            <a:ext cx="5588000" cy="1079500"/>
          </a:xfrm>
          <a:prstGeom prst="roundRect">
            <a:avLst>
              <a:gd name="adj" fmla="val 11764"/>
            </a:avLst>
          </a:prstGeom>
          <a:solidFill>
            <a:srgbClr val="FFFFFF">
              <a:alpha val="92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18" name="AutoShape 18"/>
          <p:cNvSpPr/>
          <p:nvPr/>
        </p:nvSpPr>
        <p:spPr>
          <a:xfrm>
            <a:off x="762000" y="4724400"/>
            <a:ext cx="76200" cy="774700"/>
          </a:xfrm>
          <a:prstGeom prst="roundRect">
            <a:avLst>
              <a:gd name="adj" fmla="val 5000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1041400" y="4851400"/>
            <a:ext cx="558800" cy="558800"/>
          </a:xfrm>
          <a:prstGeom prst="ellipse">
            <a:avLst/>
          </a:prstGeom>
          <a:solidFill>
            <a:srgbClr val="D40000">
              <a:alpha val="10000"/>
            </a:srgbClr>
          </a:solidFill>
          <a:ln w="25400" cap="flat" cmpd="sng">
            <a:noFill/>
            <a:prstDash val="solid"/>
            <a:round/>
          </a:ln>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168400" y="4978400"/>
            <a:ext cx="304800" cy="304800"/>
          </a:xfrm>
          <a:prstGeom prst="rect">
            <a:avLst/>
          </a:prstGeom>
        </p:spPr>
      </p:pic>
      <p:sp>
        <p:nvSpPr>
          <p:cNvPr id="21" name="AutoShape 21"/>
          <p:cNvSpPr/>
          <p:nvPr/>
        </p:nvSpPr>
        <p:spPr>
          <a:xfrm>
            <a:off x="1778000" y="4699000"/>
            <a:ext cx="4318000" cy="3302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333333"/>
                </a:solidFill>
                <a:latin typeface="Poppins"/>
                <a:ea typeface="Poppins"/>
                <a:cs typeface="Poppins"/>
                <a:sym typeface="Poppins"/>
              </a:rPr>
              <a:t>3. Use a single Agent for autonomous tasks</a:t>
            </a:r>
            <a:endParaRPr lang="en-US" sz="1100"/>
          </a:p>
        </p:txBody>
      </p:sp>
      <p:sp>
        <p:nvSpPr>
          <p:cNvPr id="22" name="AutoShape 22"/>
          <p:cNvSpPr/>
          <p:nvPr/>
        </p:nvSpPr>
        <p:spPr>
          <a:xfrm>
            <a:off x="1778000" y="5105400"/>
            <a:ext cx="4318000" cy="508000"/>
          </a:xfrm>
          <a:prstGeom prst="rect">
            <a:avLst/>
          </a:prstGeom>
          <a:noFill/>
          <a:ln w="12700" cap="flat" cmpd="sng">
            <a:noFill/>
            <a:prstDash val="solid"/>
            <a:round/>
          </a:ln>
        </p:spPr>
        <p:txBody>
          <a:bodyPr vert="horz" wrap="square" lIns="0" tIns="0" rIns="0" bIns="0" rtlCol="0" anchor="ctr" anchorCtr="0"/>
          <a:lstStyle/>
          <a:p>
            <a:pPr indent="0" algn="l">
              <a:lnSpc>
                <a:spcPct val="100000"/>
              </a:lnSpc>
              <a:defRPr/>
            </a:pPr>
            <a:r>
              <a:rPr lang="en-US" sz="1100" b="0" i="0" u="none" strike="noStrike">
                <a:solidFill>
                  <a:srgbClr val="555555"/>
                </a:solidFill>
                <a:latin typeface="Poppins"/>
                <a:ea typeface="Poppins"/>
                <a:cs typeface="Poppins"/>
                <a:sym typeface="Poppins"/>
              </a:rPr>
              <a:t>Reserve the complexity of a full Agent for problems that demand true adaptability and independent action.</a:t>
            </a:r>
            <a:endParaRPr lang="en-US" sz="1100"/>
          </a:p>
        </p:txBody>
      </p:sp>
      <p:sp>
        <p:nvSpPr>
          <p:cNvPr id="23" name="AutoShape 23"/>
          <p:cNvSpPr/>
          <p:nvPr/>
        </p:nvSpPr>
        <p:spPr>
          <a:xfrm>
            <a:off x="762000" y="5842000"/>
            <a:ext cx="5588000" cy="889000"/>
          </a:xfrm>
          <a:prstGeom prst="roundRect">
            <a:avLst>
              <a:gd name="adj" fmla="val 14285"/>
            </a:avLst>
          </a:prstGeom>
          <a:solidFill>
            <a:srgbClr val="FFFFFF">
              <a:alpha val="92000"/>
            </a:srgbClr>
          </a:solidFill>
          <a:ln w="25400" cap="flat" cmpd="sng">
            <a:noFill/>
            <a:prstDash val="solid"/>
            <a:round/>
          </a:ln>
          <a:effectLst>
            <a:outerShdw blurRad="152400" dist="50800" dir="2700000" algn="tl" rotWithShape="0">
              <a:srgbClr val="000000">
                <a:alpha val="8000"/>
              </a:srgbClr>
            </a:outerShdw>
          </a:effectLst>
        </p:spPr>
        <p:txBody>
          <a:bodyPr vert="horz" wrap="square" lIns="63500" tIns="63500" rIns="63500" bIns="63500" rtlCol="0" anchor="ctr"/>
          <a:lstStyle/>
          <a:p>
            <a:pPr algn="ctr">
              <a:defRPr/>
            </a:pPr>
          </a:p>
        </p:txBody>
      </p:sp>
      <p:sp>
        <p:nvSpPr>
          <p:cNvPr id="24" name="AutoShape 24"/>
          <p:cNvSpPr/>
          <p:nvPr/>
        </p:nvSpPr>
        <p:spPr>
          <a:xfrm>
            <a:off x="762000" y="5969000"/>
            <a:ext cx="76200" cy="635000"/>
          </a:xfrm>
          <a:prstGeom prst="roundRect">
            <a:avLst>
              <a:gd name="adj" fmla="val 5000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1041400" y="5969000"/>
            <a:ext cx="558800" cy="558800"/>
          </a:xfrm>
          <a:prstGeom prst="ellipse">
            <a:avLst/>
          </a:prstGeom>
          <a:solidFill>
            <a:srgbClr val="D40000">
              <a:alpha val="10000"/>
            </a:srgbClr>
          </a:solidFill>
          <a:ln w="25400" cap="flat" cmpd="sng">
            <a:noFill/>
            <a:prstDash val="solid"/>
            <a:round/>
          </a:ln>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1168400" y="6096000"/>
            <a:ext cx="304800" cy="304800"/>
          </a:xfrm>
          <a:prstGeom prst="rect">
            <a:avLst/>
          </a:prstGeom>
        </p:spPr>
      </p:pic>
      <p:sp>
        <p:nvSpPr>
          <p:cNvPr id="27" name="AutoShape 27"/>
          <p:cNvSpPr/>
          <p:nvPr/>
        </p:nvSpPr>
        <p:spPr>
          <a:xfrm>
            <a:off x="1778000" y="5905500"/>
            <a:ext cx="4318000" cy="635000"/>
          </a:xfrm>
          <a:prstGeom prst="rect">
            <a:avLst/>
          </a:prstGeom>
          <a:noFill/>
          <a:ln w="12700" cap="flat" cmpd="sng">
            <a:noFill/>
            <a:prstDash val="solid"/>
            <a:round/>
          </a:ln>
        </p:spPr>
        <p:txBody>
          <a:bodyPr vert="horz" wrap="square" lIns="0" tIns="0" rIns="0" bIns="0" rtlCol="0" anchor="ctr" anchorCtr="0"/>
          <a:lstStyle/>
          <a:p>
            <a:pPr indent="0" algn="l">
              <a:lnSpc>
                <a:spcPct val="92000"/>
              </a:lnSpc>
              <a:defRPr/>
            </a:pPr>
            <a:r>
              <a:rPr lang="en-US" sz="1300" b="1" i="0" u="none" strike="noStrike">
                <a:solidFill>
                  <a:srgbClr val="333333"/>
                </a:solidFill>
                <a:latin typeface="Poppins"/>
                <a:ea typeface="Poppins"/>
                <a:cs typeface="Poppins"/>
                <a:sym typeface="Poppins"/>
              </a:rPr>
              <a:t>4. Multi-Agent system only for high complexity</a:t>
            </a:r>
            <a:br>
              <a:rPr lang="en-US" sz="1600" b="0" i="0" u="none" strike="noStrike">
                <a:solidFill>
                  <a:srgbClr val="1F2329"/>
                </a:solidFill>
                <a:latin typeface="Poppins"/>
                <a:ea typeface="Poppins"/>
                <a:cs typeface="Poppins"/>
                <a:sym typeface="Poppins"/>
              </a:rPr>
            </a:br>
            <a:r>
              <a:rPr lang="en-US" sz="1000" b="0" i="0" u="none" strike="noStrike">
                <a:solidFill>
                  <a:srgbClr val="555555"/>
                </a:solidFill>
                <a:latin typeface="Poppins"/>
                <a:ea typeface="Poppins"/>
                <a:cs typeface="Poppins"/>
                <a:sym typeface="Poppins"/>
              </a:rPr>
              <a:t>Deploy a team of agents only when no single agent can handle the complexity.</a:t>
            </a:r>
            <a:endParaRPr lang="en-US" sz="1100"/>
          </a:p>
        </p:txBody>
      </p:sp>
      <p:pic>
        <p:nvPicPr>
          <p:cNvPr id="31" name="Picture 30"/>
          <p:cNvPicPr>
            <a:picLocks noChangeAspect="1"/>
          </p:cNvPicPr>
          <p:nvPr/>
        </p:nvPicPr>
        <p:blipFill>
          <a:blip r:embed="rId10"/>
          <a:stretch>
            <a:fillRect/>
          </a:stretch>
        </p:blipFill>
        <p:spPr>
          <a:xfrm>
            <a:off x="6448425" y="2032000"/>
            <a:ext cx="5702935" cy="469836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2032000"/>
            <a:ext cx="12192000" cy="889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4800" b="1" i="0" u="none" strike="noStrike">
                <a:solidFill>
                  <a:srgbClr val="333333"/>
                </a:solidFill>
                <a:latin typeface="Poppins"/>
                <a:ea typeface="Poppins"/>
                <a:cs typeface="Poppins"/>
                <a:sym typeface="Poppins"/>
              </a:rPr>
              <a:t>Thank You</a:t>
            </a:r>
            <a:endParaRPr lang="en-US" sz="1100"/>
          </a:p>
        </p:txBody>
      </p:sp>
      <p:sp>
        <p:nvSpPr>
          <p:cNvPr id="3" name="AutoShape 3"/>
          <p:cNvSpPr/>
          <p:nvPr/>
        </p:nvSpPr>
        <p:spPr>
          <a:xfrm>
            <a:off x="0" y="3175000"/>
            <a:ext cx="12192000" cy="165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9600" b="1" i="0" u="none" strike="noStrike">
                <a:solidFill>
                  <a:srgbClr val="D40000"/>
                </a:solidFill>
                <a:latin typeface="Poppins"/>
                <a:ea typeface="Poppins"/>
                <a:cs typeface="Poppins"/>
                <a:sym typeface="Poppins"/>
              </a:rPr>
              <a:t>Q&amp;A</a:t>
            </a:r>
            <a:endParaRPr lang="en-US" sz="1100"/>
          </a:p>
        </p:txBody>
      </p:sp>
      <p:sp>
        <p:nvSpPr>
          <p:cNvPr id="4" name="AutoShape 4"/>
          <p:cNvSpPr/>
          <p:nvPr/>
        </p:nvSpPr>
        <p:spPr>
          <a:xfrm>
            <a:off x="0" y="5080000"/>
            <a:ext cx="12192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0" i="0" u="none" strike="noStrike" spc="200">
                <a:solidFill>
                  <a:srgbClr val="999999"/>
                </a:solidFill>
                <a:latin typeface="Poppins"/>
                <a:ea typeface="Poppins"/>
                <a:cs typeface="Poppins"/>
                <a:sym typeface="Poppins"/>
              </a:rPr>
              <a:t>LET'S DISCUSS</a:t>
            </a:r>
            <a:endParaRPr lang="en-US" sz="1100"/>
          </a:p>
        </p:txBody>
      </p:sp>
      <p:sp>
        <p:nvSpPr>
          <p:cNvPr id="5" name="AutoShape 5"/>
          <p:cNvSpPr/>
          <p:nvPr/>
        </p:nvSpPr>
        <p:spPr>
          <a:xfrm>
            <a:off x="5588000" y="5842000"/>
            <a:ext cx="1016000" cy="50800"/>
          </a:xfrm>
          <a:prstGeom prst="roundRect">
            <a:avLst>
              <a:gd name="adj" fmla="val 0"/>
            </a:avLst>
          </a:prstGeom>
          <a:solidFill>
            <a:srgbClr val="D40000">
              <a:alpha val="100000"/>
            </a:srgbClr>
          </a:solidFill>
          <a:ln w="25400" cap="flat" cmpd="sng">
            <a:noFill/>
            <a:prstDash val="solid"/>
            <a:round/>
          </a:ln>
        </p:spPr>
        <p:txBody>
          <a:bodyPr vert="horz" wrap="square" lIns="63500" tIns="63500" rIns="63500" bIns="63500" rtlCol="0" anchor="ctr"/>
          <a:lstStyle/>
          <a:p>
            <a:pPr algn="ctr">
              <a:defRPr/>
            </a:pPr>
          </a:p>
        </p:txBody>
      </p:sp>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6389</Words>
  <Application>WPS Presentation</Application>
  <PresentationFormat/>
  <Paragraphs>304</Paragraphs>
  <Slides>13</Slides>
  <Notes>0</Notes>
  <HiddenSlides>0</HiddenSlides>
  <MMClips>0</MMClips>
  <ScaleCrop>false</ScaleCrop>
  <HeadingPairs>
    <vt:vector size="6" baseType="variant">
      <vt:variant>
        <vt:lpstr>已用的字体</vt:lpstr>
      </vt:variant>
      <vt:variant>
        <vt:i4>20</vt:i4>
      </vt:variant>
      <vt:variant>
        <vt:lpstr>主题</vt:lpstr>
      </vt:variant>
      <vt:variant>
        <vt:i4>2</vt:i4>
      </vt:variant>
      <vt:variant>
        <vt:lpstr>幻灯片标题</vt:lpstr>
      </vt:variant>
      <vt:variant>
        <vt:i4>13</vt:i4>
      </vt:variant>
    </vt:vector>
  </HeadingPairs>
  <TitlesOfParts>
    <vt:vector size="35" baseType="lpstr">
      <vt:lpstr>Arial</vt:lpstr>
      <vt:lpstr>SimSun</vt:lpstr>
      <vt:lpstr>Wingdings</vt:lpstr>
      <vt:lpstr>Arial</vt:lpstr>
      <vt:lpstr>Poppins</vt:lpstr>
      <vt:lpstr>Thonburi</vt:lpstr>
      <vt:lpstr>Noto Sans SC</vt:lpstr>
      <vt:lpstr>Comic Sans Ms</vt:lpstr>
      <vt:lpstr>Indie Flower</vt:lpstr>
      <vt:lpstr>Microsoft YaHei</vt:lpstr>
      <vt:lpstr>汉仪旗黑</vt:lpstr>
      <vt:lpstr>Arial Unicode MS</vt:lpstr>
      <vt:lpstr>Comic Sans Ms</vt:lpstr>
      <vt:lpstr>Indie Flower</vt:lpstr>
      <vt:lpstr>Noto Sans SC</vt:lpstr>
      <vt:lpstr>Poppins</vt:lpstr>
      <vt:lpstr>汉仪书宋二KW</vt:lpstr>
      <vt:lpstr>苹方-简</vt:lpstr>
      <vt:lpstr>Apple Color Emoji</vt:lpstr>
      <vt:lpstr>SimSun</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Thomas</cp:lastModifiedBy>
  <cp:revision>3</cp:revision>
  <dcterms:created xsi:type="dcterms:W3CDTF">2026-04-23T16:22:33Z</dcterms:created>
  <dcterms:modified xsi:type="dcterms:W3CDTF">2026-04-23T16:22:33Z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1033-12.1.25869.25869</vt:lpwstr>
  </property>
  <property fmtid="{D5CDD505-2E9C-101B-9397-08002B2CF9AE}" pid="3" name="ICV">
    <vt:lpwstr>60F289064FCC274EF341EA69BD7DCEDD_42</vt:lpwstr>
  </property>
</Properties>
</file>