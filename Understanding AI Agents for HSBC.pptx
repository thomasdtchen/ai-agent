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8.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65" r:id="rId4"/>
    <p:sldId id="266" r:id="rId6"/>
    <p:sldId id="276" r:id="rId7"/>
    <p:sldId id="277" r:id="rId8"/>
    <p:sldId id="257" r:id="rId9"/>
    <p:sldId id="258" r:id="rId10"/>
    <p:sldId id="259" r:id="rId11"/>
    <p:sldId id="260" r:id="rId12"/>
    <p:sldId id="278" r:id="rId13"/>
    <p:sldId id="279" r:id="rId14"/>
    <p:sldId id="280" r:id="rId15"/>
    <p:sldId id="281" r:id="rId16"/>
    <p:sldId id="282" r:id="rId17"/>
    <p:sldId id="263" r:id="rId18"/>
    <p:sldId id="261" r:id="rId19"/>
    <p:sldId id="262" r:id="rId20"/>
    <p:sldId id="271" r:id="rId21"/>
    <p:sldId id="264"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64"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64"/>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Hello everyone, and welcome. Today, we're going to explore an exciting topic that's reshaping the future of work: AI Agents. In this session, we'll break down what AI Agents are, how they function, and why they are relevant to us here at HSBC. Let's dive in.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Here's a roadmap of our discussion today. We'll start with a clear definition of what an AI Agent is. Then, we'll dissect its three core components: the Brain, Memory, and Tools. After that, we'll talk about the philosophy behind designing effective Agents. We'll also clarify the key differences between Agents and traditional automated workflows. Finally, we'll wrap up with a summary and open the floor for questions.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understand AI Agents, we need to look at their three fundamental building blocks. First, the Brain, which is the large language model that does the thinking. Second, Memory, which allows the agent to learn from past experiences. And third, Tools, which are the agent's hands and feet, letting it interact with the outside world. Together, these three components create a system that can understand, learn, and act.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first core component is the "Brain." This is essentially the large language model, the AI engine that drives everything. It's what allows the Agent to understand, reason, and plan. Whether it's breaking down a complex request or generating human-like responses, the brain is the central processing unit that gives the Agent its intelligence.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First up is Memory. Think of it as the agent's ability to remember. Short-term memory is like your working memory, keeping track of the current chat. Long-term memory is like a filing cabinet, where important information from past interactions is stored for later use. This diagram shows how information flows between these two systems, allowing the agent to learn and provide personalized service.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Next is Agentic RAG. Traditional RAG is like a simple search engine. Agentic RAG is smarter. It doesn't just search; it thinks about how to search. As this diagram shows, the agent first optimizes the user's query, then searches the right sources, checks if the information is good enough, and if not, it tries again. This makes it much more effective for finding the right answer.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Now, let's talk about the MCP Protocol. Imagine it as a universal plug adapter for AI. Instead of every AI app needing a custom connection to every tool, they all connect to an MCP server. This server acts as a hub, translating requests and responses, making it easy to plug in new applications or tools. It's all about standardization and flexibility.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Skills are what turn a general AI model into a specialist. Think of a skill as a pre-packaged set of instructions for a specific job, like "processing a loan application." By adding this skill to a general model, it instantly knows the workflow, which tools to use, and where to find the necessary information. It's like giving a generalist AI a specialized training manual.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So, what exactly is LangGraph? In simple terms, it's a framework for building complex AI agents. Think of it as the conductor for your AI symphony. It doesn't play the instruments (that's the LLM and tools), but it directs how they play together. Its core job is to manage the workflow, ensuring each step happens at the right time, and that all information is remembered and shared.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first core component is the State. You can think of it as the agent's brain's hard drive. It's a shared memory space that holds all the information needed for the task.</a:t>
            </a:r>
            <a:endParaRPr lang="en-US" sz="1400" b="0" i="0" u="none" strike="noStrike">
              <a:solidFill>
                <a:srgbClr val="000000"/>
              </a:solidFill>
            </a:endParaRPr>
          </a:p>
          <a:p>
            <a:pPr indent="0" algn="l">
              <a:lnSpc>
                <a:spcPct val="100000"/>
              </a:lnSpc>
            </a:pPr>
            <a:r>
              <a:rPr lang="en-US" sz="1400" b="0" i="0" u="none" strike="noStrike">
                <a:solidFill>
                  <a:srgbClr val="000000"/>
                </a:solidFill>
              </a:rPr>
              <a:t>Every node in the graph can read from and write to this state, ensuring that critical information like conversation history or task results is never lost and is always available to the next step.</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Next is the Node. If the State is the memory, the Node is the worker.</a:t>
            </a:r>
            <a:endParaRPr lang="en-US" sz="1400" b="0" i="0" u="none" strike="noStrike">
              <a:solidFill>
                <a:srgbClr val="000000"/>
              </a:solidFill>
            </a:endParaRPr>
          </a:p>
          <a:p>
            <a:pPr indent="0" algn="l">
              <a:lnSpc>
                <a:spcPct val="100000"/>
              </a:lnSpc>
            </a:pPr>
            <a:r>
              <a:rPr lang="en-US" sz="1400" b="0" i="0" u="none" strike="noStrike">
                <a:solidFill>
                  <a:srgbClr val="000000"/>
                </a:solidFill>
              </a:rPr>
              <a:t>Each node is a self-contained function that does one specific job. It could be calling the AI model, searching the web, or making a calculation.</a:t>
            </a:r>
            <a:endParaRPr lang="en-US" sz="1400" b="0" i="0" u="none" strike="noStrike">
              <a:solidFill>
                <a:srgbClr val="000000"/>
              </a:solidFill>
            </a:endParaRPr>
          </a:p>
          <a:p>
            <a:pPr indent="0" algn="l">
              <a:lnSpc>
                <a:spcPct val="100000"/>
              </a:lnSpc>
            </a:pPr>
            <a:r>
              <a:rPr lang="en-US" sz="1400" b="0" i="0" u="none" strike="noStrike">
                <a:solidFill>
                  <a:srgbClr val="000000"/>
                </a:solidFill>
              </a:rPr>
              <a:t>It takes the current state as input, does its work, and returns a new state as output. This modular design makes building complex workflows much easier.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third component is the Edge. This is the navigator of the workflow. It defines the path the execution should take.</a:t>
            </a:r>
            <a:endParaRPr lang="en-US" sz="1400" b="0" i="0" u="none" strike="noStrike">
              <a:solidFill>
                <a:srgbClr val="000000"/>
              </a:solidFill>
            </a:endParaRPr>
          </a:p>
          <a:p>
            <a:pPr indent="0" algn="l">
              <a:lnSpc>
                <a:spcPct val="100000"/>
              </a:lnSpc>
            </a:pPr>
            <a:r>
              <a:rPr lang="en-US" sz="1400" b="0" i="0" u="none" strike="noStrike">
                <a:solidFill>
                  <a:srgbClr val="000000"/>
                </a:solidFill>
              </a:rPr>
              <a:t>A normal edge is a simple, fixed path from one node to the next. But the real power comes from conditional edges. They act like decision points, allowing the workflow to branch or loop based on the current state.</a:t>
            </a:r>
            <a:endParaRPr lang="en-US" sz="1400" b="0" i="0" u="none" strike="noStrike">
              <a:solidFill>
                <a:srgbClr val="000000"/>
              </a:solidFill>
            </a:endParaRPr>
          </a:p>
          <a:p>
            <a:pPr indent="0" algn="l">
              <a:lnSpc>
                <a:spcPct val="100000"/>
              </a:lnSpc>
            </a:pPr>
            <a:r>
              <a:rPr lang="en-US" sz="1400" b="0" i="0" u="none" strike="noStrike">
                <a:solidFill>
                  <a:srgbClr val="000000"/>
                </a:solidFill>
              </a:rPr>
              <a:t>This is how you build an AI that can adapt and make decisions.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Finally, the Graph itself is the blueprint of your entire application. It's what you get when you assemble all the nodes and edges together. The process is straightforward: define your state, add your nodes, connect them with edges, and then compile the whole thing into a runnable application. This graph is the executable logic of your AI agent.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Finally, let's clarify the key difference between a Workflow and an Agent. A workflow is like a recipe; it's a fixed set of steps. It's reliable for repetitive tasks but can't adapt.</a:t>
            </a:r>
            <a:endParaRPr lang="en-US" sz="1400" b="0" i="0" u="none" strike="noStrike">
              <a:solidFill>
                <a:srgbClr val="000000"/>
              </a:solidFill>
            </a:endParaRPr>
          </a:p>
          <a:p>
            <a:pPr indent="0" algn="l">
              <a:lnSpc>
                <a:spcPct val="100000"/>
              </a:lnSpc>
            </a:pPr>
            <a:r>
              <a:rPr lang="en-US" sz="1400" b="0" i="0" u="none" strike="noStrike">
                <a:solidFill>
                  <a:srgbClr val="000000"/>
                </a:solidFill>
              </a:rPr>
              <a:t>An Agent, as shown in the diagram on the right, is dynamic. It doesn't follow a fixed path; it assesses the situation, decides which tools and skills to use, and charts its own course. This makes it far more flexible for handling the unexpected.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Let's look at the Single-Agent Architecture. This is the most basic form. One agent does everything: it understands the task, plans how to do it, uses the necessary tools, and delivers the result. It's like having a single employee handle a project from start to finish. It's simple and effective for many tasks.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For more complex tasks, we use a Multi-Agent Architecture. This is like a team of specialists. A main agent acts as the project manager, breaking down the big task into smaller parts and assigning them to sub-agents who are experts in their fields, like research or analysis. They work in parallel and report back to the main agent, who then compiles the final result. It's a powerful model for tackling complex challenges.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Now, let's talk about a crucial design principle: KISS, or "Keep It Simple, Stupid." The goal isn't to use the most complex technology available, but to use the right tool for the job. We should always start with the simplest solution. Can a well-written prompt get the job done? Great. If not, can an automated workflow handle it? Only when we need true autonomy and adaptability should we reach for a full Agent, and only for the most complex tasks should we consider a multi-agent system.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That wraps up our overview of the six essential terms for understanding AI Agents. I hope this has been clear and helpful. Now, I'd be happy to answer any questions you may have. Thank you.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13.svg"/><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4.sv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2.xml"/><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4.sv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23.svg"/><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3.svg"/><Relationship Id="rId7" Type="http://schemas.openxmlformats.org/officeDocument/2006/relationships/image" Target="../media/image32.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13.svg"/><Relationship Id="rId10" Type="http://schemas.openxmlformats.org/officeDocument/2006/relationships/notesSlide" Target="../notesSlides/notesSlide10.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svg"/><Relationship Id="rId7" Type="http://schemas.openxmlformats.org/officeDocument/2006/relationships/image" Target="../media/image39.png"/><Relationship Id="rId6" Type="http://schemas.openxmlformats.org/officeDocument/2006/relationships/image" Target="../media/image21.svg"/><Relationship Id="rId5" Type="http://schemas.openxmlformats.org/officeDocument/2006/relationships/image" Target="../media/image38.png"/><Relationship Id="rId4" Type="http://schemas.openxmlformats.org/officeDocument/2006/relationships/image" Target="../media/image37.svg"/><Relationship Id="rId3" Type="http://schemas.openxmlformats.org/officeDocument/2006/relationships/image" Target="../media/image36.png"/><Relationship Id="rId2" Type="http://schemas.openxmlformats.org/officeDocument/2006/relationships/image" Target="../media/image35.svg"/><Relationship Id="rId12" Type="http://schemas.openxmlformats.org/officeDocument/2006/relationships/notesSlide" Target="../notesSlides/notesSlide11.xml"/><Relationship Id="rId11" Type="http://schemas.openxmlformats.org/officeDocument/2006/relationships/slideLayout" Target="../slideLayouts/slideLayout12.xml"/><Relationship Id="rId10" Type="http://schemas.openxmlformats.org/officeDocument/2006/relationships/image" Target="../media/image42.svg"/><Relationship Id="rId1" Type="http://schemas.openxmlformats.org/officeDocument/2006/relationships/image" Target="../media/image3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25.svg"/><Relationship Id="rId7" Type="http://schemas.openxmlformats.org/officeDocument/2006/relationships/image" Target="../media/image24.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19.svg"/><Relationship Id="rId3" Type="http://schemas.openxmlformats.org/officeDocument/2006/relationships/image" Target="../media/image45.png"/><Relationship Id="rId20" Type="http://schemas.openxmlformats.org/officeDocument/2006/relationships/notesSlide" Target="../notesSlides/notesSlide13.xml"/><Relationship Id="rId2" Type="http://schemas.openxmlformats.org/officeDocument/2006/relationships/image" Target="../media/image44.svg"/><Relationship Id="rId19" Type="http://schemas.openxmlformats.org/officeDocument/2006/relationships/slideLayout" Target="../slideLayouts/slideLayout12.xml"/><Relationship Id="rId18" Type="http://schemas.openxmlformats.org/officeDocument/2006/relationships/image" Target="../media/image27.svg"/><Relationship Id="rId17" Type="http://schemas.openxmlformats.org/officeDocument/2006/relationships/image" Target="../media/image26.png"/><Relationship Id="rId16" Type="http://schemas.openxmlformats.org/officeDocument/2006/relationships/image" Target="../media/image55.svg"/><Relationship Id="rId15" Type="http://schemas.openxmlformats.org/officeDocument/2006/relationships/image" Target="../media/image54.png"/><Relationship Id="rId14" Type="http://schemas.openxmlformats.org/officeDocument/2006/relationships/image" Target="../media/image53.svg"/><Relationship Id="rId13" Type="http://schemas.openxmlformats.org/officeDocument/2006/relationships/image" Target="../media/image52.png"/><Relationship Id="rId12" Type="http://schemas.openxmlformats.org/officeDocument/2006/relationships/image" Target="../media/image51.svg"/><Relationship Id="rId11" Type="http://schemas.openxmlformats.org/officeDocument/2006/relationships/image" Target="../media/image50.png"/><Relationship Id="rId10" Type="http://schemas.openxmlformats.org/officeDocument/2006/relationships/image" Target="../media/image49.svg"/><Relationship Id="rId1" Type="http://schemas.openxmlformats.org/officeDocument/2006/relationships/image" Target="../media/image43.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59.svg"/><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19.svg"/><Relationship Id="rId1" Type="http://schemas.openxmlformats.org/officeDocument/2006/relationships/image" Target="../media/image45.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image" Target="../media/image63.svg"/><Relationship Id="rId3" Type="http://schemas.openxmlformats.org/officeDocument/2006/relationships/image" Target="../media/image62.png"/><Relationship Id="rId2" Type="http://schemas.openxmlformats.org/officeDocument/2006/relationships/image" Target="../media/image61.svg"/><Relationship Id="rId1" Type="http://schemas.openxmlformats.org/officeDocument/2006/relationships/image" Target="../media/image60.png"/></Relationships>
</file>

<file path=ppt/slides/_rels/slide17.xml.rels><?xml version="1.0" encoding="UTF-8" standalone="yes"?>
<Relationships xmlns="http://schemas.openxmlformats.org/package/2006/relationships"><Relationship Id="rId9" Type="http://schemas.openxmlformats.org/officeDocument/2006/relationships/image" Target="../media/image68.svg"/><Relationship Id="rId8" Type="http://schemas.openxmlformats.org/officeDocument/2006/relationships/image" Target="../media/image67.png"/><Relationship Id="rId7" Type="http://schemas.openxmlformats.org/officeDocument/2006/relationships/image" Target="../media/image59.svg"/><Relationship Id="rId6" Type="http://schemas.openxmlformats.org/officeDocument/2006/relationships/image" Target="../media/image66.png"/><Relationship Id="rId5" Type="http://schemas.openxmlformats.org/officeDocument/2006/relationships/image" Target="../media/image57.svg"/><Relationship Id="rId4" Type="http://schemas.openxmlformats.org/officeDocument/2006/relationships/image" Target="../media/image65.png"/><Relationship Id="rId3" Type="http://schemas.openxmlformats.org/officeDocument/2006/relationships/image" Target="../media/image13.svg"/><Relationship Id="rId2" Type="http://schemas.openxmlformats.org/officeDocument/2006/relationships/image" Target="../media/image64.png"/><Relationship Id="rId12" Type="http://schemas.openxmlformats.org/officeDocument/2006/relationships/notesSlide" Target="../notesSlides/notesSlide17.xml"/><Relationship Id="rId11" Type="http://schemas.openxmlformats.org/officeDocument/2006/relationships/slideLayout" Target="../slideLayouts/slideLayout12.xml"/><Relationship Id="rId10" Type="http://schemas.openxmlformats.org/officeDocument/2006/relationships/image" Target="../media/image69.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FFFFFF"/>
                </a:solidFill>
                <a:latin typeface="Poppins"/>
                <a:ea typeface="Poppins"/>
                <a:cs typeface="Poppins"/>
                <a:sym typeface="Poppins"/>
              </a:rPr>
              <a:t>Understanding AI Agents</a:t>
            </a:r>
            <a:endParaRPr lang="en-US" sz="1100"/>
          </a:p>
        </p:txBody>
      </p:sp>
      <p:sp>
        <p:nvSpPr>
          <p:cNvPr id="4" name="AutoShape 4"/>
          <p:cNvSpPr/>
          <p:nvPr/>
        </p:nvSpPr>
        <p:spPr>
          <a:xfrm>
            <a:off x="1016000" y="3429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0" i="0" u="none" strike="noStrike">
                <a:solidFill>
                  <a:srgbClr val="FFFFFF">
                    <a:alpha val="90196"/>
                  </a:srgbClr>
                </a:solidFill>
                <a:latin typeface="Poppins"/>
                <a:ea typeface="Poppins"/>
                <a:cs typeface="Poppins"/>
                <a:sym typeface="Poppins"/>
              </a:rPr>
              <a:t>A Guide for HSBC Colleagues</a:t>
            </a:r>
            <a:endParaRPr lang="en-US" sz="1100"/>
          </a:p>
        </p:txBody>
      </p:sp>
      <p:sp>
        <p:nvSpPr>
          <p:cNvPr id="5" name="AutoShape 5"/>
          <p:cNvSpPr/>
          <p:nvPr/>
        </p:nvSpPr>
        <p:spPr>
          <a:xfrm>
            <a:off x="1016000" y="4445000"/>
            <a:ext cx="1778000" cy="762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4953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spc="100">
                <a:solidFill>
                  <a:srgbClr val="FFFFFF">
                    <a:alpha val="60000"/>
                  </a:srgbClr>
                </a:solidFill>
                <a:latin typeface="Poppins"/>
                <a:ea typeface="Poppins"/>
                <a:cs typeface="Poppins"/>
                <a:sym typeface="Poppins"/>
              </a:rPr>
              <a:t>INTERNAL TRAINING SERIES |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Agenda</a:t>
            </a:r>
            <a:endParaRPr lang="en-US" sz="1100"/>
          </a:p>
        </p:txBody>
      </p:sp>
      <p:sp>
        <p:nvSpPr>
          <p:cNvPr id="4" name="AutoShape 4"/>
          <p:cNvSpPr/>
          <p:nvPr/>
        </p:nvSpPr>
        <p:spPr>
          <a:xfrm>
            <a:off x="762000" y="1524000"/>
            <a:ext cx="3302000" cy="1905000"/>
          </a:xfrm>
          <a:prstGeom prst="roundRect">
            <a:avLst>
              <a:gd name="adj" fmla="val 800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889000" cy="889000"/>
          </a:xfrm>
          <a:prstGeom prst="ellipse">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1336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Poppins"/>
                <a:ea typeface="Poppins"/>
                <a:cs typeface="Poppins"/>
                <a:sym typeface="Poppins"/>
              </a:rPr>
              <a:t>01</a:t>
            </a:r>
            <a:endParaRPr lang="en-US" sz="1100"/>
          </a:p>
        </p:txBody>
      </p:sp>
      <p:sp>
        <p:nvSpPr>
          <p:cNvPr id="7" name="AutoShape 7"/>
          <p:cNvSpPr/>
          <p:nvPr/>
        </p:nvSpPr>
        <p:spPr>
          <a:xfrm>
            <a:off x="2159000" y="1905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What is an Agent?</a:t>
            </a:r>
            <a:endParaRPr lang="en-US" sz="1100"/>
          </a:p>
        </p:txBody>
      </p:sp>
      <p:sp>
        <p:nvSpPr>
          <p:cNvPr id="8" name="AutoShape 8"/>
          <p:cNvSpPr/>
          <p:nvPr/>
        </p:nvSpPr>
        <p:spPr>
          <a:xfrm>
            <a:off x="2159000" y="24130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a:ea typeface="Noto Sans SC"/>
                <a:cs typeface="Noto Sans SC"/>
                <a:sym typeface="Noto Sans SC"/>
              </a:rPr>
              <a:t>Definition and core capabilities of AI Agents in modern systems.</a:t>
            </a:r>
            <a:endParaRPr lang="en-US" sz="1100"/>
          </a:p>
        </p:txBody>
      </p:sp>
      <p:sp>
        <p:nvSpPr>
          <p:cNvPr id="9" name="AutoShape 9"/>
          <p:cNvSpPr/>
          <p:nvPr/>
        </p:nvSpPr>
        <p:spPr>
          <a:xfrm>
            <a:off x="4445000" y="1524000"/>
            <a:ext cx="3302000" cy="1905000"/>
          </a:xfrm>
          <a:prstGeom prst="roundRect">
            <a:avLst>
              <a:gd name="adj" fmla="val 800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4699000" y="1905000"/>
            <a:ext cx="889000" cy="889000"/>
          </a:xfrm>
          <a:prstGeom prst="ellipse">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99000" y="21336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Poppins"/>
                <a:ea typeface="Poppins"/>
                <a:cs typeface="Poppins"/>
                <a:sym typeface="Poppins"/>
              </a:rPr>
              <a:t>02</a:t>
            </a:r>
            <a:endParaRPr lang="en-US" sz="1100"/>
          </a:p>
        </p:txBody>
      </p:sp>
      <p:sp>
        <p:nvSpPr>
          <p:cNvPr id="12" name="AutoShape 12"/>
          <p:cNvSpPr/>
          <p:nvPr/>
        </p:nvSpPr>
        <p:spPr>
          <a:xfrm>
            <a:off x="5842000" y="1905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The Core Components</a:t>
            </a:r>
            <a:endParaRPr lang="en-US" sz="1100"/>
          </a:p>
        </p:txBody>
      </p:sp>
      <p:sp>
        <p:nvSpPr>
          <p:cNvPr id="13" name="AutoShape 13"/>
          <p:cNvSpPr/>
          <p:nvPr/>
        </p:nvSpPr>
        <p:spPr>
          <a:xfrm>
            <a:off x="5842000" y="24130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a:ea typeface="Noto Sans SC"/>
                <a:cs typeface="Noto Sans SC"/>
                <a:sym typeface="Noto Sans SC"/>
              </a:rPr>
              <a:t>Breaking down the Brain, Memory, and Tools that power intelligent agents.</a:t>
            </a:r>
            <a:endParaRPr lang="en-US" sz="1100"/>
          </a:p>
        </p:txBody>
      </p:sp>
      <p:sp>
        <p:nvSpPr>
          <p:cNvPr id="14" name="AutoShape 14"/>
          <p:cNvSpPr/>
          <p:nvPr/>
        </p:nvSpPr>
        <p:spPr>
          <a:xfrm>
            <a:off x="8128000" y="1524000"/>
            <a:ext cx="3302000" cy="1905000"/>
          </a:xfrm>
          <a:prstGeom prst="roundRect">
            <a:avLst>
              <a:gd name="adj" fmla="val 800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5" name="AutoShape 15"/>
          <p:cNvSpPr/>
          <p:nvPr/>
        </p:nvSpPr>
        <p:spPr>
          <a:xfrm>
            <a:off x="8382000" y="1905000"/>
            <a:ext cx="889000" cy="889000"/>
          </a:xfrm>
          <a:prstGeom prst="ellipse">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382000" y="21336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Poppins"/>
                <a:ea typeface="Poppins"/>
                <a:cs typeface="Poppins"/>
                <a:sym typeface="Poppins"/>
              </a:rPr>
              <a:t>03</a:t>
            </a:r>
            <a:endParaRPr lang="en-US" sz="1100"/>
          </a:p>
        </p:txBody>
      </p:sp>
      <p:sp>
        <p:nvSpPr>
          <p:cNvPr id="17" name="AutoShape 17"/>
          <p:cNvSpPr/>
          <p:nvPr/>
        </p:nvSpPr>
        <p:spPr>
          <a:xfrm>
            <a:off x="9525000" y="1905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LangGraph</a:t>
            </a:r>
            <a:endParaRPr lang="en-US" sz="1600" b="1" i="0" u="none" strike="noStrike">
              <a:solidFill>
                <a:srgbClr val="333333"/>
              </a:solidFill>
              <a:latin typeface="Poppins"/>
              <a:ea typeface="Poppins"/>
              <a:cs typeface="Poppins"/>
              <a:sym typeface="Poppins"/>
            </a:endParaRPr>
          </a:p>
        </p:txBody>
      </p:sp>
      <p:sp>
        <p:nvSpPr>
          <p:cNvPr id="18" name="AutoShape 18"/>
          <p:cNvSpPr/>
          <p:nvPr/>
        </p:nvSpPr>
        <p:spPr>
          <a:xfrm>
            <a:off x="9525000" y="22860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altLang="en-US" sz="1200" b="0" i="0" u="none" strike="noStrike">
                <a:solidFill>
                  <a:srgbClr val="666666"/>
                </a:solidFill>
                <a:latin typeface="Noto Sans SC"/>
                <a:ea typeface="Noto Sans SC"/>
                <a:cs typeface="Noto Sans SC"/>
                <a:sym typeface="Noto Sans SC"/>
              </a:rPr>
              <a:t>Building Stateful, Multi-Step Agent Flows</a:t>
            </a:r>
            <a:r>
              <a:rPr lang="en-US" sz="1200" b="0" i="0" u="none" strike="noStrike">
                <a:solidFill>
                  <a:srgbClr val="666666"/>
                </a:solidFill>
                <a:latin typeface="Noto Sans SC"/>
                <a:ea typeface="Noto Sans SC"/>
                <a:cs typeface="Noto Sans SC"/>
                <a:sym typeface="Noto Sans SC"/>
              </a:rPr>
              <a:t>.</a:t>
            </a:r>
            <a:endParaRPr lang="en-US" sz="1100"/>
          </a:p>
        </p:txBody>
      </p:sp>
      <p:sp>
        <p:nvSpPr>
          <p:cNvPr id="19" name="AutoShape 19"/>
          <p:cNvSpPr/>
          <p:nvPr/>
        </p:nvSpPr>
        <p:spPr>
          <a:xfrm>
            <a:off x="762000" y="3810000"/>
            <a:ext cx="3302000" cy="1905000"/>
          </a:xfrm>
          <a:prstGeom prst="roundRect">
            <a:avLst>
              <a:gd name="adj" fmla="val 800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0" name="AutoShape 20"/>
          <p:cNvSpPr/>
          <p:nvPr/>
        </p:nvSpPr>
        <p:spPr>
          <a:xfrm>
            <a:off x="1016000" y="4191000"/>
            <a:ext cx="889000" cy="889000"/>
          </a:xfrm>
          <a:prstGeom prst="ellipse">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016000" y="44196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Poppins"/>
                <a:ea typeface="Poppins"/>
                <a:cs typeface="Poppins"/>
                <a:sym typeface="Poppins"/>
              </a:rPr>
              <a:t>04</a:t>
            </a:r>
            <a:endParaRPr lang="en-US" sz="1100"/>
          </a:p>
        </p:txBody>
      </p:sp>
      <p:sp>
        <p:nvSpPr>
          <p:cNvPr id="22" name="AutoShape 22"/>
          <p:cNvSpPr/>
          <p:nvPr/>
        </p:nvSpPr>
        <p:spPr>
          <a:xfrm>
            <a:off x="2159000" y="4191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Agent vs. Workflow</a:t>
            </a:r>
            <a:endParaRPr lang="en-US" sz="1100"/>
          </a:p>
        </p:txBody>
      </p:sp>
      <p:sp>
        <p:nvSpPr>
          <p:cNvPr id="23" name="AutoShape 23"/>
          <p:cNvSpPr/>
          <p:nvPr/>
        </p:nvSpPr>
        <p:spPr>
          <a:xfrm>
            <a:off x="2159000" y="46990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a:ea typeface="Noto Sans SC"/>
                <a:cs typeface="Noto Sans SC"/>
                <a:sym typeface="Noto Sans SC"/>
              </a:rPr>
              <a:t>Key differences and practical applications compared to traditional automation.</a:t>
            </a:r>
            <a:endParaRPr lang="en-US" sz="1100"/>
          </a:p>
        </p:txBody>
      </p:sp>
      <p:sp>
        <p:nvSpPr>
          <p:cNvPr id="24" name="AutoShape 24"/>
          <p:cNvSpPr/>
          <p:nvPr/>
        </p:nvSpPr>
        <p:spPr>
          <a:xfrm>
            <a:off x="8195310" y="3810000"/>
            <a:ext cx="3302000" cy="1905000"/>
          </a:xfrm>
          <a:prstGeom prst="roundRect">
            <a:avLst>
              <a:gd name="adj" fmla="val 800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5" name="AutoShape 25"/>
          <p:cNvSpPr/>
          <p:nvPr/>
        </p:nvSpPr>
        <p:spPr>
          <a:xfrm>
            <a:off x="8449310" y="4191000"/>
            <a:ext cx="889000" cy="889000"/>
          </a:xfrm>
          <a:prstGeom prst="ellipse">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449310" y="44196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Poppins"/>
                <a:ea typeface="Poppins"/>
                <a:cs typeface="Poppins"/>
                <a:sym typeface="Poppins"/>
              </a:rPr>
              <a:t>06</a:t>
            </a:r>
            <a:endParaRPr lang="en-US" sz="1100"/>
          </a:p>
        </p:txBody>
      </p:sp>
      <p:sp>
        <p:nvSpPr>
          <p:cNvPr id="27" name="AutoShape 27"/>
          <p:cNvSpPr/>
          <p:nvPr/>
        </p:nvSpPr>
        <p:spPr>
          <a:xfrm>
            <a:off x="9592310" y="4191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Summary &amp; Q&amp;A</a:t>
            </a:r>
            <a:endParaRPr lang="en-US" sz="1100"/>
          </a:p>
        </p:txBody>
      </p:sp>
      <p:sp>
        <p:nvSpPr>
          <p:cNvPr id="28" name="AutoShape 28"/>
          <p:cNvSpPr/>
          <p:nvPr/>
        </p:nvSpPr>
        <p:spPr>
          <a:xfrm>
            <a:off x="9592310" y="46990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a:ea typeface="Noto Sans SC"/>
                <a:cs typeface="Noto Sans SC"/>
                <a:sym typeface="Noto Sans SC"/>
              </a:rPr>
              <a:t>Recap of key takeaways and an open discussion session for questions.</a:t>
            </a:r>
            <a:endParaRPr lang="en-US" sz="1100"/>
          </a:p>
        </p:txBody>
      </p:sp>
      <p:sp>
        <p:nvSpPr>
          <p:cNvPr id="29" name="AutoShape 14"/>
          <p:cNvSpPr/>
          <p:nvPr/>
        </p:nvSpPr>
        <p:spPr>
          <a:xfrm>
            <a:off x="4445000" y="3810000"/>
            <a:ext cx="3302000" cy="1905000"/>
          </a:xfrm>
          <a:prstGeom prst="roundRect">
            <a:avLst>
              <a:gd name="adj" fmla="val 800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30" name="AutoShape 15"/>
          <p:cNvSpPr/>
          <p:nvPr/>
        </p:nvSpPr>
        <p:spPr>
          <a:xfrm>
            <a:off x="4699000" y="4191000"/>
            <a:ext cx="889000" cy="889000"/>
          </a:xfrm>
          <a:prstGeom prst="ellipse">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16"/>
          <p:cNvSpPr/>
          <p:nvPr/>
        </p:nvSpPr>
        <p:spPr>
          <a:xfrm>
            <a:off x="4699000" y="44196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Poppins"/>
                <a:ea typeface="Poppins"/>
                <a:cs typeface="Poppins"/>
                <a:sym typeface="Poppins"/>
              </a:rPr>
              <a:t>05</a:t>
            </a:r>
            <a:endParaRPr lang="en-US" sz="1100"/>
          </a:p>
        </p:txBody>
      </p:sp>
      <p:sp>
        <p:nvSpPr>
          <p:cNvPr id="32" name="AutoShape 17"/>
          <p:cNvSpPr/>
          <p:nvPr/>
        </p:nvSpPr>
        <p:spPr>
          <a:xfrm>
            <a:off x="5842000" y="4191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Design Principles</a:t>
            </a:r>
            <a:endParaRPr lang="en-US" sz="1100"/>
          </a:p>
        </p:txBody>
      </p:sp>
      <p:sp>
        <p:nvSpPr>
          <p:cNvPr id="33" name="AutoShape 18"/>
          <p:cNvSpPr/>
          <p:nvPr/>
        </p:nvSpPr>
        <p:spPr>
          <a:xfrm>
            <a:off x="5842000" y="46990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a:ea typeface="Noto Sans SC"/>
                <a:cs typeface="Noto Sans SC"/>
                <a:sym typeface="Noto Sans SC"/>
              </a:rPr>
              <a:t>Solving complex problems in the simplest, most efficient way possible.</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en-US" sz="2800">
                <a:sym typeface="+mn-ea"/>
              </a:rPr>
              <a:t>What is an AI agent?</a:t>
            </a:r>
            <a:endParaRPr lang="en-US" altLang="en-US" sz="2800"/>
          </a:p>
          <a:p>
            <a:pPr indent="0" algn="l">
              <a:lnSpc>
                <a:spcPct val="125000"/>
              </a:lnSpc>
              <a:defRPr/>
            </a:pPr>
            <a:r>
              <a:rPr lang="en-US" altLang="en-US" sz="1600"/>
              <a:t>An AI agent is a software-based ‘actor’ (entity) that uses an AI engine to take action. It can distinguish its environment, process data, and take actions on its own to achieve specific or singular goal. AI agents operate independently and can interact with users, systems, or other agents.</a:t>
            </a:r>
            <a:endParaRPr lang="en-US" altLang="en-US" sz="1600"/>
          </a:p>
        </p:txBody>
      </p:sp>
      <p:sp>
        <p:nvSpPr>
          <p:cNvPr id="3" name="AutoShape 3"/>
          <p:cNvSpPr/>
          <p:nvPr/>
        </p:nvSpPr>
        <p:spPr>
          <a:xfrm>
            <a:off x="773430" y="1960880"/>
            <a:ext cx="3302000" cy="4699000"/>
          </a:xfrm>
          <a:prstGeom prst="roundRect">
            <a:avLst>
              <a:gd name="adj" fmla="val 4615"/>
            </a:avLst>
          </a:prstGeom>
          <a:solidFill>
            <a:srgbClr val="F9F9F9">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41500" y="1778000"/>
            <a:ext cx="1143000" cy="1143000"/>
          </a:xfrm>
          <a:prstGeom prst="rect">
            <a:avLst/>
          </a:prstGeom>
        </p:spPr>
      </p:pic>
      <p:sp>
        <p:nvSpPr>
          <p:cNvPr id="5" name="AutoShape 5"/>
          <p:cNvSpPr/>
          <p:nvPr/>
        </p:nvSpPr>
        <p:spPr>
          <a:xfrm>
            <a:off x="1016000" y="3111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Poppins"/>
                <a:ea typeface="Poppins"/>
                <a:cs typeface="Poppins"/>
                <a:sym typeface="Poppins"/>
              </a:rPr>
              <a:t>Brain: The Thinking Core</a:t>
            </a:r>
            <a:endParaRPr lang="en-US" sz="1100"/>
          </a:p>
        </p:txBody>
      </p:sp>
      <p:sp>
        <p:nvSpPr>
          <p:cNvPr id="6" name="AutoShape 6"/>
          <p:cNvSpPr/>
          <p:nvPr/>
        </p:nvSpPr>
        <p:spPr>
          <a:xfrm>
            <a:off x="1905000" y="3683000"/>
            <a:ext cx="1016000" cy="381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4064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D40000"/>
                </a:solidFill>
                <a:latin typeface="Poppins"/>
                <a:ea typeface="Poppins"/>
                <a:cs typeface="Poppins"/>
                <a:sym typeface="Poppins"/>
              </a:rPr>
              <a:t>POWERED BY LLMs</a:t>
            </a:r>
            <a:endParaRPr lang="en-US" sz="1100"/>
          </a:p>
        </p:txBody>
      </p:sp>
      <p:sp>
        <p:nvSpPr>
          <p:cNvPr id="8" name="AutoShape 8"/>
          <p:cNvSpPr/>
          <p:nvPr/>
        </p:nvSpPr>
        <p:spPr>
          <a:xfrm>
            <a:off x="1016000" y="4445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Driven by advanced models like GPT-4 and Claude, forming the foundation of intelligence.</a:t>
            </a:r>
            <a:endParaRPr lang="en-US" sz="1100"/>
          </a:p>
        </p:txBody>
      </p:sp>
      <p:sp>
        <p:nvSpPr>
          <p:cNvPr id="9" name="AutoShape 9"/>
          <p:cNvSpPr/>
          <p:nvPr/>
        </p:nvSpPr>
        <p:spPr>
          <a:xfrm>
            <a:off x="1016000" y="5207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D40000"/>
                </a:solidFill>
                <a:latin typeface="Poppins"/>
                <a:ea typeface="Poppins"/>
                <a:cs typeface="Poppins"/>
                <a:sym typeface="Poppins"/>
              </a:rPr>
              <a:t>CORE INTELLIGENCE</a:t>
            </a:r>
            <a:endParaRPr lang="en-US" sz="1100"/>
          </a:p>
        </p:txBody>
      </p:sp>
      <p:sp>
        <p:nvSpPr>
          <p:cNvPr id="10" name="AutoShape 10"/>
          <p:cNvSpPr/>
          <p:nvPr/>
        </p:nvSpPr>
        <p:spPr>
          <a:xfrm>
            <a:off x="1016000" y="5588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Handles complex reasoning, multi-step planning, and the deep understanding of user intent.</a:t>
            </a:r>
            <a:endParaRPr lang="en-US" sz="1100"/>
          </a:p>
        </p:txBody>
      </p:sp>
      <p:sp>
        <p:nvSpPr>
          <p:cNvPr id="11" name="AutoShape 11"/>
          <p:cNvSpPr/>
          <p:nvPr/>
        </p:nvSpPr>
        <p:spPr>
          <a:xfrm>
            <a:off x="4456430" y="1960880"/>
            <a:ext cx="3302000" cy="4699000"/>
          </a:xfrm>
          <a:prstGeom prst="roundRect">
            <a:avLst>
              <a:gd name="adj" fmla="val 4615"/>
            </a:avLst>
          </a:prstGeom>
          <a:solidFill>
            <a:srgbClr val="F9F9F9">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24500" y="1778000"/>
            <a:ext cx="1143000" cy="1143000"/>
          </a:xfrm>
          <a:prstGeom prst="rect">
            <a:avLst/>
          </a:prstGeom>
        </p:spPr>
      </p:pic>
      <p:sp>
        <p:nvSpPr>
          <p:cNvPr id="13" name="AutoShape 13"/>
          <p:cNvSpPr/>
          <p:nvPr/>
        </p:nvSpPr>
        <p:spPr>
          <a:xfrm>
            <a:off x="4699000" y="3111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Poppins"/>
                <a:ea typeface="Poppins"/>
                <a:cs typeface="Poppins"/>
                <a:sym typeface="Poppins"/>
              </a:rPr>
              <a:t>Memory: The Learning System</a:t>
            </a:r>
            <a:endParaRPr lang="en-US" sz="1100"/>
          </a:p>
        </p:txBody>
      </p:sp>
      <p:sp>
        <p:nvSpPr>
          <p:cNvPr id="14" name="AutoShape 14"/>
          <p:cNvSpPr/>
          <p:nvPr/>
        </p:nvSpPr>
        <p:spPr>
          <a:xfrm>
            <a:off x="5588000" y="3683000"/>
            <a:ext cx="1016000" cy="381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99000" y="4064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D40000"/>
                </a:solidFill>
                <a:latin typeface="Poppins"/>
                <a:ea typeface="Poppins"/>
                <a:cs typeface="Poppins"/>
                <a:sym typeface="Poppins"/>
              </a:rPr>
              <a:t>SHORT-TERM CONTEXT</a:t>
            </a:r>
            <a:endParaRPr lang="en-US" sz="1100"/>
          </a:p>
        </p:txBody>
      </p:sp>
      <p:sp>
        <p:nvSpPr>
          <p:cNvPr id="16" name="AutoShape 16"/>
          <p:cNvSpPr/>
          <p:nvPr/>
        </p:nvSpPr>
        <p:spPr>
          <a:xfrm>
            <a:off x="4699000" y="4445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Maintains awareness of the current conversation thread, ensuring coherent dialogue flow.</a:t>
            </a:r>
            <a:endParaRPr lang="en-US" sz="1100"/>
          </a:p>
        </p:txBody>
      </p:sp>
      <p:sp>
        <p:nvSpPr>
          <p:cNvPr id="17" name="AutoShape 17"/>
          <p:cNvSpPr/>
          <p:nvPr/>
        </p:nvSpPr>
        <p:spPr>
          <a:xfrm>
            <a:off x="4699000" y="5207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D40000"/>
                </a:solidFill>
                <a:latin typeface="Poppins"/>
                <a:ea typeface="Poppins"/>
                <a:cs typeface="Poppins"/>
                <a:sym typeface="Poppins"/>
              </a:rPr>
              <a:t>LONG-TERM RECALL</a:t>
            </a:r>
            <a:endParaRPr lang="en-US" sz="1100"/>
          </a:p>
        </p:txBody>
      </p:sp>
      <p:sp>
        <p:nvSpPr>
          <p:cNvPr id="18" name="AutoShape 18"/>
          <p:cNvSpPr/>
          <p:nvPr/>
        </p:nvSpPr>
        <p:spPr>
          <a:xfrm>
            <a:off x="4699000" y="5588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Stores, summarizes, and retrieves past interactions to deliver personalized and contextualized service.</a:t>
            </a:r>
            <a:endParaRPr lang="en-US" sz="1100"/>
          </a:p>
        </p:txBody>
      </p:sp>
      <p:sp>
        <p:nvSpPr>
          <p:cNvPr id="19" name="AutoShape 19"/>
          <p:cNvSpPr/>
          <p:nvPr/>
        </p:nvSpPr>
        <p:spPr>
          <a:xfrm>
            <a:off x="8139430" y="1960880"/>
            <a:ext cx="3302000" cy="4699000"/>
          </a:xfrm>
          <a:prstGeom prst="roundRect">
            <a:avLst>
              <a:gd name="adj" fmla="val 4615"/>
            </a:avLst>
          </a:prstGeom>
          <a:solidFill>
            <a:srgbClr val="F9F9F9">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7500" y="1778000"/>
            <a:ext cx="1143000" cy="1143000"/>
          </a:xfrm>
          <a:prstGeom prst="rect">
            <a:avLst/>
          </a:prstGeom>
        </p:spPr>
      </p:pic>
      <p:sp>
        <p:nvSpPr>
          <p:cNvPr id="21" name="AutoShape 21"/>
          <p:cNvSpPr/>
          <p:nvPr/>
        </p:nvSpPr>
        <p:spPr>
          <a:xfrm>
            <a:off x="8382000" y="3111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Poppins"/>
                <a:ea typeface="Poppins"/>
                <a:cs typeface="Poppins"/>
                <a:sym typeface="Poppins"/>
              </a:rPr>
              <a:t>Tools: The Action Interface</a:t>
            </a:r>
            <a:endParaRPr lang="en-US" sz="1100"/>
          </a:p>
        </p:txBody>
      </p:sp>
      <p:sp>
        <p:nvSpPr>
          <p:cNvPr id="22" name="AutoShape 22"/>
          <p:cNvSpPr/>
          <p:nvPr/>
        </p:nvSpPr>
        <p:spPr>
          <a:xfrm>
            <a:off x="9271000" y="3683000"/>
            <a:ext cx="1016000" cy="381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382000" y="4064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D40000"/>
                </a:solidFill>
                <a:latin typeface="Poppins"/>
                <a:ea typeface="Poppins"/>
                <a:cs typeface="Poppins"/>
                <a:sym typeface="Poppins"/>
              </a:rPr>
              <a:t>EXTERNAL INTEGRATION</a:t>
            </a:r>
            <a:endParaRPr lang="en-US" sz="1100"/>
          </a:p>
        </p:txBody>
      </p:sp>
      <p:sp>
        <p:nvSpPr>
          <p:cNvPr id="24" name="AutoShape 24"/>
          <p:cNvSpPr/>
          <p:nvPr/>
        </p:nvSpPr>
        <p:spPr>
          <a:xfrm>
            <a:off x="8382000" y="4445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Connects to databases, APIs, and real-world systems (via MCP or similar protocols).</a:t>
            </a:r>
            <a:endParaRPr lang="en-US" sz="1100"/>
          </a:p>
        </p:txBody>
      </p:sp>
      <p:sp>
        <p:nvSpPr>
          <p:cNvPr id="25" name="AutoShape 25"/>
          <p:cNvSpPr/>
          <p:nvPr/>
        </p:nvSpPr>
        <p:spPr>
          <a:xfrm>
            <a:off x="8382000" y="5207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D40000"/>
                </a:solidFill>
                <a:latin typeface="Poppins"/>
                <a:ea typeface="Poppins"/>
                <a:cs typeface="Poppins"/>
                <a:sym typeface="Poppins"/>
              </a:rPr>
              <a:t>EXECUTION CAPABILITY</a:t>
            </a:r>
            <a:endParaRPr lang="en-US" sz="1100"/>
          </a:p>
        </p:txBody>
      </p:sp>
      <p:sp>
        <p:nvSpPr>
          <p:cNvPr id="26" name="AutoShape 26"/>
          <p:cNvSpPr/>
          <p:nvPr/>
        </p:nvSpPr>
        <p:spPr>
          <a:xfrm>
            <a:off x="8382000" y="5588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Encapsulates specific skills and workflows to turn decisions into tangible, effective actions.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Brain (LLM</a:t>
            </a:r>
            <a:r>
              <a:rPr lang="zh-CN" altLang="en-US" sz="3200" b="1" i="0" u="none" strike="noStrike">
                <a:solidFill>
                  <a:srgbClr val="333333"/>
                </a:solidFill>
                <a:latin typeface="Poppins"/>
                <a:ea typeface="SimSun" charset="0"/>
                <a:cs typeface="Poppins"/>
                <a:sym typeface="Poppins"/>
              </a:rPr>
              <a:t>）</a:t>
            </a:r>
            <a:endParaRPr lang="zh-CN" altLang="en-US" sz="3200" b="1" i="0" u="none" strike="noStrike">
              <a:solidFill>
                <a:srgbClr val="333333"/>
              </a:solidFill>
              <a:latin typeface="Poppins"/>
              <a:ea typeface="SimSun" charset="0"/>
              <a:cs typeface="Poppins"/>
              <a:sym typeface="Poppins"/>
            </a:endParaRPr>
          </a:p>
        </p:txBody>
      </p:sp>
      <p:pic>
        <p:nvPicPr>
          <p:cNvPr id="3" name="Picture 3"/>
          <p:cNvPicPr>
            <a:picLocks noChangeAspect="1"/>
          </p:cNvPicPr>
          <p:nvPr/>
        </p:nvPicPr>
        <p:blipFill>
          <a:blip r:embed="rId1"/>
          <a:srcRect l="21448" r="21448"/>
          <a:stretch>
            <a:fillRect/>
          </a:stretch>
        </p:blipFill>
        <p:spPr>
          <a:xfrm>
            <a:off x="762000" y="1524000"/>
            <a:ext cx="4826000" cy="4699000"/>
          </a:xfrm>
          <a:prstGeom prst="roundRect">
            <a:avLst>
              <a:gd name="adj" fmla="val 4324"/>
            </a:avLst>
          </a:prstGeom>
          <a:noFill/>
          <a:ln w="25400" cap="flat" cmpd="sng">
            <a:noFill/>
            <a:prstDash val="solid"/>
            <a:round/>
          </a:ln>
          <a:effectLst>
            <a:outerShdw blurRad="254000" dist="76200" dir="5400000" algn="tl" rotWithShape="0">
              <a:srgbClr val="000000">
                <a:alpha val="12000"/>
              </a:srgbClr>
            </a:outerShdw>
          </a:effectLst>
        </p:spPr>
      </p:pic>
      <p:sp>
        <p:nvSpPr>
          <p:cNvPr id="4" name="AutoShape 4"/>
          <p:cNvSpPr/>
          <p:nvPr/>
        </p:nvSpPr>
        <p:spPr>
          <a:xfrm>
            <a:off x="5842000" y="1524000"/>
            <a:ext cx="5334000" cy="1270000"/>
          </a:xfrm>
          <a:prstGeom prst="roundRect">
            <a:avLst>
              <a:gd name="adj" fmla="val 12000"/>
            </a:avLst>
          </a:prstGeom>
          <a:solidFill>
            <a:srgbClr val="FFFFFF">
              <a:alpha val="95000"/>
            </a:srgbClr>
          </a:solidFill>
          <a:ln w="25400" cap="flat" cmpd="sng">
            <a:noFill/>
            <a:prstDash val="solid"/>
            <a:round/>
          </a:ln>
          <a:effectLst>
            <a:outerShdw blurRad="1905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nvSpPr>
        <p:spPr>
          <a:xfrm>
            <a:off x="6096000" y="1714500"/>
            <a:ext cx="889000" cy="889000"/>
          </a:xfrm>
          <a:prstGeom prst="ellipse">
            <a:avLst/>
          </a:prstGeom>
          <a:solidFill>
            <a:srgbClr val="D40000">
              <a:alpha val="8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86500" y="1905000"/>
            <a:ext cx="508000" cy="508000"/>
          </a:xfrm>
          <a:prstGeom prst="rect">
            <a:avLst/>
          </a:prstGeom>
        </p:spPr>
      </p:pic>
      <p:sp>
        <p:nvSpPr>
          <p:cNvPr id="7" name="AutoShape 7"/>
          <p:cNvSpPr/>
          <p:nvPr/>
        </p:nvSpPr>
        <p:spPr>
          <a:xfrm>
            <a:off x="7239000" y="1676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Poppins"/>
                <a:ea typeface="Poppins"/>
                <a:cs typeface="Poppins"/>
                <a:sym typeface="Poppins"/>
              </a:rPr>
              <a:t>Reasoning</a:t>
            </a:r>
            <a:endParaRPr lang="en-US" sz="1100"/>
          </a:p>
        </p:txBody>
      </p:sp>
      <p:sp>
        <p:nvSpPr>
          <p:cNvPr id="8" name="AutoShape 8"/>
          <p:cNvSpPr/>
          <p:nvPr/>
        </p:nvSpPr>
        <p:spPr>
          <a:xfrm>
            <a:off x="7239000" y="2095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Understanding complex instructions and figuring out the optimal strategy to achieve a given goal.</a:t>
            </a:r>
            <a:endParaRPr lang="en-US" sz="1100"/>
          </a:p>
        </p:txBody>
      </p:sp>
      <p:sp>
        <p:nvSpPr>
          <p:cNvPr id="9" name="AutoShape 9"/>
          <p:cNvSpPr/>
          <p:nvPr/>
        </p:nvSpPr>
        <p:spPr>
          <a:xfrm>
            <a:off x="5842000" y="3048000"/>
            <a:ext cx="5334000" cy="1270000"/>
          </a:xfrm>
          <a:prstGeom prst="roundRect">
            <a:avLst>
              <a:gd name="adj" fmla="val 12000"/>
            </a:avLst>
          </a:prstGeom>
          <a:solidFill>
            <a:srgbClr val="FFFFFF">
              <a:alpha val="95000"/>
            </a:srgbClr>
          </a:solidFill>
          <a:ln w="25400" cap="flat" cmpd="sng">
            <a:noFill/>
            <a:prstDash val="solid"/>
            <a:round/>
          </a:ln>
          <a:effectLst>
            <a:outerShdw blurRad="1905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0" name="AutoShape 10"/>
          <p:cNvSpPr/>
          <p:nvPr/>
        </p:nvSpPr>
        <p:spPr>
          <a:xfrm>
            <a:off x="6096000" y="3238500"/>
            <a:ext cx="889000" cy="889000"/>
          </a:xfrm>
          <a:prstGeom prst="ellipse">
            <a:avLst/>
          </a:prstGeom>
          <a:solidFill>
            <a:srgbClr val="D40000">
              <a:alpha val="8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86500" y="3429000"/>
            <a:ext cx="508000" cy="508000"/>
          </a:xfrm>
          <a:prstGeom prst="rect">
            <a:avLst/>
          </a:prstGeom>
        </p:spPr>
      </p:pic>
      <p:sp>
        <p:nvSpPr>
          <p:cNvPr id="12" name="AutoShape 12"/>
          <p:cNvSpPr/>
          <p:nvPr/>
        </p:nvSpPr>
        <p:spPr>
          <a:xfrm>
            <a:off x="7239000" y="3200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Poppins"/>
                <a:ea typeface="Poppins"/>
                <a:cs typeface="Poppins"/>
                <a:sym typeface="Poppins"/>
              </a:rPr>
              <a:t>Planning</a:t>
            </a:r>
            <a:endParaRPr lang="en-US" sz="1100"/>
          </a:p>
        </p:txBody>
      </p:sp>
      <p:sp>
        <p:nvSpPr>
          <p:cNvPr id="13" name="AutoShape 13"/>
          <p:cNvSpPr/>
          <p:nvPr/>
        </p:nvSpPr>
        <p:spPr>
          <a:xfrm>
            <a:off x="7239000" y="3619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Decomposing large, complex tasks into smaller, actionable, and manageable sequential steps.</a:t>
            </a:r>
            <a:endParaRPr lang="en-US" sz="1100"/>
          </a:p>
        </p:txBody>
      </p:sp>
      <p:sp>
        <p:nvSpPr>
          <p:cNvPr id="14" name="AutoShape 14"/>
          <p:cNvSpPr/>
          <p:nvPr/>
        </p:nvSpPr>
        <p:spPr>
          <a:xfrm>
            <a:off x="5842000" y="4572000"/>
            <a:ext cx="5334000" cy="1270000"/>
          </a:xfrm>
          <a:prstGeom prst="roundRect">
            <a:avLst>
              <a:gd name="adj" fmla="val 12000"/>
            </a:avLst>
          </a:prstGeom>
          <a:solidFill>
            <a:srgbClr val="FFFFFF">
              <a:alpha val="95000"/>
            </a:srgbClr>
          </a:solidFill>
          <a:ln w="25400" cap="flat" cmpd="sng">
            <a:noFill/>
            <a:prstDash val="solid"/>
            <a:round/>
          </a:ln>
          <a:effectLst>
            <a:outerShdw blurRad="1905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5" name="AutoShape 15"/>
          <p:cNvSpPr/>
          <p:nvPr/>
        </p:nvSpPr>
        <p:spPr>
          <a:xfrm>
            <a:off x="6096000" y="4762500"/>
            <a:ext cx="889000" cy="889000"/>
          </a:xfrm>
          <a:prstGeom prst="ellipse">
            <a:avLst/>
          </a:prstGeom>
          <a:solidFill>
            <a:srgbClr val="D40000">
              <a:alpha val="8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6500" y="4953000"/>
            <a:ext cx="508000" cy="508000"/>
          </a:xfrm>
          <a:prstGeom prst="rect">
            <a:avLst/>
          </a:prstGeom>
        </p:spPr>
      </p:pic>
      <p:sp>
        <p:nvSpPr>
          <p:cNvPr id="17" name="AutoShape 17"/>
          <p:cNvSpPr/>
          <p:nvPr/>
        </p:nvSpPr>
        <p:spPr>
          <a:xfrm>
            <a:off x="7239000" y="4724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Poppins"/>
                <a:ea typeface="Poppins"/>
                <a:cs typeface="Poppins"/>
                <a:sym typeface="Poppins"/>
              </a:rPr>
              <a:t>Reflection</a:t>
            </a:r>
            <a:endParaRPr lang="en-US" sz="1800" b="1" i="0" u="none" strike="noStrike">
              <a:solidFill>
                <a:srgbClr val="333333"/>
              </a:solidFill>
              <a:latin typeface="Poppins"/>
              <a:ea typeface="Poppins"/>
              <a:cs typeface="Poppins"/>
              <a:sym typeface="Poppins"/>
            </a:endParaRPr>
          </a:p>
        </p:txBody>
      </p:sp>
      <p:sp>
        <p:nvSpPr>
          <p:cNvPr id="18" name="AutoShape 18"/>
          <p:cNvSpPr/>
          <p:nvPr/>
        </p:nvSpPr>
        <p:spPr>
          <a:xfrm>
            <a:off x="7239000" y="5143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altLang="en-US" sz="1200" b="0" i="0" u="none" strike="noStrike">
                <a:solidFill>
                  <a:srgbClr val="555555"/>
                </a:solidFill>
                <a:latin typeface="Poppins"/>
                <a:ea typeface="Poppins"/>
                <a:cs typeface="Poppins"/>
                <a:sym typeface="Poppins"/>
              </a:rPr>
              <a:t>Learn from execution results, correct errors, and optimize strategies to achieve self-correction and continuous evolution</a:t>
            </a:r>
            <a:r>
              <a:rPr lang="en-US" sz="1200" b="0" i="0" u="none" strike="noStrike">
                <a:solidFill>
                  <a:srgbClr val="555555"/>
                </a:solidFill>
                <a:latin typeface="Poppins"/>
                <a:ea typeface="Poppins"/>
                <a:cs typeface="Poppins"/>
                <a:sym typeface="Poppins"/>
              </a:rPr>
              <a:t>.</a:t>
            </a:r>
            <a:endParaRPr lang="en-US" sz="1100"/>
          </a:p>
        </p:txBody>
      </p:sp>
      <p:sp>
        <p:nvSpPr>
          <p:cNvPr id="19" name="AutoShape 19"/>
          <p:cNvSpPr/>
          <p:nvPr/>
        </p:nvSpPr>
        <p:spPr>
          <a:xfrm>
            <a:off x="5842000" y="6032500"/>
            <a:ext cx="5334000" cy="571500"/>
          </a:xfrm>
          <a:prstGeom prst="roundRect">
            <a:avLst>
              <a:gd name="adj" fmla="val 22222"/>
            </a:avLst>
          </a:prstGeom>
          <a:solidFill>
            <a:srgbClr val="D40000">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032500" y="6121400"/>
            <a:ext cx="495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B40000"/>
                </a:solidFill>
                <a:latin typeface="Poppins"/>
                <a:ea typeface="Poppins"/>
                <a:cs typeface="Poppins"/>
                <a:sym typeface="Poppins"/>
              </a:rPr>
              <a:t>Without a powerful "Brain", an Agent cannot make sense of the world or take meaningful action.</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 Memory: Short-term vs. Long-term</a:t>
            </a:r>
            <a:endParaRPr lang="en-US" sz="1100"/>
          </a:p>
        </p:txBody>
      </p:sp>
      <p:sp>
        <p:nvSpPr>
          <p:cNvPr id="3" name="AutoShape 3"/>
          <p:cNvSpPr/>
          <p:nvPr/>
        </p:nvSpPr>
        <p:spPr>
          <a:xfrm>
            <a:off x="762000" y="1397000"/>
            <a:ext cx="4953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Poppins"/>
                <a:ea typeface="Poppins"/>
                <a:cs typeface="Poppins"/>
                <a:sym typeface="Poppins"/>
              </a:rPr>
              <a:t>Memory stores context, historical interactions, and business data. It is the cornerstone for enabling continuous learning and personalized responses in AI agents.</a:t>
            </a:r>
            <a:endParaRPr lang="en-US" sz="1100"/>
          </a:p>
        </p:txBody>
      </p:sp>
      <p:sp>
        <p:nvSpPr>
          <p:cNvPr id="4" name="AutoShape 4"/>
          <p:cNvSpPr/>
          <p:nvPr/>
        </p:nvSpPr>
        <p:spPr>
          <a:xfrm>
            <a:off x="762000" y="2413000"/>
            <a:ext cx="4953000" cy="1524000"/>
          </a:xfrm>
          <a:prstGeom prst="roundRect">
            <a:avLst>
              <a:gd name="adj" fmla="val 8333"/>
            </a:avLst>
          </a:prstGeom>
          <a:solidFill>
            <a:srgbClr val="F9F9F9">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nvSpPr>
        <p:spPr>
          <a:xfrm>
            <a:off x="762000" y="2413000"/>
            <a:ext cx="76200" cy="15240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667000"/>
            <a:ext cx="457200" cy="457200"/>
          </a:xfrm>
          <a:prstGeom prst="rect">
            <a:avLst/>
          </a:prstGeom>
        </p:spPr>
      </p:pic>
      <p:sp>
        <p:nvSpPr>
          <p:cNvPr id="7" name="AutoShape 7"/>
          <p:cNvSpPr/>
          <p:nvPr/>
        </p:nvSpPr>
        <p:spPr>
          <a:xfrm>
            <a:off x="1778000" y="2667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D40000"/>
                </a:solidFill>
                <a:latin typeface="Poppins"/>
                <a:ea typeface="Poppins"/>
                <a:cs typeface="Poppins"/>
                <a:sym typeface="Poppins"/>
              </a:rPr>
              <a:t>Short-term Memory</a:t>
            </a:r>
            <a:endParaRPr lang="en-US" sz="1100"/>
          </a:p>
        </p:txBody>
      </p:sp>
      <p:sp>
        <p:nvSpPr>
          <p:cNvPr id="8" name="AutoShape 8"/>
          <p:cNvSpPr/>
          <p:nvPr/>
        </p:nvSpPr>
        <p:spPr>
          <a:xfrm>
            <a:off x="1778000" y="3175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Resides within the LLM's context window, ensuring coherent understanding and response generation for the current conversation turn.</a:t>
            </a:r>
            <a:endParaRPr lang="en-US" sz="1100"/>
          </a:p>
        </p:txBody>
      </p:sp>
      <p:sp>
        <p:nvSpPr>
          <p:cNvPr id="9" name="AutoShape 9"/>
          <p:cNvSpPr/>
          <p:nvPr/>
        </p:nvSpPr>
        <p:spPr>
          <a:xfrm>
            <a:off x="762000" y="4191000"/>
            <a:ext cx="4953000" cy="1651000"/>
          </a:xfrm>
          <a:prstGeom prst="roundRect">
            <a:avLst>
              <a:gd name="adj" fmla="val 7692"/>
            </a:avLst>
          </a:prstGeom>
          <a:solidFill>
            <a:srgbClr val="F9F9F9">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nvSpPr>
        <p:spPr>
          <a:xfrm>
            <a:off x="762000" y="4191000"/>
            <a:ext cx="76200" cy="16510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4445000"/>
            <a:ext cx="457200" cy="457200"/>
          </a:xfrm>
          <a:prstGeom prst="rect">
            <a:avLst/>
          </a:prstGeom>
        </p:spPr>
      </p:pic>
      <p:sp>
        <p:nvSpPr>
          <p:cNvPr id="12" name="AutoShape 12"/>
          <p:cNvSpPr/>
          <p:nvPr/>
        </p:nvSpPr>
        <p:spPr>
          <a:xfrm>
            <a:off x="1778000" y="4445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D40000"/>
                </a:solidFill>
                <a:latin typeface="Poppins"/>
                <a:ea typeface="Poppins"/>
                <a:cs typeface="Poppins"/>
                <a:sym typeface="Poppins"/>
              </a:rPr>
              <a:t>Long-term Memory</a:t>
            </a:r>
            <a:endParaRPr lang="en-US" sz="1100"/>
          </a:p>
        </p:txBody>
      </p:sp>
      <p:sp>
        <p:nvSpPr>
          <p:cNvPr id="13" name="AutoShape 13"/>
          <p:cNvSpPr/>
          <p:nvPr/>
        </p:nvSpPr>
        <p:spPr>
          <a:xfrm>
            <a:off x="1778000" y="4953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An independent, persistent storage system. It summarizes and compresses short-term context to retain crucial information over extended periods.</a:t>
            </a:r>
            <a:endParaRPr lang="en-US" sz="1100"/>
          </a:p>
        </p:txBody>
      </p:sp>
      <p:sp>
        <p:nvSpPr>
          <p:cNvPr id="14" name="AutoShape 14"/>
          <p:cNvSpPr/>
          <p:nvPr/>
        </p:nvSpPr>
        <p:spPr>
          <a:xfrm>
            <a:off x="5969000" y="1524000"/>
            <a:ext cx="5334000" cy="4826000"/>
          </a:xfrm>
          <a:prstGeom prst="roundRect">
            <a:avLst>
              <a:gd name="adj" fmla="val 3947"/>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17145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Poppins"/>
                <a:ea typeface="Poppins"/>
                <a:cs typeface="Poppins"/>
                <a:sym typeface="Poppins"/>
              </a:rPr>
              <a:t>Architecture Data Flow</a:t>
            </a:r>
            <a:endParaRPr lang="en-US" sz="1100"/>
          </a:p>
        </p:txBody>
      </p:sp>
      <p:sp>
        <p:nvSpPr>
          <p:cNvPr id="16" name="AutoShape 16"/>
          <p:cNvSpPr/>
          <p:nvPr/>
        </p:nvSpPr>
        <p:spPr>
          <a:xfrm>
            <a:off x="6223000" y="2286000"/>
            <a:ext cx="1778000" cy="889000"/>
          </a:xfrm>
          <a:prstGeom prst="roundRect">
            <a:avLst>
              <a:gd name="adj" fmla="val 14285"/>
            </a:avLst>
          </a:prstGeom>
          <a:solidFill>
            <a:srgbClr val="E0E0E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2413000"/>
            <a:ext cx="177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555555"/>
                </a:solidFill>
                <a:latin typeface="Poppins"/>
                <a:ea typeface="Poppins"/>
                <a:cs typeface="Poppins"/>
                <a:sym typeface="Poppins"/>
              </a:rPr>
              <a:t>Current</a:t>
            </a:r>
            <a:br>
              <a:rPr lang="en-US" sz="1200" b="1" i="0" u="none" strike="noStrike">
                <a:solidFill>
                  <a:srgbClr val="555555"/>
                </a:solidFill>
                <a:latin typeface="Poppins"/>
                <a:ea typeface="Poppins"/>
                <a:cs typeface="Poppins"/>
                <a:sym typeface="Poppins"/>
              </a:rPr>
            </a:br>
            <a:r>
              <a:rPr lang="en-US" sz="1200" b="1" i="0" u="none" strike="noStrike">
                <a:solidFill>
                  <a:srgbClr val="555555"/>
                </a:solidFill>
                <a:latin typeface="Poppins"/>
                <a:ea typeface="Poppins"/>
                <a:cs typeface="Poppins"/>
                <a:sym typeface="Poppins"/>
              </a:rPr>
              <a:t>Conversation</a:t>
            </a:r>
            <a:endParaRPr lang="en-US" sz="1100"/>
          </a:p>
        </p:txBody>
      </p:sp>
      <p:cxnSp>
        <p:nvCxnSpPr>
          <p:cNvPr id="18" name="Connector 18"/>
          <p:cNvCxnSpPr/>
          <p:nvPr/>
        </p:nvCxnSpPr>
        <p:spPr>
          <a:xfrm rot="-85925">
            <a:off x="8128079" y="2724150"/>
            <a:ext cx="508000" cy="12700"/>
          </a:xfrm>
          <a:prstGeom prst="line">
            <a:avLst/>
          </a:prstGeom>
          <a:solidFill>
            <a:srgbClr val="DEE0E3">
              <a:alpha val="100000"/>
            </a:srgbClr>
          </a:solidFill>
          <a:ln w="25400" cap="flat" cmpd="sng">
            <a:solidFill>
              <a:srgbClr val="969696">
                <a:alpha val="100000"/>
              </a:srgbClr>
            </a:solidFill>
            <a:prstDash val="solid"/>
            <a:round/>
            <a:headEnd type="none" w="lg" len="lg"/>
            <a:tailEnd type="arrow" w="lg" len="lg"/>
          </a:ln>
        </p:spPr>
      </p:cxnSp>
      <p:sp>
        <p:nvSpPr>
          <p:cNvPr id="19" name="AutoShape 19"/>
          <p:cNvSpPr/>
          <p:nvPr/>
        </p:nvSpPr>
        <p:spPr>
          <a:xfrm>
            <a:off x="8763000" y="2286000"/>
            <a:ext cx="2032000" cy="889000"/>
          </a:xfrm>
          <a:prstGeom prst="roundRect">
            <a:avLst>
              <a:gd name="adj" fmla="val 14285"/>
            </a:avLst>
          </a:prstGeom>
          <a:solidFill>
            <a:srgbClr val="D40000">
              <a:alpha val="100000"/>
            </a:srgbClr>
          </a:solidFill>
          <a:ln w="25400" cap="flat" cmpd="sng">
            <a:noFill/>
            <a:prstDash val="solid"/>
            <a:round/>
          </a:ln>
          <a:effectLst>
            <a:outerShdw blurRad="76200" dist="38100" dir="2700000" algn="tl" rotWithShape="0">
              <a:srgbClr val="D40000">
                <a:alpha val="30000"/>
              </a:srgbClr>
            </a:outerShdw>
          </a:effectLst>
        </p:spPr>
        <p:txBody>
          <a:bodyPr vert="horz" wrap="square" lIns="63500" tIns="63500" rIns="63500" bIns="63500" rtlCol="0" anchor="ctr"/>
          <a:lstStyle/>
          <a:p>
            <a:pPr algn="ctr">
              <a:defRPr/>
            </a:pPr>
          </a:p>
        </p:txBody>
      </p:sp>
      <p:sp>
        <p:nvSpPr>
          <p:cNvPr id="20" name="AutoShape 20"/>
          <p:cNvSpPr/>
          <p:nvPr/>
        </p:nvSpPr>
        <p:spPr>
          <a:xfrm>
            <a:off x="8763000" y="2413000"/>
            <a:ext cx="203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Poppins"/>
                <a:ea typeface="Poppins"/>
                <a:cs typeface="Poppins"/>
                <a:sym typeface="Poppins"/>
              </a:rPr>
              <a:t>Short-term Memory</a:t>
            </a:r>
            <a:br>
              <a:rPr lang="en-US" sz="1200" b="1" i="0" u="none" strike="noStrike">
                <a:solidFill>
                  <a:srgbClr val="FFFFFF"/>
                </a:solidFill>
                <a:latin typeface="Poppins"/>
                <a:ea typeface="Poppins"/>
                <a:cs typeface="Poppins"/>
                <a:sym typeface="Poppins"/>
              </a:rPr>
            </a:br>
            <a:r>
              <a:rPr lang="en-US" sz="1200" b="1" i="0" u="none" strike="noStrike">
                <a:solidFill>
                  <a:srgbClr val="FFFFFF"/>
                </a:solidFill>
                <a:latin typeface="Poppins"/>
                <a:ea typeface="Poppins"/>
                <a:cs typeface="Poppins"/>
                <a:sym typeface="Poppins"/>
              </a:rPr>
              <a:t>(Context Window)</a:t>
            </a:r>
            <a:endParaRPr lang="en-US" sz="1100"/>
          </a:p>
        </p:txBody>
      </p:sp>
      <p:cxnSp>
        <p:nvCxnSpPr>
          <p:cNvPr id="21" name="Connector 21"/>
          <p:cNvCxnSpPr/>
          <p:nvPr/>
        </p:nvCxnSpPr>
        <p:spPr>
          <a:xfrm rot="5314074">
            <a:off x="9525000" y="3549729"/>
            <a:ext cx="508000" cy="12700"/>
          </a:xfrm>
          <a:prstGeom prst="line">
            <a:avLst/>
          </a:prstGeom>
          <a:solidFill>
            <a:srgbClr val="DEE0E3">
              <a:alpha val="100000"/>
            </a:srgbClr>
          </a:solidFill>
          <a:ln w="25400" cap="flat" cmpd="sng">
            <a:solidFill>
              <a:srgbClr val="646464">
                <a:alpha val="100000"/>
              </a:srgbClr>
            </a:solidFill>
            <a:prstDash val="dash"/>
            <a:round/>
            <a:headEnd type="none" w="lg" len="lg"/>
            <a:tailEnd type="arrow" w="lg" len="lg"/>
          </a:ln>
        </p:spPr>
      </p:cxnSp>
      <p:sp>
        <p:nvSpPr>
          <p:cNvPr id="22" name="AutoShape 22"/>
          <p:cNvSpPr/>
          <p:nvPr/>
        </p:nvSpPr>
        <p:spPr>
          <a:xfrm>
            <a:off x="7747000" y="3429000"/>
            <a:ext cx="1778000" cy="254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000" b="0" i="0" u="none" strike="noStrike">
                <a:solidFill>
                  <a:srgbClr val="787878"/>
                </a:solidFill>
                <a:latin typeface="Poppins"/>
                <a:ea typeface="Poppins"/>
                <a:cs typeface="Poppins"/>
                <a:sym typeface="Poppins"/>
              </a:rPr>
              <a:t>Summarization &amp; Compression</a:t>
            </a:r>
            <a:endParaRPr lang="en-US" sz="1100"/>
          </a:p>
        </p:txBody>
      </p:sp>
      <p:sp>
        <p:nvSpPr>
          <p:cNvPr id="23" name="AutoShape 23"/>
          <p:cNvSpPr/>
          <p:nvPr/>
        </p:nvSpPr>
        <p:spPr>
          <a:xfrm>
            <a:off x="6223000" y="3937000"/>
            <a:ext cx="4572000" cy="1016000"/>
          </a:xfrm>
          <a:prstGeom prst="roundRect">
            <a:avLst>
              <a:gd name="adj" fmla="val 12500"/>
            </a:avLst>
          </a:prstGeom>
          <a:solidFill>
            <a:srgbClr val="333333">
              <a:alpha val="100000"/>
            </a:srgbClr>
          </a:solidFill>
          <a:ln w="25400" cap="flat" cmpd="sng">
            <a:noFill/>
            <a:prstDash val="solid"/>
            <a:round/>
          </a:ln>
          <a:effectLst>
            <a:outerShdw blurRad="76200" dist="38100" dir="2700000" algn="tl" rotWithShape="0">
              <a:srgbClr val="000000">
                <a:alpha val="20000"/>
              </a:srgbClr>
            </a:outerShdw>
          </a:effectLst>
        </p:spPr>
        <p:txBody>
          <a:bodyPr vert="horz" wrap="square" lIns="63500" tIns="63500" rIns="63500" bIns="63500" rtlCol="0" anchor="ctr"/>
          <a:lstStyle/>
          <a:p>
            <a:pPr algn="ctr">
              <a:defRPr/>
            </a:pPr>
          </a:p>
        </p:txBody>
      </p:sp>
      <p:sp>
        <p:nvSpPr>
          <p:cNvPr id="24" name="AutoShape 24"/>
          <p:cNvSpPr/>
          <p:nvPr/>
        </p:nvSpPr>
        <p:spPr>
          <a:xfrm>
            <a:off x="6223000" y="4127500"/>
            <a:ext cx="457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Poppins"/>
                <a:ea typeface="Poppins"/>
                <a:cs typeface="Poppins"/>
                <a:sym typeface="Poppins"/>
              </a:rPr>
              <a:t>Long-term Memory (Persistent Storage)</a:t>
            </a:r>
            <a:endParaRPr lang="en-US" sz="1100"/>
          </a:p>
        </p:txBody>
      </p:sp>
      <p:cxnSp>
        <p:nvCxnSpPr>
          <p:cNvPr id="25" name="Connector 25"/>
          <p:cNvCxnSpPr/>
          <p:nvPr/>
        </p:nvCxnSpPr>
        <p:spPr>
          <a:xfrm rot="-5485925">
            <a:off x="9525000" y="4819571"/>
            <a:ext cx="508000" cy="12700"/>
          </a:xfrm>
          <a:prstGeom prst="line">
            <a:avLst/>
          </a:prstGeom>
          <a:solidFill>
            <a:srgbClr val="DEE0E3">
              <a:alpha val="100000"/>
            </a:srgbClr>
          </a:solidFill>
          <a:ln w="25400" cap="flat" cmpd="sng">
            <a:solidFill>
              <a:srgbClr val="D40000">
                <a:alpha val="100000"/>
              </a:srgbClr>
            </a:solidFill>
            <a:prstDash val="solid"/>
            <a:round/>
            <a:headEnd type="none" w="lg" len="lg"/>
            <a:tailEnd type="arrow" w="lg" len="lg"/>
          </a:ln>
        </p:spPr>
      </p:cxnSp>
      <p:sp>
        <p:nvSpPr>
          <p:cNvPr id="26" name="AutoShape 26"/>
          <p:cNvSpPr/>
          <p:nvPr/>
        </p:nvSpPr>
        <p:spPr>
          <a:xfrm>
            <a:off x="7747000" y="4953000"/>
            <a:ext cx="1778000" cy="254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000" b="1" i="0" u="none" strike="noStrike">
                <a:solidFill>
                  <a:srgbClr val="D40000"/>
                </a:solidFill>
                <a:latin typeface="Poppins"/>
                <a:ea typeface="Poppins"/>
                <a:cs typeface="Poppins"/>
                <a:sym typeface="Poppins"/>
              </a:rPr>
              <a:t>Recall for Context</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Agentic RAG: The Intelligent Upgrade</a:t>
            </a:r>
            <a:endParaRPr lang="en-US" sz="1100"/>
          </a:p>
        </p:txBody>
      </p:sp>
      <p:sp>
        <p:nvSpPr>
          <p:cNvPr id="3" name="AutoShape 3"/>
          <p:cNvSpPr/>
          <p:nvPr/>
        </p:nvSpPr>
        <p:spPr>
          <a:xfrm>
            <a:off x="762000" y="1524000"/>
            <a:ext cx="4826000" cy="1905000"/>
          </a:xfrm>
          <a:prstGeom prst="roundRect">
            <a:avLst>
              <a:gd name="adj" fmla="val 8000"/>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457200" cy="457200"/>
          </a:xfrm>
          <a:prstGeom prst="rect">
            <a:avLst/>
          </a:prstGeom>
        </p:spPr>
      </p:pic>
      <p:sp>
        <p:nvSpPr>
          <p:cNvPr id="5" name="AutoShape 5"/>
          <p:cNvSpPr/>
          <p:nvPr/>
        </p:nvSpPr>
        <p:spPr>
          <a:xfrm>
            <a:off x="1651000" y="171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D40000"/>
                </a:solidFill>
                <a:latin typeface="Poppins"/>
                <a:ea typeface="Poppins"/>
                <a:cs typeface="Poppins"/>
                <a:sym typeface="Poppins"/>
              </a:rPr>
              <a:t>CORE CONCEPT</a:t>
            </a:r>
            <a:endParaRPr lang="en-US" sz="1100"/>
          </a:p>
        </p:txBody>
      </p:sp>
      <p:sp>
        <p:nvSpPr>
          <p:cNvPr id="6" name="AutoShape 6"/>
          <p:cNvSpPr/>
          <p:nvPr/>
        </p:nvSpPr>
        <p:spPr>
          <a:xfrm>
            <a:off x="1016000" y="2286000"/>
            <a:ext cx="4318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55555"/>
                </a:solidFill>
                <a:latin typeface="Noto Sans SC"/>
                <a:ea typeface="Noto Sans SC"/>
                <a:cs typeface="Noto Sans SC"/>
                <a:sym typeface="Noto Sans SC"/>
              </a:rPr>
              <a:t>Agentic RAG is the "intelligent upgrade" of traditional RAG. It dynamically optimizes user queries, verifies retrieved information for accuracy, and autonomously decides whether to continue searching or synthesize an answer.</a:t>
            </a:r>
            <a:endParaRPr lang="en-US" sz="1100"/>
          </a:p>
        </p:txBody>
      </p:sp>
      <p:sp>
        <p:nvSpPr>
          <p:cNvPr id="7" name="AutoShape 7"/>
          <p:cNvSpPr/>
          <p:nvPr/>
        </p:nvSpPr>
        <p:spPr>
          <a:xfrm>
            <a:off x="762000" y="3683000"/>
            <a:ext cx="4826000" cy="1905000"/>
          </a:xfrm>
          <a:prstGeom prst="roundRect">
            <a:avLst>
              <a:gd name="adj" fmla="val 8000"/>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873500"/>
            <a:ext cx="457200" cy="457200"/>
          </a:xfrm>
          <a:prstGeom prst="rect">
            <a:avLst/>
          </a:prstGeom>
        </p:spPr>
      </p:pic>
      <p:sp>
        <p:nvSpPr>
          <p:cNvPr id="9" name="AutoShape 9"/>
          <p:cNvSpPr/>
          <p:nvPr/>
        </p:nvSpPr>
        <p:spPr>
          <a:xfrm>
            <a:off x="1651000" y="3873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D40000"/>
                </a:solidFill>
                <a:latin typeface="Poppins"/>
                <a:ea typeface="Poppins"/>
                <a:cs typeface="Poppins"/>
                <a:sym typeface="Poppins"/>
              </a:rPr>
              <a:t>PRACTICAL EXAMPLE</a:t>
            </a:r>
            <a:endParaRPr lang="en-US" sz="1100"/>
          </a:p>
        </p:txBody>
      </p:sp>
      <p:sp>
        <p:nvSpPr>
          <p:cNvPr id="10" name="AutoShape 10"/>
          <p:cNvSpPr/>
          <p:nvPr/>
        </p:nvSpPr>
        <p:spPr>
          <a:xfrm>
            <a:off x="1016000" y="4445000"/>
            <a:ext cx="4318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55555"/>
                </a:solidFill>
                <a:latin typeface="Noto Sans SC"/>
                <a:ea typeface="Noto Sans SC"/>
                <a:cs typeface="Noto Sans SC"/>
                <a:sym typeface="Noto Sans SC"/>
              </a:rPr>
              <a:t>Faced with multiple heterogeneous sources (Database, Knowledge Base, Web), the Agent evaluates the user's intent and automatically selects the most appropriate source to query, rather than a brute-force search of all.</a:t>
            </a:r>
            <a:endParaRPr lang="en-US" sz="1100"/>
          </a:p>
        </p:txBody>
      </p:sp>
      <p:sp>
        <p:nvSpPr>
          <p:cNvPr id="11" name="AutoShape 11"/>
          <p:cNvSpPr/>
          <p:nvPr/>
        </p:nvSpPr>
        <p:spPr>
          <a:xfrm>
            <a:off x="5842000" y="1524000"/>
            <a:ext cx="5588000" cy="4572000"/>
          </a:xfrm>
          <a:prstGeom prst="roundRect">
            <a:avLst>
              <a:gd name="adj" fmla="val 4444"/>
            </a:avLst>
          </a:prstGeom>
          <a:solidFill>
            <a:srgbClr val="F9F9F9">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2" name="AutoShape 12"/>
          <p:cNvSpPr/>
          <p:nvPr/>
        </p:nvSpPr>
        <p:spPr>
          <a:xfrm>
            <a:off x="5842000" y="1714500"/>
            <a:ext cx="558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Comic Sans Ms" panose="030F0902030302020204"/>
                <a:ea typeface="Comic Sans Ms" panose="030F0902030302020204"/>
                <a:cs typeface="Comic Sans Ms" panose="030F0902030302020204"/>
                <a:sym typeface="Comic Sans Ms" panose="030F0902030302020204"/>
              </a:rPr>
              <a:t>Agentic RAG Flow</a:t>
            </a:r>
            <a:endParaRPr lang="en-US" sz="1100"/>
          </a:p>
        </p:txBody>
      </p:sp>
      <p:sp>
        <p:nvSpPr>
          <p:cNvPr id="13" name="AutoShape 13"/>
          <p:cNvSpPr/>
          <p:nvPr/>
        </p:nvSpPr>
        <p:spPr>
          <a:xfrm>
            <a:off x="6223000" y="2286000"/>
            <a:ext cx="1651000" cy="635000"/>
          </a:xfrm>
          <a:prstGeom prst="ellipse">
            <a:avLst/>
          </a:prstGeom>
          <a:solidFill>
            <a:srgbClr val="D4000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Comic Sans Ms" panose="030F0902030302020204"/>
                <a:ea typeface="Comic Sans Ms" panose="030F0902030302020204"/>
                <a:cs typeface="Comic Sans Ms" panose="030F0902030302020204"/>
                <a:sym typeface="Comic Sans Ms" panose="030F0902030302020204"/>
              </a:rPr>
              <a:t>User Query</a:t>
            </a:r>
            <a:endParaRPr lang="en-US" sz="1100"/>
          </a:p>
        </p:txBody>
      </p:sp>
      <p:sp>
        <p:nvSpPr>
          <p:cNvPr id="14" name="AutoShape 14"/>
          <p:cNvSpPr/>
          <p:nvPr/>
        </p:nvSpPr>
        <p:spPr>
          <a:xfrm>
            <a:off x="8382000" y="2286000"/>
            <a:ext cx="1651000" cy="635000"/>
          </a:xfrm>
          <a:prstGeom prst="roundRect">
            <a:avLst>
              <a:gd name="adj" fmla="val 0"/>
            </a:avLst>
          </a:prstGeom>
          <a:solidFill>
            <a:srgbClr val="FFFFFF">
              <a:alpha val="10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Comic Sans Ms" panose="030F0902030302020204"/>
                <a:ea typeface="Comic Sans Ms" panose="030F0902030302020204"/>
                <a:cs typeface="Comic Sans Ms" panose="030F0902030302020204"/>
                <a:sym typeface="Comic Sans Ms" panose="030F0902030302020204"/>
              </a:rPr>
              <a:t>Agent (LLM)</a:t>
            </a:r>
            <a:endParaRPr lang="en-US" sz="1100"/>
          </a:p>
        </p:txBody>
      </p:sp>
      <p:sp>
        <p:nvSpPr>
          <p:cNvPr id="15" name="AutoShape 15"/>
          <p:cNvSpPr/>
          <p:nvPr/>
        </p:nvSpPr>
        <p:spPr>
          <a:xfrm>
            <a:off x="6223000" y="3302000"/>
            <a:ext cx="1905000" cy="762000"/>
          </a:xfrm>
          <a:prstGeom prst="diamond">
            <a:avLst/>
          </a:prstGeom>
          <a:solidFill>
            <a:srgbClr val="FFFFFF">
              <a:alpha val="100000"/>
            </a:srgbClr>
          </a:solidFill>
          <a:ln w="25400" cap="flat" cmpd="sng">
            <a:solidFill>
              <a:srgbClr val="333333">
                <a:alpha val="100000"/>
              </a:srgbClr>
            </a:solid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333333"/>
                </a:solidFill>
                <a:latin typeface="Comic Sans Ms" panose="030F0902030302020204"/>
                <a:ea typeface="Comic Sans Ms" panose="030F0902030302020204"/>
                <a:cs typeface="Comic Sans Ms" panose="030F0902030302020204"/>
                <a:sym typeface="Comic Sans Ms" panose="030F0902030302020204"/>
              </a:rPr>
              <a:t>Optimize Query?</a:t>
            </a:r>
            <a:endParaRPr lang="en-US" sz="1100"/>
          </a:p>
        </p:txBody>
      </p:sp>
      <p:sp>
        <p:nvSpPr>
          <p:cNvPr id="16" name="AutoShape 16"/>
          <p:cNvSpPr/>
          <p:nvPr/>
        </p:nvSpPr>
        <p:spPr>
          <a:xfrm>
            <a:off x="6223000" y="4318000"/>
            <a:ext cx="1905000" cy="635000"/>
          </a:xfrm>
          <a:prstGeom prst="roundRect">
            <a:avLst>
              <a:gd name="adj" fmla="val 0"/>
            </a:avLst>
          </a:prstGeom>
          <a:solidFill>
            <a:srgbClr val="EBEBEB">
              <a:alpha val="100000"/>
            </a:srgbClr>
          </a:solidFill>
          <a:ln w="12700" cap="flat" cmpd="sng">
            <a:solidFill>
              <a:srgbClr val="333333">
                <a:alpha val="100000"/>
              </a:srgbClr>
            </a:solid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333333"/>
                </a:solidFill>
                <a:latin typeface="Comic Sans Ms" panose="030F0902030302020204"/>
                <a:ea typeface="Comic Sans Ms" panose="030F0902030302020204"/>
                <a:cs typeface="Comic Sans Ms" panose="030F0902030302020204"/>
                <a:sym typeface="Comic Sans Ms" panose="030F0902030302020204"/>
              </a:rPr>
              <a:t>Query Sources</a:t>
            </a:r>
            <a:br>
              <a:rPr lang="en-US" sz="1100" b="0" i="0" u="none" strike="noStrike">
                <a:solidFill>
                  <a:srgbClr val="333333"/>
                </a:solidFill>
                <a:latin typeface="Comic Sans Ms" panose="030F0902030302020204"/>
                <a:ea typeface="Comic Sans Ms" panose="030F0902030302020204"/>
                <a:cs typeface="Comic Sans Ms" panose="030F0902030302020204"/>
                <a:sym typeface="Comic Sans Ms" panose="030F0902030302020204"/>
              </a:rPr>
            </a:br>
            <a:r>
              <a:rPr lang="en-US" sz="1100" b="0" i="0" u="none" strike="noStrike">
                <a:solidFill>
                  <a:srgbClr val="333333"/>
                </a:solidFill>
                <a:latin typeface="Comic Sans Ms" panose="030F0902030302020204"/>
                <a:ea typeface="Comic Sans Ms" panose="030F0902030302020204"/>
                <a:cs typeface="Comic Sans Ms" panose="030F0902030302020204"/>
                <a:sym typeface="Comic Sans Ms" panose="030F0902030302020204"/>
              </a:rPr>
              <a:t>(DB, KB, Web)</a:t>
            </a:r>
            <a:endParaRPr lang="en-US" sz="1100"/>
          </a:p>
        </p:txBody>
      </p:sp>
      <p:sp>
        <p:nvSpPr>
          <p:cNvPr id="17" name="AutoShape 17"/>
          <p:cNvSpPr/>
          <p:nvPr/>
        </p:nvSpPr>
        <p:spPr>
          <a:xfrm>
            <a:off x="8382000" y="3302000"/>
            <a:ext cx="1905000" cy="762000"/>
          </a:xfrm>
          <a:prstGeom prst="diamond">
            <a:avLst/>
          </a:prstGeom>
          <a:solidFill>
            <a:srgbClr val="FFFFFF">
              <a:alpha val="100000"/>
            </a:srgbClr>
          </a:solidFill>
          <a:ln w="25400" cap="flat" cmpd="sng">
            <a:solidFill>
              <a:srgbClr val="333333">
                <a:alpha val="100000"/>
              </a:srgbClr>
            </a:solid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333333"/>
                </a:solidFill>
                <a:latin typeface="Comic Sans Ms" panose="030F0902030302020204"/>
                <a:ea typeface="Comic Sans Ms" panose="030F0902030302020204"/>
                <a:cs typeface="Comic Sans Ms" panose="030F0902030302020204"/>
                <a:sym typeface="Comic Sans Ms" panose="030F0902030302020204"/>
              </a:rPr>
              <a:t>Info Sufficient?</a:t>
            </a:r>
            <a:endParaRPr lang="en-US" sz="1100"/>
          </a:p>
        </p:txBody>
      </p:sp>
      <p:sp>
        <p:nvSpPr>
          <p:cNvPr id="18" name="AutoShape 18"/>
          <p:cNvSpPr/>
          <p:nvPr/>
        </p:nvSpPr>
        <p:spPr>
          <a:xfrm>
            <a:off x="8382000" y="4445000"/>
            <a:ext cx="1905000" cy="635000"/>
          </a:xfrm>
          <a:prstGeom prst="ellipse">
            <a:avLst/>
          </a:prstGeom>
          <a:solidFill>
            <a:srgbClr val="333333">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Comic Sans Ms" panose="030F0902030302020204"/>
                <a:ea typeface="Comic Sans Ms" panose="030F0902030302020204"/>
                <a:cs typeface="Comic Sans Ms" panose="030F0902030302020204"/>
                <a:sym typeface="Comic Sans Ms" panose="030F0902030302020204"/>
              </a:rPr>
              <a:t>Generate Answer</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MCP Protocol: The Universal Connector</a:t>
            </a:r>
            <a:endParaRPr lang="en-US" sz="1100"/>
          </a:p>
        </p:txBody>
      </p:sp>
      <p:sp>
        <p:nvSpPr>
          <p:cNvPr id="3" name="AutoShape 3"/>
          <p:cNvSpPr/>
          <p:nvPr/>
        </p:nvSpPr>
        <p:spPr>
          <a:xfrm>
            <a:off x="762000" y="1524000"/>
            <a:ext cx="4318000" cy="4572000"/>
          </a:xfrm>
          <a:prstGeom prst="roundRect">
            <a:avLst>
              <a:gd name="adj" fmla="val 4705"/>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7780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spc="100">
                <a:solidFill>
                  <a:srgbClr val="D40000"/>
                </a:solidFill>
                <a:latin typeface="Poppins"/>
                <a:ea typeface="Poppins"/>
                <a:cs typeface="Poppins"/>
                <a:sym typeface="Poppins"/>
              </a:rPr>
              <a:t>WHAT IS MCP?</a:t>
            </a:r>
            <a:endParaRPr lang="en-US" sz="1100"/>
          </a:p>
        </p:txBody>
      </p:sp>
      <p:sp>
        <p:nvSpPr>
          <p:cNvPr id="5" name="AutoShape 5"/>
          <p:cNvSpPr/>
          <p:nvPr/>
        </p:nvSpPr>
        <p:spPr>
          <a:xfrm>
            <a:off x="1016000" y="2159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Poppins"/>
                <a:ea typeface="Poppins"/>
                <a:cs typeface="Poppins"/>
                <a:sym typeface="Poppins"/>
              </a:rPr>
              <a:t>Model Communication Protocol</a:t>
            </a:r>
            <a:endParaRPr lang="en-US" sz="1100"/>
          </a:p>
        </p:txBody>
      </p:sp>
      <p:sp>
        <p:nvSpPr>
          <p:cNvPr id="6" name="AutoShape 6"/>
          <p:cNvSpPr/>
          <p:nvPr/>
        </p:nvSpPr>
        <p:spPr>
          <a:xfrm>
            <a:off x="1016000" y="2667000"/>
            <a:ext cx="3810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Noto Sans SC"/>
                <a:ea typeface="Noto Sans SC"/>
                <a:cs typeface="Noto Sans SC"/>
                <a:sym typeface="Noto Sans SC"/>
              </a:rPr>
              <a:t>A unified standard that acts as a central "translator" between AI applications and external resources. It eliminates the need for custom integrations, enabling seamless and standardized communication.</a:t>
            </a:r>
            <a:endParaRPr lang="en-US" sz="1100"/>
          </a:p>
        </p:txBody>
      </p:sp>
      <p:sp>
        <p:nvSpPr>
          <p:cNvPr id="7" name="AutoShape 7"/>
          <p:cNvSpPr/>
          <p:nvPr/>
        </p:nvSpPr>
        <p:spPr>
          <a:xfrm>
            <a:off x="1016000" y="3683000"/>
            <a:ext cx="3810000" cy="762000"/>
          </a:xfrm>
          <a:prstGeom prst="roundRect">
            <a:avLst>
              <a:gd name="adj" fmla="val 13333"/>
            </a:avLst>
          </a:prstGeom>
          <a:solidFill>
            <a:srgbClr val="FFFFFF">
              <a:alpha val="100000"/>
            </a:srgbClr>
          </a:solidFill>
          <a:ln w="25400" cap="flat" cmpd="sng">
            <a:noFill/>
            <a:prstDash val="solid"/>
            <a:round/>
          </a:ln>
          <a:effectLst>
            <a:outerShdw blurRad="127000" dist="50800" dir="2700000" algn="tl" rotWithShape="0">
              <a:srgbClr val="000000">
                <a:alpha val="4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3873500"/>
            <a:ext cx="381000" cy="381000"/>
          </a:xfrm>
          <a:prstGeom prst="rect">
            <a:avLst/>
          </a:prstGeom>
        </p:spPr>
      </p:pic>
      <p:sp>
        <p:nvSpPr>
          <p:cNvPr id="9" name="AutoShape 9"/>
          <p:cNvSpPr/>
          <p:nvPr/>
        </p:nvSpPr>
        <p:spPr>
          <a:xfrm>
            <a:off x="1778000" y="3810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Standardization</a:t>
            </a:r>
            <a:endParaRPr lang="en-US" sz="1100"/>
          </a:p>
          <a:p>
            <a:pPr indent="0" algn="l">
              <a:lnSpc>
                <a:spcPct val="125000"/>
              </a:lnSpc>
            </a:pPr>
            <a:r>
              <a:rPr lang="en-US" sz="1100" b="0" i="0" u="none" strike="noStrike">
                <a:solidFill>
                  <a:srgbClr val="969696"/>
                </a:solidFill>
                <a:latin typeface="Noto Sans SC"/>
                <a:ea typeface="Noto Sans SC"/>
                <a:cs typeface="Noto Sans SC"/>
                <a:sym typeface="Noto Sans SC"/>
              </a:rPr>
              <a:t>One protocol for all AI integrations</a:t>
            </a:r>
            <a:endParaRPr lang="en-US" sz="1100" b="0" i="0" u="none" strike="noStrike">
              <a:solidFill>
                <a:srgbClr val="969696"/>
              </a:solidFill>
              <a:latin typeface="Noto Sans SC"/>
              <a:ea typeface="Noto Sans SC"/>
              <a:cs typeface="Noto Sans SC"/>
              <a:sym typeface="Noto Sans SC"/>
            </a:endParaRPr>
          </a:p>
        </p:txBody>
      </p:sp>
      <p:sp>
        <p:nvSpPr>
          <p:cNvPr id="10" name="AutoShape 10"/>
          <p:cNvSpPr/>
          <p:nvPr/>
        </p:nvSpPr>
        <p:spPr>
          <a:xfrm>
            <a:off x="1016000" y="4699000"/>
            <a:ext cx="3810000" cy="762000"/>
          </a:xfrm>
          <a:prstGeom prst="roundRect">
            <a:avLst>
              <a:gd name="adj" fmla="val 13333"/>
            </a:avLst>
          </a:prstGeom>
          <a:solidFill>
            <a:srgbClr val="FFFFFF">
              <a:alpha val="100000"/>
            </a:srgbClr>
          </a:solidFill>
          <a:ln w="25400" cap="flat" cmpd="sng">
            <a:noFill/>
            <a:prstDash val="solid"/>
            <a:round/>
          </a:ln>
          <a:effectLst>
            <a:outerShdw blurRad="127000" dist="50800" dir="2700000" algn="tl" rotWithShape="0">
              <a:srgbClr val="000000">
                <a:alpha val="4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4889500"/>
            <a:ext cx="381000" cy="381000"/>
          </a:xfrm>
          <a:prstGeom prst="rect">
            <a:avLst/>
          </a:prstGeom>
        </p:spPr>
      </p:pic>
      <p:sp>
        <p:nvSpPr>
          <p:cNvPr id="12" name="AutoShape 12"/>
          <p:cNvSpPr/>
          <p:nvPr/>
        </p:nvSpPr>
        <p:spPr>
          <a:xfrm>
            <a:off x="1778000" y="4826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Flexibility</a:t>
            </a:r>
            <a:endParaRPr lang="en-US" sz="1100"/>
          </a:p>
          <a:p>
            <a:pPr indent="0" algn="l">
              <a:lnSpc>
                <a:spcPct val="125000"/>
              </a:lnSpc>
            </a:pPr>
            <a:r>
              <a:rPr lang="en-US" sz="1100" b="0" i="0" u="none" strike="noStrike">
                <a:solidFill>
                  <a:srgbClr val="969696"/>
                </a:solidFill>
                <a:latin typeface="Noto Sans SC"/>
                <a:ea typeface="Noto Sans SC"/>
                <a:cs typeface="Noto Sans SC"/>
                <a:sym typeface="Noto Sans SC"/>
              </a:rPr>
              <a:t>Easily plug in new apps or tools</a:t>
            </a:r>
            <a:endParaRPr lang="en-US" sz="1100" b="0" i="0" u="none" strike="noStrike">
              <a:solidFill>
                <a:srgbClr val="969696"/>
              </a:solidFill>
              <a:latin typeface="Noto Sans SC"/>
              <a:ea typeface="Noto Sans SC"/>
              <a:cs typeface="Noto Sans SC"/>
              <a:sym typeface="Noto Sans SC"/>
            </a:endParaRPr>
          </a:p>
        </p:txBody>
      </p:sp>
      <p:sp>
        <p:nvSpPr>
          <p:cNvPr id="13" name="AutoShape 13"/>
          <p:cNvSpPr/>
          <p:nvPr/>
        </p:nvSpPr>
        <p:spPr>
          <a:xfrm>
            <a:off x="5588000" y="1778000"/>
            <a:ext cx="1778000" cy="762000"/>
          </a:xfrm>
          <a:prstGeom prst="roundRect">
            <a:avLst>
              <a:gd name="adj" fmla="val 0"/>
            </a:avLst>
          </a:prstGeom>
          <a:solidFill>
            <a:srgbClr val="FFFFFF">
              <a:alpha val="10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33333"/>
                </a:solidFill>
                <a:latin typeface="Indie Flower"/>
                <a:ea typeface="Indie Flower"/>
                <a:cs typeface="Indie Flower"/>
                <a:sym typeface="Indie Flower"/>
              </a:rPr>
              <a:t>AI App A</a:t>
            </a:r>
            <a:endParaRPr lang="en-US" sz="1100"/>
          </a:p>
        </p:txBody>
      </p:sp>
      <p:sp>
        <p:nvSpPr>
          <p:cNvPr id="14" name="AutoShape 14"/>
          <p:cNvSpPr/>
          <p:nvPr/>
        </p:nvSpPr>
        <p:spPr>
          <a:xfrm>
            <a:off x="5588000" y="2794000"/>
            <a:ext cx="1778000" cy="762000"/>
          </a:xfrm>
          <a:prstGeom prst="roundRect">
            <a:avLst>
              <a:gd name="adj" fmla="val 0"/>
            </a:avLst>
          </a:prstGeom>
          <a:solidFill>
            <a:srgbClr val="FFFFFF">
              <a:alpha val="10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33333"/>
                </a:solidFill>
                <a:latin typeface="Indie Flower"/>
                <a:ea typeface="Indie Flower"/>
                <a:cs typeface="Indie Flower"/>
                <a:sym typeface="Indie Flower"/>
              </a:rPr>
              <a:t>AI App B</a:t>
            </a:r>
            <a:endParaRPr lang="en-US" sz="1100"/>
          </a:p>
        </p:txBody>
      </p:sp>
      <p:sp>
        <p:nvSpPr>
          <p:cNvPr id="15" name="AutoShape 15"/>
          <p:cNvSpPr/>
          <p:nvPr/>
        </p:nvSpPr>
        <p:spPr>
          <a:xfrm>
            <a:off x="5588000" y="3810000"/>
            <a:ext cx="1778000" cy="762000"/>
          </a:xfrm>
          <a:prstGeom prst="roundRect">
            <a:avLst>
              <a:gd name="adj" fmla="val 0"/>
            </a:avLst>
          </a:prstGeom>
          <a:solidFill>
            <a:srgbClr val="FFFFFF">
              <a:alpha val="10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33333"/>
                </a:solidFill>
                <a:latin typeface="Indie Flower"/>
                <a:ea typeface="Indie Flower"/>
                <a:cs typeface="Indie Flower"/>
                <a:sym typeface="Indie Flower"/>
              </a:rPr>
              <a:t>AI App C</a:t>
            </a:r>
            <a:endParaRPr lang="en-US" sz="1100"/>
          </a:p>
        </p:txBody>
      </p:sp>
      <p:sp>
        <p:nvSpPr>
          <p:cNvPr id="16" name="AutoShape 16"/>
          <p:cNvSpPr/>
          <p:nvPr/>
        </p:nvSpPr>
        <p:spPr>
          <a:xfrm>
            <a:off x="7620000" y="2286000"/>
            <a:ext cx="2032000" cy="1270000"/>
          </a:xfrm>
          <a:prstGeom prst="roundRect">
            <a:avLst>
              <a:gd name="adj" fmla="val 0"/>
            </a:avLst>
          </a:prstGeom>
          <a:solidFill>
            <a:srgbClr val="FEF2F2">
              <a:alpha val="100000"/>
            </a:srgbClr>
          </a:solidFill>
          <a:ln w="381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D40000"/>
                </a:solidFill>
                <a:latin typeface="Indie Flower"/>
                <a:ea typeface="Indie Flower"/>
                <a:cs typeface="Indie Flower"/>
                <a:sym typeface="Indie Flower"/>
              </a:rPr>
              <a:t>MCP Server</a:t>
            </a:r>
            <a:endParaRPr lang="en-US" sz="1100"/>
          </a:p>
          <a:p>
            <a:pPr indent="0" algn="ctr">
              <a:lnSpc>
                <a:spcPct val="125000"/>
              </a:lnSpc>
            </a:pPr>
            <a:r>
              <a:rPr lang="en-US" sz="1200" b="0" i="0" u="none" strike="noStrike">
                <a:solidFill>
                  <a:srgbClr val="D40000"/>
                </a:solidFill>
                <a:latin typeface="Indie Flower"/>
                <a:ea typeface="Indie Flower"/>
                <a:cs typeface="Indie Flower"/>
                <a:sym typeface="Indie Flower"/>
              </a:rPr>
              <a:t>(Universal Connector)</a:t>
            </a:r>
            <a:endParaRPr lang="en-US" sz="1200" b="0" i="0" u="none" strike="noStrike">
              <a:solidFill>
                <a:srgbClr val="D40000"/>
              </a:solidFill>
              <a:latin typeface="Indie Flower"/>
              <a:ea typeface="Indie Flower"/>
              <a:cs typeface="Indie Flower"/>
              <a:sym typeface="Indie Flower"/>
            </a:endParaRPr>
          </a:p>
        </p:txBody>
      </p:sp>
      <p:sp>
        <p:nvSpPr>
          <p:cNvPr id="17" name="AutoShape 17"/>
          <p:cNvSpPr/>
          <p:nvPr/>
        </p:nvSpPr>
        <p:spPr>
          <a:xfrm>
            <a:off x="9906000" y="1778000"/>
            <a:ext cx="1778000" cy="762000"/>
          </a:xfrm>
          <a:prstGeom prst="roundRect">
            <a:avLst>
              <a:gd name="adj" fmla="val 0"/>
            </a:avLst>
          </a:prstGeom>
          <a:solidFill>
            <a:srgbClr val="FFFFFF">
              <a:alpha val="10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33333"/>
                </a:solidFill>
                <a:latin typeface="Indie Flower"/>
                <a:ea typeface="Indie Flower"/>
                <a:cs typeface="Indie Flower"/>
                <a:sym typeface="Indie Flower"/>
              </a:rPr>
              <a:t>Tool 1</a:t>
            </a:r>
            <a:endParaRPr lang="en-US" sz="1100"/>
          </a:p>
        </p:txBody>
      </p:sp>
      <p:sp>
        <p:nvSpPr>
          <p:cNvPr id="18" name="AutoShape 18"/>
          <p:cNvSpPr/>
          <p:nvPr/>
        </p:nvSpPr>
        <p:spPr>
          <a:xfrm>
            <a:off x="9906000" y="2794000"/>
            <a:ext cx="1778000" cy="762000"/>
          </a:xfrm>
          <a:prstGeom prst="roundRect">
            <a:avLst>
              <a:gd name="adj" fmla="val 0"/>
            </a:avLst>
          </a:prstGeom>
          <a:solidFill>
            <a:srgbClr val="FFFFFF">
              <a:alpha val="10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33333"/>
                </a:solidFill>
                <a:latin typeface="Indie Flower"/>
                <a:ea typeface="Indie Flower"/>
                <a:cs typeface="Indie Flower"/>
                <a:sym typeface="Indie Flower"/>
              </a:rPr>
              <a:t>Database</a:t>
            </a:r>
            <a:endParaRPr lang="en-US" sz="1100"/>
          </a:p>
        </p:txBody>
      </p:sp>
      <p:sp>
        <p:nvSpPr>
          <p:cNvPr id="19" name="AutoShape 19"/>
          <p:cNvSpPr/>
          <p:nvPr/>
        </p:nvSpPr>
        <p:spPr>
          <a:xfrm>
            <a:off x="9906000" y="3810000"/>
            <a:ext cx="1778000" cy="762000"/>
          </a:xfrm>
          <a:prstGeom prst="roundRect">
            <a:avLst>
              <a:gd name="adj" fmla="val 0"/>
            </a:avLst>
          </a:prstGeom>
          <a:solidFill>
            <a:srgbClr val="FFFFFF">
              <a:alpha val="10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33333"/>
                </a:solidFill>
                <a:latin typeface="Indie Flower"/>
                <a:ea typeface="Indie Flower"/>
                <a:cs typeface="Indie Flower"/>
                <a:sym typeface="Indie Flower"/>
              </a:rPr>
              <a:t>API</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 Skills: From Generalist to Expert</a:t>
            </a:r>
            <a:endParaRPr lang="en-US" sz="1100"/>
          </a:p>
        </p:txBody>
      </p:sp>
      <p:sp>
        <p:nvSpPr>
          <p:cNvPr id="3" name="AutoShape 3"/>
          <p:cNvSpPr/>
          <p:nvPr/>
        </p:nvSpPr>
        <p:spPr>
          <a:xfrm>
            <a:off x="762000" y="1397000"/>
            <a:ext cx="10668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666666"/>
                </a:solidFill>
                <a:latin typeface="Poppins"/>
                <a:ea typeface="Poppins"/>
                <a:cs typeface="Poppins"/>
                <a:sym typeface="Poppins"/>
              </a:rPr>
              <a:t>Skills are the key to upgrading a model from "pure text generation" to "task execution". Each Skill encapsulates domain knowledge, workflows, and tools for a specific business task, turning a generalist into a specialist.</a:t>
            </a:r>
            <a:endParaRPr lang="en-US" sz="1100"/>
          </a:p>
        </p:txBody>
      </p:sp>
      <p:sp>
        <p:nvSpPr>
          <p:cNvPr id="4" name="AutoShape 4"/>
          <p:cNvSpPr/>
          <p:nvPr/>
        </p:nvSpPr>
        <p:spPr>
          <a:xfrm>
            <a:off x="762000" y="2540000"/>
            <a:ext cx="3810000" cy="2794000"/>
          </a:xfrm>
          <a:prstGeom prst="roundRect">
            <a:avLst>
              <a:gd name="adj" fmla="val 5454"/>
            </a:avLst>
          </a:prstGeom>
          <a:solidFill>
            <a:srgbClr val="F0F8FF">
              <a:alpha val="100000"/>
            </a:srgbClr>
          </a:solidFill>
          <a:ln w="25400" cap="flat" cmpd="sng">
            <a:solidFill>
              <a:srgbClr val="0066CC">
                <a:alpha val="100000"/>
              </a:srgbClr>
            </a:solidFill>
            <a:prstDash val="dash"/>
            <a:round/>
          </a:ln>
        </p:spPr>
        <p:txBody>
          <a:bodyPr vert="horz" wrap="square" lIns="0" tIns="0" rIns="0" bIns="0" rtlCol="0" anchor="ctr" anchorCtr="0"/>
          <a:lstStyle/>
          <a:p>
            <a:pPr indent="0" algn="ctr">
              <a:lnSpc>
                <a:spcPct val="125000"/>
              </a:lnSpc>
              <a:defRPr/>
            </a:pPr>
            <a:r>
              <a:rPr lang="en-US" sz="1800" b="1" i="0" u="none" strike="noStrike">
                <a:solidFill>
                  <a:srgbClr val="0066CC"/>
                </a:solidFill>
                <a:latin typeface="Indie Flower"/>
                <a:ea typeface="Indie Flower"/>
                <a:cs typeface="Indie Flower"/>
                <a:sym typeface="Indie Flower"/>
              </a:rPr>
              <a:t>General-Purpose LLM</a:t>
            </a:r>
            <a:endParaRPr lang="en-US" sz="1100"/>
          </a:p>
          <a:p>
            <a:pPr indent="0" algn="ctr">
              <a:lnSpc>
                <a:spcPct val="125000"/>
              </a:lnSpc>
            </a:pPr>
            <a:r>
              <a:rPr lang="en-US" sz="1400" b="1" i="0" u="none" strike="noStrike">
                <a:solidFill>
                  <a:srgbClr val="666666"/>
                </a:solidFill>
                <a:latin typeface="Indie Flower"/>
                <a:ea typeface="Indie Flower"/>
                <a:cs typeface="Indie Flower"/>
                <a:sym typeface="Indie Flower"/>
              </a:rPr>
              <a:t>Pure text generation</a:t>
            </a:r>
            <a:endParaRPr lang="en-US" sz="1400" b="1" i="0" u="none" strike="noStrike">
              <a:solidFill>
                <a:srgbClr val="666666"/>
              </a:solidFill>
              <a:latin typeface="Indie Flower"/>
              <a:ea typeface="Indie Flower"/>
              <a:cs typeface="Indie Flower"/>
              <a:sym typeface="Indie Flower"/>
            </a:endParaRPr>
          </a:p>
          <a:p>
            <a:pPr indent="0" algn="ctr">
              <a:lnSpc>
                <a:spcPct val="125000"/>
              </a:lnSpc>
            </a:pPr>
            <a:r>
              <a:rPr lang="en-US" sz="1400" b="1" i="0" u="none" strike="noStrike">
                <a:solidFill>
                  <a:srgbClr val="666666"/>
                </a:solidFill>
                <a:latin typeface="Indie Flower"/>
                <a:ea typeface="Indie Flower"/>
                <a:cs typeface="Indie Flower"/>
                <a:sym typeface="Indie Flower"/>
              </a:rPr>
              <a:t>No domain focus</a:t>
            </a:r>
            <a:endParaRPr lang="en-US" sz="1400" b="1" i="0" u="none" strike="noStrike">
              <a:solidFill>
                <a:srgbClr val="666666"/>
              </a:solidFill>
              <a:latin typeface="Indie Flower"/>
              <a:ea typeface="Indie Flower"/>
              <a:cs typeface="Indie Flower"/>
              <a:sym typeface="Indie Flower"/>
            </a:endParaR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26000" y="3683000"/>
            <a:ext cx="508000" cy="508000"/>
          </a:xfrm>
          <a:prstGeom prst="rect">
            <a:avLst/>
          </a:prstGeom>
        </p:spPr>
      </p:pic>
      <p:sp>
        <p:nvSpPr>
          <p:cNvPr id="6" name="AutoShape 6"/>
          <p:cNvSpPr/>
          <p:nvPr/>
        </p:nvSpPr>
        <p:spPr>
          <a:xfrm>
            <a:off x="5588000" y="2540000"/>
            <a:ext cx="3810000" cy="2794000"/>
          </a:xfrm>
          <a:prstGeom prst="roundRect">
            <a:avLst>
              <a:gd name="adj" fmla="val 5454"/>
            </a:avLst>
          </a:prstGeom>
          <a:solidFill>
            <a:srgbClr val="FFF8F0">
              <a:alpha val="100000"/>
            </a:srgbClr>
          </a:solidFill>
          <a:ln w="25400" cap="flat" cmpd="sng">
            <a:solidFill>
              <a:srgbClr val="FF8C00">
                <a:alpha val="100000"/>
              </a:srgbClr>
            </a:solid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8C00"/>
                </a:solidFill>
                <a:latin typeface="Indie Flower"/>
                <a:ea typeface="Indie Flower"/>
                <a:cs typeface="Indie Flower"/>
                <a:sym typeface="Indie Flower"/>
              </a:rPr>
              <a:t>Domain Expert Agent</a:t>
            </a:r>
            <a:endParaRPr lang="en-US" sz="1100"/>
          </a:p>
          <a:p>
            <a:pPr indent="0" algn="ctr">
              <a:lnSpc>
                <a:spcPct val="125000"/>
              </a:lnSpc>
            </a:pPr>
            <a:r>
              <a:rPr lang="en-US" sz="1400" b="1" i="0" u="none" strike="noStrike">
                <a:solidFill>
                  <a:srgbClr val="666666"/>
                </a:solidFill>
                <a:latin typeface="Indie Flower"/>
                <a:ea typeface="Indie Flower"/>
                <a:cs typeface="Indie Flower"/>
                <a:sym typeface="Indie Flower"/>
              </a:rPr>
              <a:t>+ Skill: "Customer Onboarding"</a:t>
            </a:r>
            <a:endParaRPr lang="en-US" sz="1400" b="1" i="0" u="none" strike="noStrike">
              <a:solidFill>
                <a:srgbClr val="666666"/>
              </a:solidFill>
              <a:latin typeface="Indie Flower"/>
              <a:ea typeface="Indie Flower"/>
              <a:cs typeface="Indie Flower"/>
              <a:sym typeface="Indie Flower"/>
            </a:endParaRPr>
          </a:p>
          <a:p>
            <a:pPr indent="0" algn="ctr">
              <a:lnSpc>
                <a:spcPct val="125000"/>
              </a:lnSpc>
            </a:pPr>
            <a:r>
              <a:rPr lang="en-US" sz="1400" b="1" i="0" u="none" strike="noStrike">
                <a:solidFill>
                  <a:srgbClr val="666666"/>
                </a:solidFill>
                <a:latin typeface="Indie Flower"/>
                <a:ea typeface="Indie Flower"/>
                <a:cs typeface="Indie Flower"/>
                <a:sym typeface="Indie Flower"/>
              </a:rPr>
              <a:t>Workflow | Tools | Knowledge</a:t>
            </a:r>
            <a:endParaRPr lang="en-US" sz="1400" b="1" i="0" u="none" strike="noStrike">
              <a:solidFill>
                <a:srgbClr val="666666"/>
              </a:solidFill>
              <a:latin typeface="Indie Flower"/>
              <a:ea typeface="Indie Flower"/>
              <a:cs typeface="Indie Flower"/>
              <a:sym typeface="Indie Flow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What is LangGraph?</a:t>
            </a:r>
            <a:endParaRPr lang="en-US" sz="1100"/>
          </a:p>
        </p:txBody>
      </p:sp>
      <p:sp>
        <p:nvSpPr>
          <p:cNvPr id="3" name="AutoShape 3"/>
          <p:cNvSpPr/>
          <p:nvPr/>
        </p:nvSpPr>
        <p:spPr>
          <a:xfrm>
            <a:off x="762000" y="1397000"/>
            <a:ext cx="10668000" cy="889000"/>
          </a:xfrm>
          <a:prstGeom prst="roundRect">
            <a:avLst>
              <a:gd name="adj" fmla="val 17142"/>
            </a:avLst>
          </a:prstGeom>
          <a:solidFill>
            <a:srgbClr val="D40000">
              <a:alpha val="8000"/>
            </a:srgbClr>
          </a:solidFill>
          <a:ln cap="flat" cmpd="sng">
            <a:solidFill>
              <a:srgbClr val="BB0000">
                <a:alpha val="8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524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500" b="1" i="0" u="none" strike="noStrike">
                <a:solidFill>
                  <a:srgbClr val="333333"/>
                </a:solidFill>
                <a:latin typeface="Poppins"/>
                <a:ea typeface="Poppins"/>
                <a:cs typeface="Poppins"/>
                <a:sym typeface="Poppins"/>
              </a:rPr>
              <a:t>A graph-based AI Agent orchestration framework for building stateful, multi-step, collaborative AI applications.</a:t>
            </a:r>
            <a:endParaRPr lang="en-US" sz="1100"/>
          </a:p>
        </p:txBody>
      </p:sp>
      <p:sp>
        <p:nvSpPr>
          <p:cNvPr id="5" name="AutoShape 5"/>
          <p:cNvSpPr/>
          <p:nvPr/>
        </p:nvSpPr>
        <p:spPr>
          <a:xfrm>
            <a:off x="762000" y="2540000"/>
            <a:ext cx="5207000" cy="1905000"/>
          </a:xfrm>
          <a:prstGeom prst="roundRect">
            <a:avLst>
              <a:gd name="adj" fmla="val 10666"/>
            </a:avLst>
          </a:prstGeom>
          <a:solidFill>
            <a:srgbClr val="FFFFFF">
              <a:alpha val="100000"/>
            </a:srgbClr>
          </a:solidFill>
          <a:ln w="12700" cap="flat" cmpd="sng">
            <a:solidFill>
              <a:srgbClr val="EBEBEB">
                <a:alpha val="100000"/>
              </a:srgbClr>
            </a:solid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794000"/>
            <a:ext cx="609600" cy="609600"/>
          </a:xfrm>
          <a:prstGeom prst="rect">
            <a:avLst/>
          </a:prstGeom>
        </p:spPr>
      </p:pic>
      <p:sp>
        <p:nvSpPr>
          <p:cNvPr id="7" name="AutoShape 7"/>
          <p:cNvSpPr/>
          <p:nvPr/>
        </p:nvSpPr>
        <p:spPr>
          <a:xfrm>
            <a:off x="1905000" y="2857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40000"/>
                </a:solidFill>
                <a:latin typeface="Poppins"/>
                <a:ea typeface="Poppins"/>
                <a:cs typeface="Poppins"/>
                <a:sym typeface="Poppins"/>
              </a:rPr>
              <a:t>Core Purpose</a:t>
            </a:r>
            <a:endParaRPr lang="en-US" sz="1100"/>
          </a:p>
        </p:txBody>
      </p:sp>
      <p:sp>
        <p:nvSpPr>
          <p:cNvPr id="8" name="AutoShape 8"/>
          <p:cNvSpPr/>
          <p:nvPr/>
        </p:nvSpPr>
        <p:spPr>
          <a:xfrm>
            <a:off x="1905000" y="3365500"/>
            <a:ext cx="3683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55555"/>
                </a:solidFill>
                <a:latin typeface="Poppins"/>
                <a:ea typeface="Poppins"/>
                <a:cs typeface="Poppins"/>
                <a:sym typeface="Poppins"/>
              </a:rPr>
              <a:t>It's an "Agent Runtime" that provides fine-grained control over the flow of complex tasks, acting as the conductor for your AI system.</a:t>
            </a:r>
            <a:endParaRPr lang="en-US" sz="1100"/>
          </a:p>
        </p:txBody>
      </p:sp>
      <p:sp>
        <p:nvSpPr>
          <p:cNvPr id="9" name="AutoShape 9"/>
          <p:cNvSpPr/>
          <p:nvPr/>
        </p:nvSpPr>
        <p:spPr>
          <a:xfrm>
            <a:off x="6223000" y="2540000"/>
            <a:ext cx="5207000" cy="1905000"/>
          </a:xfrm>
          <a:prstGeom prst="roundRect">
            <a:avLst>
              <a:gd name="adj" fmla="val 10666"/>
            </a:avLst>
          </a:prstGeom>
          <a:solidFill>
            <a:srgbClr val="FFFFFF">
              <a:alpha val="100000"/>
            </a:srgbClr>
          </a:solidFill>
          <a:ln w="12700" cap="flat" cmpd="sng">
            <a:solidFill>
              <a:srgbClr val="EBEBEB">
                <a:alpha val="100000"/>
              </a:srgbClr>
            </a:solid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794000"/>
            <a:ext cx="609600" cy="609600"/>
          </a:xfrm>
          <a:prstGeom prst="rect">
            <a:avLst/>
          </a:prstGeom>
        </p:spPr>
      </p:pic>
      <p:sp>
        <p:nvSpPr>
          <p:cNvPr id="11" name="AutoShape 11"/>
          <p:cNvSpPr/>
          <p:nvPr/>
        </p:nvSpPr>
        <p:spPr>
          <a:xfrm>
            <a:off x="7366000" y="2857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40000"/>
                </a:solidFill>
                <a:latin typeface="Poppins"/>
                <a:ea typeface="Poppins"/>
                <a:cs typeface="Poppins"/>
                <a:sym typeface="Poppins"/>
              </a:rPr>
              <a:t>Essence</a:t>
            </a:r>
            <a:endParaRPr lang="en-US" sz="1100"/>
          </a:p>
        </p:txBody>
      </p:sp>
      <p:sp>
        <p:nvSpPr>
          <p:cNvPr id="12" name="AutoShape 12"/>
          <p:cNvSpPr/>
          <p:nvPr/>
        </p:nvSpPr>
        <p:spPr>
          <a:xfrm>
            <a:off x="7366000" y="3365500"/>
            <a:ext cx="3683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55555"/>
                </a:solidFill>
                <a:latin typeface="Poppins"/>
                <a:ea typeface="Poppins"/>
                <a:cs typeface="Poppins"/>
                <a:sym typeface="Poppins"/>
              </a:rPr>
              <a:t>A production-grade, stateful workflow engine that abstracts complex execution logic into a directed graph of Nodes (work) and Edges (flow).</a:t>
            </a:r>
            <a:endParaRPr lang="en-US" sz="1100"/>
          </a:p>
        </p:txBody>
      </p:sp>
      <p:sp>
        <p:nvSpPr>
          <p:cNvPr id="13" name="AutoShape 13"/>
          <p:cNvSpPr/>
          <p:nvPr/>
        </p:nvSpPr>
        <p:spPr>
          <a:xfrm>
            <a:off x="762000" y="4826000"/>
            <a:ext cx="10668000" cy="1143000"/>
          </a:xfrm>
          <a:prstGeom prst="roundRect">
            <a:avLst>
              <a:gd name="adj" fmla="val 17777"/>
            </a:avLst>
          </a:prstGeom>
          <a:solidFill>
            <a:srgbClr val="333333">
              <a:alpha val="100000"/>
            </a:srgbClr>
          </a:solidFill>
          <a:ln cap="flat" cmpd="sng">
            <a:solidFill>
              <a:srgbClr val="1A1717">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50165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500" b="0" i="1" u="none" strike="noStrike">
                <a:solidFill>
                  <a:srgbClr val="FFFFFF"/>
                </a:solidFill>
                <a:latin typeface="Poppins"/>
                <a:ea typeface="Poppins"/>
                <a:cs typeface="Poppins"/>
                <a:sym typeface="Poppins"/>
              </a:rPr>
              <a:t>"Nodes do the work, Edges decide what's next, and State remembers everything."</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Core Component 1: State (The Memory)</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66666"/>
                </a:solidFill>
                <a:latin typeface="Poppins"/>
                <a:ea typeface="Poppins"/>
                <a:cs typeface="Poppins"/>
                <a:sym typeface="Poppins"/>
              </a:rPr>
              <a:t>The unified memory hub for the entire workflow.</a:t>
            </a:r>
            <a:endParaRPr lang="en-US" sz="1100"/>
          </a:p>
        </p:txBody>
      </p:sp>
      <p:sp>
        <p:nvSpPr>
          <p:cNvPr id="4" name="AutoShape 4"/>
          <p:cNvSpPr/>
          <p:nvPr/>
        </p:nvSpPr>
        <p:spPr>
          <a:xfrm>
            <a:off x="762000" y="1905000"/>
            <a:ext cx="4826000" cy="1397000"/>
          </a:xfrm>
          <a:prstGeom prst="roundRect">
            <a:avLst>
              <a:gd name="adj" fmla="val 10909"/>
            </a:avLst>
          </a:prstGeom>
          <a:solidFill>
            <a:srgbClr val="F9FAFB">
              <a:alpha val="10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nvSpPr>
        <p:spPr>
          <a:xfrm>
            <a:off x="762000" y="1905000"/>
            <a:ext cx="76200" cy="13970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79500" y="20320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40000"/>
                </a:solidFill>
                <a:latin typeface="Poppins"/>
                <a:ea typeface="Poppins"/>
                <a:cs typeface="Poppins"/>
                <a:sym typeface="Poppins"/>
              </a:rPr>
              <a:t>DEFINITION</a:t>
            </a:r>
            <a:endParaRPr lang="en-US" sz="1100"/>
          </a:p>
        </p:txBody>
      </p:sp>
      <p:sp>
        <p:nvSpPr>
          <p:cNvPr id="7" name="AutoShape 7"/>
          <p:cNvSpPr/>
          <p:nvPr/>
        </p:nvSpPr>
        <p:spPr>
          <a:xfrm>
            <a:off x="1079500" y="2413000"/>
            <a:ext cx="42545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A strongly-typed data structure shared by all nodes in the agent workflow. It acts as the single source of truth.</a:t>
            </a:r>
            <a:endParaRPr lang="en-US" sz="1100"/>
          </a:p>
        </p:txBody>
      </p:sp>
      <p:sp>
        <p:nvSpPr>
          <p:cNvPr id="8" name="AutoShape 8"/>
          <p:cNvSpPr/>
          <p:nvPr/>
        </p:nvSpPr>
        <p:spPr>
          <a:xfrm>
            <a:off x="762000" y="3556000"/>
            <a:ext cx="4826000" cy="1397000"/>
          </a:xfrm>
          <a:prstGeom prst="roundRect">
            <a:avLst>
              <a:gd name="adj" fmla="val 10909"/>
            </a:avLst>
          </a:prstGeom>
          <a:solidFill>
            <a:srgbClr val="F9FAFB">
              <a:alpha val="10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9" name="AutoShape 9"/>
          <p:cNvSpPr/>
          <p:nvPr/>
        </p:nvSpPr>
        <p:spPr>
          <a:xfrm>
            <a:off x="762000" y="3556000"/>
            <a:ext cx="76200" cy="13970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36830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40000"/>
                </a:solidFill>
                <a:latin typeface="Poppins"/>
                <a:ea typeface="Poppins"/>
                <a:cs typeface="Poppins"/>
                <a:sym typeface="Poppins"/>
              </a:rPr>
              <a:t>CORE PURPOSE</a:t>
            </a:r>
            <a:endParaRPr lang="en-US" sz="1100"/>
          </a:p>
        </p:txBody>
      </p:sp>
      <p:sp>
        <p:nvSpPr>
          <p:cNvPr id="11" name="AutoShape 11"/>
          <p:cNvSpPr/>
          <p:nvPr/>
        </p:nvSpPr>
        <p:spPr>
          <a:xfrm>
            <a:off x="1079500" y="4064000"/>
            <a:ext cx="42545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Permanently stores user input, full conversation history, task progress logs, and raw/processed tool execution results.</a:t>
            </a:r>
            <a:endParaRPr lang="en-US" sz="1100"/>
          </a:p>
        </p:txBody>
      </p:sp>
      <p:sp>
        <p:nvSpPr>
          <p:cNvPr id="12" name="AutoShape 12"/>
          <p:cNvSpPr/>
          <p:nvPr/>
        </p:nvSpPr>
        <p:spPr>
          <a:xfrm>
            <a:off x="762000" y="5207000"/>
            <a:ext cx="4826000" cy="1270000"/>
          </a:xfrm>
          <a:prstGeom prst="roundRect">
            <a:avLst>
              <a:gd name="adj" fmla="val 12000"/>
            </a:avLst>
          </a:prstGeom>
          <a:solidFill>
            <a:srgbClr val="F9FAFB">
              <a:alpha val="10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3" name="AutoShape 13"/>
          <p:cNvSpPr/>
          <p:nvPr/>
        </p:nvSpPr>
        <p:spPr>
          <a:xfrm>
            <a:off x="762000" y="5207000"/>
            <a:ext cx="76200" cy="12700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79500" y="53340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40000"/>
                </a:solidFill>
                <a:latin typeface="Poppins"/>
                <a:ea typeface="Poppins"/>
                <a:cs typeface="Poppins"/>
                <a:sym typeface="Poppins"/>
              </a:rPr>
              <a:t>KEY ARCHITECTURAL FEATURE</a:t>
            </a:r>
            <a:endParaRPr lang="en-US" sz="1100"/>
          </a:p>
        </p:txBody>
      </p:sp>
      <p:sp>
        <p:nvSpPr>
          <p:cNvPr id="15" name="AutoShape 15"/>
          <p:cNvSpPr/>
          <p:nvPr/>
        </p:nvSpPr>
        <p:spPr>
          <a:xfrm>
            <a:off x="1079500" y="5715000"/>
            <a:ext cx="4254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Supports safe, concurrent updates via</a:t>
            </a:r>
            <a:r>
              <a:rPr lang="en-US" sz="1200" b="1" i="0" u="none" strike="noStrike">
                <a:solidFill>
                  <a:srgbClr val="555555"/>
                </a:solidFill>
                <a:latin typeface="Poppins"/>
                <a:ea typeface="Poppins"/>
                <a:cs typeface="Poppins"/>
                <a:sym typeface="Poppins"/>
              </a:rPr>
              <a:t>Reducer</a:t>
            </a:r>
            <a:r>
              <a:rPr lang="en-US" sz="1200" b="0" i="0" u="none" strike="noStrike">
                <a:solidFill>
                  <a:srgbClr val="555555"/>
                </a:solidFill>
                <a:latin typeface="Poppins"/>
                <a:ea typeface="Poppins"/>
                <a:cs typeface="Poppins"/>
                <a:sym typeface="Poppins"/>
              </a:rPr>
              <a:t>functions, ensuring data integrity even with parallel node execution.</a:t>
            </a:r>
            <a:endParaRPr lang="en-US" sz="1100"/>
          </a:p>
        </p:txBody>
      </p:sp>
      <p:sp>
        <p:nvSpPr>
          <p:cNvPr id="16" name="AutoShape 16"/>
          <p:cNvSpPr/>
          <p:nvPr/>
        </p:nvSpPr>
        <p:spPr>
          <a:xfrm>
            <a:off x="5969000" y="1905000"/>
            <a:ext cx="5334000" cy="4572000"/>
          </a:xfrm>
          <a:prstGeom prst="roundRect">
            <a:avLst>
              <a:gd name="adj" fmla="val 4444"/>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2159000"/>
            <a:ext cx="4826000" cy="2159000"/>
          </a:xfrm>
          <a:prstGeom prst="roundRect">
            <a:avLst>
              <a:gd name="adj" fmla="val 9411"/>
            </a:avLst>
          </a:prstGeom>
          <a:solidFill>
            <a:srgbClr val="FDEDED">
              <a:alpha val="100000"/>
            </a:srgbClr>
          </a:solidFill>
          <a:ln w="12700" cap="flat" cmpd="sng">
            <a:solidFill>
              <a:srgbClr val="D40000">
                <a:alpha val="3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223000" y="2286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D40000"/>
                </a:solidFill>
                <a:latin typeface="Poppins"/>
                <a:ea typeface="Poppins"/>
                <a:cs typeface="Poppins"/>
                <a:sym typeface="Poppins"/>
              </a:rPr>
              <a:t>Agent State (Shared Memory)</a:t>
            </a:r>
            <a:endParaRPr lang="en-US" sz="1100"/>
          </a:p>
        </p:txBody>
      </p:sp>
      <p:sp>
        <p:nvSpPr>
          <p:cNvPr id="19" name="AutoShape 19"/>
          <p:cNvSpPr/>
          <p:nvPr/>
        </p:nvSpPr>
        <p:spPr>
          <a:xfrm>
            <a:off x="6477000" y="2794000"/>
            <a:ext cx="2159000" cy="762000"/>
          </a:xfrm>
          <a:prstGeom prst="roundRect">
            <a:avLst>
              <a:gd name="adj" fmla="val 16666"/>
            </a:avLst>
          </a:prstGeom>
          <a:solidFill>
            <a:srgbClr val="FFFFFF">
              <a:alpha val="100000"/>
            </a:srgbClr>
          </a:solidFill>
          <a:ln w="25400" cap="flat" cmpd="sng">
            <a:noFill/>
            <a:prstDash val="solid"/>
            <a:round/>
          </a:ln>
          <a:effectLst>
            <a:outerShdw blurRad="101600" dist="25400" dir="2700000" algn="tl" rotWithShape="0">
              <a:srgbClr val="000000">
                <a:alpha val="8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4000" y="2946400"/>
            <a:ext cx="457200" cy="457200"/>
          </a:xfrm>
          <a:prstGeom prst="rect">
            <a:avLst/>
          </a:prstGeom>
        </p:spPr>
      </p:pic>
      <p:sp>
        <p:nvSpPr>
          <p:cNvPr id="21" name="AutoShape 21"/>
          <p:cNvSpPr/>
          <p:nvPr/>
        </p:nvSpPr>
        <p:spPr>
          <a:xfrm>
            <a:off x="7175500" y="2921000"/>
            <a:ext cx="139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Poppins"/>
                <a:ea typeface="Poppins"/>
                <a:cs typeface="Poppins"/>
                <a:sym typeface="Poppins"/>
              </a:rPr>
              <a:t>User Query</a:t>
            </a:r>
            <a:br>
              <a:rPr lang="en-US" sz="1600" b="0" i="0" u="none" strike="noStrike">
                <a:solidFill>
                  <a:srgbClr val="1F2329"/>
                </a:solidFill>
                <a:latin typeface="Poppins"/>
                <a:ea typeface="Poppins"/>
                <a:cs typeface="Poppins"/>
                <a:sym typeface="Poppins"/>
              </a:rPr>
            </a:br>
            <a:r>
              <a:rPr lang="en-US" sz="1000" b="0" i="0" u="none" strike="noStrike">
                <a:solidFill>
                  <a:srgbClr val="808080"/>
                </a:solidFill>
                <a:latin typeface="Poppins"/>
                <a:ea typeface="Poppins"/>
                <a:cs typeface="Poppins"/>
                <a:sym typeface="Poppins"/>
              </a:rPr>
              <a:t>Input Context</a:t>
            </a:r>
            <a:endParaRPr lang="en-US" sz="1100"/>
          </a:p>
        </p:txBody>
      </p:sp>
      <p:sp>
        <p:nvSpPr>
          <p:cNvPr id="22" name="AutoShape 22"/>
          <p:cNvSpPr/>
          <p:nvPr/>
        </p:nvSpPr>
        <p:spPr>
          <a:xfrm>
            <a:off x="8763000" y="2794000"/>
            <a:ext cx="2159000" cy="762000"/>
          </a:xfrm>
          <a:prstGeom prst="roundRect">
            <a:avLst>
              <a:gd name="adj" fmla="val 16666"/>
            </a:avLst>
          </a:prstGeom>
          <a:solidFill>
            <a:srgbClr val="FFFFFF">
              <a:alpha val="100000"/>
            </a:srgbClr>
          </a:solidFill>
          <a:ln w="25400" cap="flat" cmpd="sng">
            <a:noFill/>
            <a:prstDash val="solid"/>
            <a:round/>
          </a:ln>
          <a:effectLst>
            <a:outerShdw blurRad="101600" dist="25400" dir="2700000" algn="tl" rotWithShape="0">
              <a:srgbClr val="000000">
                <a:alpha val="8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0" y="2946400"/>
            <a:ext cx="457200" cy="457200"/>
          </a:xfrm>
          <a:prstGeom prst="rect">
            <a:avLst/>
          </a:prstGeom>
        </p:spPr>
      </p:pic>
      <p:sp>
        <p:nvSpPr>
          <p:cNvPr id="24" name="AutoShape 24"/>
          <p:cNvSpPr/>
          <p:nvPr/>
        </p:nvSpPr>
        <p:spPr>
          <a:xfrm>
            <a:off x="9461500" y="2921000"/>
            <a:ext cx="139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Poppins"/>
                <a:ea typeface="Poppins"/>
                <a:cs typeface="Poppins"/>
                <a:sym typeface="Poppins"/>
              </a:rPr>
              <a:t>Chat History</a:t>
            </a:r>
            <a:br>
              <a:rPr lang="en-US" sz="1600" b="0" i="0" u="none" strike="noStrike">
                <a:solidFill>
                  <a:srgbClr val="1F2329"/>
                </a:solidFill>
                <a:latin typeface="Poppins"/>
                <a:ea typeface="Poppins"/>
                <a:cs typeface="Poppins"/>
                <a:sym typeface="Poppins"/>
              </a:rPr>
            </a:br>
            <a:r>
              <a:rPr lang="en-US" sz="1000" b="0" i="0" u="none" strike="noStrike">
                <a:solidFill>
                  <a:srgbClr val="808080"/>
                </a:solidFill>
                <a:latin typeface="Poppins"/>
                <a:ea typeface="Poppins"/>
                <a:cs typeface="Poppins"/>
                <a:sym typeface="Poppins"/>
              </a:rPr>
              <a:t>Dialogue Logs</a:t>
            </a:r>
            <a:endParaRPr lang="en-US" sz="1100"/>
          </a:p>
        </p:txBody>
      </p:sp>
      <p:sp>
        <p:nvSpPr>
          <p:cNvPr id="25" name="AutoShape 25"/>
          <p:cNvSpPr/>
          <p:nvPr/>
        </p:nvSpPr>
        <p:spPr>
          <a:xfrm>
            <a:off x="6477000" y="3683000"/>
            <a:ext cx="2159000" cy="762000"/>
          </a:xfrm>
          <a:prstGeom prst="roundRect">
            <a:avLst>
              <a:gd name="adj" fmla="val 16666"/>
            </a:avLst>
          </a:prstGeom>
          <a:solidFill>
            <a:srgbClr val="FFFFFF">
              <a:alpha val="100000"/>
            </a:srgbClr>
          </a:solidFill>
          <a:ln w="25400" cap="flat" cmpd="sng">
            <a:noFill/>
            <a:prstDash val="solid"/>
            <a:round/>
          </a:ln>
          <a:effectLst>
            <a:outerShdw blurRad="101600" dist="25400" dir="2700000" algn="tl" rotWithShape="0">
              <a:srgbClr val="000000">
                <a:alpha val="8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3835400"/>
            <a:ext cx="457200" cy="457200"/>
          </a:xfrm>
          <a:prstGeom prst="rect">
            <a:avLst/>
          </a:prstGeom>
        </p:spPr>
      </p:pic>
      <p:sp>
        <p:nvSpPr>
          <p:cNvPr id="27" name="AutoShape 27"/>
          <p:cNvSpPr/>
          <p:nvPr/>
        </p:nvSpPr>
        <p:spPr>
          <a:xfrm>
            <a:off x="7175500" y="3810000"/>
            <a:ext cx="139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Poppins"/>
                <a:ea typeface="Poppins"/>
                <a:cs typeface="Poppins"/>
                <a:sym typeface="Poppins"/>
              </a:rPr>
              <a:t>Tool Results</a:t>
            </a:r>
            <a:br>
              <a:rPr lang="en-US" sz="1600" b="0" i="0" u="none" strike="noStrike">
                <a:solidFill>
                  <a:srgbClr val="1F2329"/>
                </a:solidFill>
                <a:latin typeface="Poppins"/>
                <a:ea typeface="Poppins"/>
                <a:cs typeface="Poppins"/>
                <a:sym typeface="Poppins"/>
              </a:rPr>
            </a:br>
            <a:r>
              <a:rPr lang="en-US" sz="1000" b="0" i="0" u="none" strike="noStrike">
                <a:solidFill>
                  <a:srgbClr val="808080"/>
                </a:solidFill>
                <a:latin typeface="Poppins"/>
                <a:ea typeface="Poppins"/>
                <a:cs typeface="Poppins"/>
                <a:sym typeface="Poppins"/>
              </a:rPr>
              <a:t>Execution Data</a:t>
            </a:r>
            <a:endParaRPr lang="en-US" sz="1100"/>
          </a:p>
        </p:txBody>
      </p:sp>
      <p:sp>
        <p:nvSpPr>
          <p:cNvPr id="28" name="AutoShape 28"/>
          <p:cNvSpPr/>
          <p:nvPr/>
        </p:nvSpPr>
        <p:spPr>
          <a:xfrm>
            <a:off x="8763000" y="3683000"/>
            <a:ext cx="2159000" cy="762000"/>
          </a:xfrm>
          <a:prstGeom prst="roundRect">
            <a:avLst>
              <a:gd name="adj" fmla="val 16666"/>
            </a:avLst>
          </a:prstGeom>
          <a:solidFill>
            <a:srgbClr val="FFFFFF">
              <a:alpha val="100000"/>
            </a:srgbClr>
          </a:solidFill>
          <a:ln w="25400" cap="flat" cmpd="sng">
            <a:noFill/>
            <a:prstDash val="solid"/>
            <a:round/>
          </a:ln>
          <a:effectLst>
            <a:outerShdw blurRad="101600" dist="25400" dir="2700000" algn="tl" rotWithShape="0">
              <a:srgbClr val="000000">
                <a:alpha val="8000"/>
              </a:srgbClr>
            </a:outerShdw>
          </a:effectLst>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90000" y="3835400"/>
            <a:ext cx="457200" cy="457200"/>
          </a:xfrm>
          <a:prstGeom prst="rect">
            <a:avLst/>
          </a:prstGeom>
        </p:spPr>
      </p:pic>
      <p:sp>
        <p:nvSpPr>
          <p:cNvPr id="30" name="AutoShape 30"/>
          <p:cNvSpPr/>
          <p:nvPr/>
        </p:nvSpPr>
        <p:spPr>
          <a:xfrm>
            <a:off x="9461500" y="3810000"/>
            <a:ext cx="139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Poppins"/>
                <a:ea typeface="Poppins"/>
                <a:cs typeface="Poppins"/>
                <a:sym typeface="Poppins"/>
              </a:rPr>
              <a:t>Task Progress</a:t>
            </a:r>
            <a:br>
              <a:rPr lang="en-US" sz="1600" b="0" i="0" u="none" strike="noStrike">
                <a:solidFill>
                  <a:srgbClr val="1F2329"/>
                </a:solidFill>
                <a:latin typeface="Poppins"/>
                <a:ea typeface="Poppins"/>
                <a:cs typeface="Poppins"/>
                <a:sym typeface="Poppins"/>
              </a:rPr>
            </a:br>
            <a:r>
              <a:rPr lang="en-US" sz="1000" b="0" i="0" u="none" strike="noStrike">
                <a:solidFill>
                  <a:srgbClr val="808080"/>
                </a:solidFill>
                <a:latin typeface="Poppins"/>
                <a:ea typeface="Poppins"/>
                <a:cs typeface="Poppins"/>
                <a:sym typeface="Poppins"/>
              </a:rPr>
              <a:t>Step Status</a:t>
            </a:r>
            <a:endParaRPr lang="en-US" sz="1100"/>
          </a:p>
        </p:txBody>
      </p:sp>
      <p:sp>
        <p:nvSpPr>
          <p:cNvPr id="31" name="AutoShape 31"/>
          <p:cNvSpPr/>
          <p:nvPr/>
        </p:nvSpPr>
        <p:spPr>
          <a:xfrm>
            <a:off x="6223000" y="4699000"/>
            <a:ext cx="482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555555"/>
                </a:solidFill>
                <a:latin typeface="Poppins"/>
                <a:ea typeface="Poppins"/>
                <a:cs typeface="Poppins"/>
                <a:sym typeface="Poppins"/>
              </a:rPr>
              <a:t>Nodes (Read / Write Access)</a:t>
            </a:r>
            <a:endParaRPr lang="en-US" sz="1100"/>
          </a:p>
        </p:txBody>
      </p:sp>
      <p:sp>
        <p:nvSpPr>
          <p:cNvPr id="32" name="AutoShape 32"/>
          <p:cNvSpPr/>
          <p:nvPr/>
        </p:nvSpPr>
        <p:spPr>
          <a:xfrm>
            <a:off x="6350000" y="5207000"/>
            <a:ext cx="1397000" cy="889000"/>
          </a:xfrm>
          <a:prstGeom prst="roundRect">
            <a:avLst>
              <a:gd name="adj" fmla="val 11428"/>
            </a:avLst>
          </a:prstGeom>
          <a:solidFill>
            <a:srgbClr val="FFFFFF">
              <a:alpha val="100000"/>
            </a:srgbClr>
          </a:solidFill>
          <a:ln w="12700" cap="flat" cmpd="sng">
            <a:solidFill>
              <a:srgbClr val="C8C8C8">
                <a:alpha val="100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6350000" y="5334000"/>
            <a:ext cx="1397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Poppins"/>
                <a:ea typeface="Poppins"/>
                <a:cs typeface="Poppins"/>
                <a:sym typeface="Poppins"/>
              </a:rPr>
              <a:t>Planner Node</a:t>
            </a:r>
            <a:br>
              <a:rPr lang="en-US" sz="1600" b="0" i="0" u="none" strike="noStrike">
                <a:solidFill>
                  <a:srgbClr val="1F2329"/>
                </a:solidFill>
                <a:latin typeface="Poppins"/>
                <a:ea typeface="Poppins"/>
                <a:cs typeface="Poppins"/>
                <a:sym typeface="Poppins"/>
              </a:rPr>
            </a:br>
            <a:r>
              <a:rPr lang="en-US" sz="1000" b="0" i="0" u="none" strike="noStrike">
                <a:solidFill>
                  <a:srgbClr val="808080"/>
                </a:solidFill>
                <a:latin typeface="Poppins"/>
                <a:ea typeface="Poppins"/>
                <a:cs typeface="Poppins"/>
                <a:sym typeface="Poppins"/>
              </a:rPr>
              <a:t>Writes Intent</a:t>
            </a:r>
            <a:endParaRPr lang="en-US" sz="1100"/>
          </a:p>
        </p:txBody>
      </p:sp>
      <p:sp>
        <p:nvSpPr>
          <p:cNvPr id="34" name="AutoShape 34"/>
          <p:cNvSpPr/>
          <p:nvPr/>
        </p:nvSpPr>
        <p:spPr>
          <a:xfrm>
            <a:off x="7937500" y="5207000"/>
            <a:ext cx="1397000" cy="889000"/>
          </a:xfrm>
          <a:prstGeom prst="roundRect">
            <a:avLst>
              <a:gd name="adj" fmla="val 11428"/>
            </a:avLst>
          </a:prstGeom>
          <a:solidFill>
            <a:srgbClr val="FFFFFF">
              <a:alpha val="100000"/>
            </a:srgbClr>
          </a:solidFill>
          <a:ln w="12700" cap="flat" cmpd="sng">
            <a:solidFill>
              <a:srgbClr val="C8C8C8">
                <a:alpha val="10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7937500" y="5334000"/>
            <a:ext cx="1397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Poppins"/>
                <a:ea typeface="Poppins"/>
                <a:cs typeface="Poppins"/>
                <a:sym typeface="Poppins"/>
              </a:rPr>
              <a:t>Executor Node</a:t>
            </a:r>
            <a:br>
              <a:rPr lang="en-US" sz="1600" b="0" i="0" u="none" strike="noStrike">
                <a:solidFill>
                  <a:srgbClr val="1F2329"/>
                </a:solidFill>
                <a:latin typeface="Poppins"/>
                <a:ea typeface="Poppins"/>
                <a:cs typeface="Poppins"/>
                <a:sym typeface="Poppins"/>
              </a:rPr>
            </a:br>
            <a:r>
              <a:rPr lang="en-US" sz="1000" b="0" i="0" u="none" strike="noStrike">
                <a:solidFill>
                  <a:srgbClr val="808080"/>
                </a:solidFill>
                <a:latin typeface="Poppins"/>
                <a:ea typeface="Poppins"/>
                <a:cs typeface="Poppins"/>
                <a:sym typeface="Poppins"/>
              </a:rPr>
              <a:t>Reads Params</a:t>
            </a:r>
            <a:endParaRPr lang="en-US" sz="1100"/>
          </a:p>
        </p:txBody>
      </p:sp>
      <p:sp>
        <p:nvSpPr>
          <p:cNvPr id="36" name="AutoShape 36"/>
          <p:cNvSpPr/>
          <p:nvPr/>
        </p:nvSpPr>
        <p:spPr>
          <a:xfrm>
            <a:off x="9525000" y="5207000"/>
            <a:ext cx="1397000" cy="889000"/>
          </a:xfrm>
          <a:prstGeom prst="roundRect">
            <a:avLst>
              <a:gd name="adj" fmla="val 11428"/>
            </a:avLst>
          </a:prstGeom>
          <a:solidFill>
            <a:srgbClr val="FFFFFF">
              <a:alpha val="100000"/>
            </a:srgbClr>
          </a:solidFill>
          <a:ln w="12700" cap="flat" cmpd="sng">
            <a:solidFill>
              <a:srgbClr val="C8C8C8">
                <a:alpha val="100000"/>
              </a:srgbClr>
            </a:solidFill>
            <a:prstDash val="solid"/>
            <a:round/>
          </a:ln>
        </p:spPr>
        <p:txBody>
          <a:bodyPr vert="horz" wrap="square" lIns="63500" tIns="63500" rIns="63500" bIns="63500" rtlCol="0" anchor="ctr"/>
          <a:lstStyle/>
          <a:p>
            <a:pPr algn="ctr">
              <a:defRPr/>
            </a:pPr>
          </a:p>
        </p:txBody>
      </p:sp>
      <p:sp>
        <p:nvSpPr>
          <p:cNvPr id="37" name="AutoShape 37"/>
          <p:cNvSpPr/>
          <p:nvPr/>
        </p:nvSpPr>
        <p:spPr>
          <a:xfrm>
            <a:off x="9525000" y="5334000"/>
            <a:ext cx="1397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Poppins"/>
                <a:ea typeface="Poppins"/>
                <a:cs typeface="Poppins"/>
                <a:sym typeface="Poppins"/>
              </a:rPr>
              <a:t>Memory Node</a:t>
            </a:r>
            <a:br>
              <a:rPr lang="en-US" sz="1600" b="0" i="0" u="none" strike="noStrike">
                <a:solidFill>
                  <a:srgbClr val="1F2329"/>
                </a:solidFill>
                <a:latin typeface="Poppins"/>
                <a:ea typeface="Poppins"/>
                <a:cs typeface="Poppins"/>
                <a:sym typeface="Poppins"/>
              </a:rPr>
            </a:br>
            <a:r>
              <a:rPr lang="en-US" sz="1000" b="0" i="0" u="none" strike="noStrike">
                <a:solidFill>
                  <a:srgbClr val="808080"/>
                </a:solidFill>
                <a:latin typeface="Poppins"/>
                <a:ea typeface="Poppins"/>
                <a:cs typeface="Poppins"/>
                <a:sym typeface="Poppins"/>
              </a:rPr>
              <a:t>Syncs Data</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Core Component 2: Node (The Worker)</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66666"/>
                </a:solidFill>
                <a:latin typeface="Poppins"/>
                <a:ea typeface="Poppins"/>
                <a:cs typeface="Poppins"/>
                <a:sym typeface="Poppins"/>
              </a:rPr>
              <a:t>The smallest functional unit that performs a specific task.</a:t>
            </a:r>
            <a:endParaRPr lang="en-US" sz="1100"/>
          </a:p>
        </p:txBody>
      </p:sp>
      <p:sp>
        <p:nvSpPr>
          <p:cNvPr id="4" name="AutoShape 4"/>
          <p:cNvSpPr/>
          <p:nvPr/>
        </p:nvSpPr>
        <p:spPr>
          <a:xfrm>
            <a:off x="762000" y="1905000"/>
            <a:ext cx="4953000" cy="1206500"/>
          </a:xfrm>
          <a:prstGeom prst="roundRect">
            <a:avLst>
              <a:gd name="adj" fmla="val 10526"/>
            </a:avLst>
          </a:prstGeom>
          <a:solidFill>
            <a:srgbClr val="F9F9F9">
              <a:alpha val="100000"/>
            </a:srgbClr>
          </a:solidFill>
          <a:ln w="12700" cap="flat" cmpd="sng">
            <a:solidFill>
              <a:srgbClr val="EBEB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206500"/>
          </a:xfrm>
          <a:prstGeom prst="roundRect">
            <a:avLst>
              <a:gd name="adj" fmla="val 166666"/>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133600"/>
            <a:ext cx="457200" cy="457200"/>
          </a:xfrm>
          <a:prstGeom prst="rect">
            <a:avLst/>
          </a:prstGeom>
        </p:spPr>
      </p:pic>
      <p:sp>
        <p:nvSpPr>
          <p:cNvPr id="7" name="AutoShape 7"/>
          <p:cNvSpPr/>
          <p:nvPr/>
        </p:nvSpPr>
        <p:spPr>
          <a:xfrm>
            <a:off x="1778000" y="2032000"/>
            <a:ext cx="368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40000"/>
                </a:solidFill>
                <a:latin typeface="Poppins"/>
                <a:ea typeface="Poppins"/>
                <a:cs typeface="Poppins"/>
                <a:sym typeface="Poppins"/>
              </a:rPr>
              <a:t>DEFINITION</a:t>
            </a:r>
            <a:endParaRPr lang="en-US" sz="1100"/>
          </a:p>
        </p:txBody>
      </p:sp>
      <p:sp>
        <p:nvSpPr>
          <p:cNvPr id="8" name="AutoShape 8"/>
          <p:cNvSpPr/>
          <p:nvPr/>
        </p:nvSpPr>
        <p:spPr>
          <a:xfrm>
            <a:off x="1778000" y="2413000"/>
            <a:ext cx="3683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A self-contained function that encapsulates a single piece of business logic or operation.</a:t>
            </a:r>
            <a:endParaRPr lang="en-US" sz="1100"/>
          </a:p>
        </p:txBody>
      </p:sp>
      <p:sp>
        <p:nvSpPr>
          <p:cNvPr id="9" name="AutoShape 9"/>
          <p:cNvSpPr/>
          <p:nvPr/>
        </p:nvSpPr>
        <p:spPr>
          <a:xfrm>
            <a:off x="762000" y="3302000"/>
            <a:ext cx="4953000" cy="1206500"/>
          </a:xfrm>
          <a:prstGeom prst="roundRect">
            <a:avLst>
              <a:gd name="adj" fmla="val 10526"/>
            </a:avLst>
          </a:prstGeom>
          <a:solidFill>
            <a:srgbClr val="F9F9F9">
              <a:alpha val="100000"/>
            </a:srgbClr>
          </a:solidFill>
          <a:ln w="12700" cap="flat" cmpd="sng">
            <a:solidFill>
              <a:srgbClr val="EBEB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302000"/>
            <a:ext cx="76200" cy="1206500"/>
          </a:xfrm>
          <a:prstGeom prst="roundRect">
            <a:avLst>
              <a:gd name="adj" fmla="val 166666"/>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3530600"/>
            <a:ext cx="457200" cy="457200"/>
          </a:xfrm>
          <a:prstGeom prst="rect">
            <a:avLst/>
          </a:prstGeom>
        </p:spPr>
      </p:pic>
      <p:sp>
        <p:nvSpPr>
          <p:cNvPr id="12" name="AutoShape 12"/>
          <p:cNvSpPr/>
          <p:nvPr/>
        </p:nvSpPr>
        <p:spPr>
          <a:xfrm>
            <a:off x="1778000" y="3429000"/>
            <a:ext cx="368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40000"/>
                </a:solidFill>
                <a:latin typeface="Poppins"/>
                <a:ea typeface="Poppins"/>
                <a:cs typeface="Poppins"/>
                <a:sym typeface="Poppins"/>
              </a:rPr>
              <a:t>CORE PURPOSE</a:t>
            </a:r>
            <a:endParaRPr lang="en-US" sz="1100"/>
          </a:p>
        </p:txBody>
      </p:sp>
      <p:sp>
        <p:nvSpPr>
          <p:cNvPr id="13" name="AutoShape 13"/>
          <p:cNvSpPr/>
          <p:nvPr/>
        </p:nvSpPr>
        <p:spPr>
          <a:xfrm>
            <a:off x="1778000" y="3810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Consumes the current workflow state, executes an action (API/LLM call), and returns a newly updated state object.</a:t>
            </a:r>
            <a:endParaRPr lang="en-US" sz="1100"/>
          </a:p>
        </p:txBody>
      </p:sp>
      <p:sp>
        <p:nvSpPr>
          <p:cNvPr id="14" name="AutoShape 14"/>
          <p:cNvSpPr/>
          <p:nvPr/>
        </p:nvSpPr>
        <p:spPr>
          <a:xfrm>
            <a:off x="762000" y="4699000"/>
            <a:ext cx="4953000" cy="1206500"/>
          </a:xfrm>
          <a:prstGeom prst="roundRect">
            <a:avLst>
              <a:gd name="adj" fmla="val 10526"/>
            </a:avLst>
          </a:prstGeom>
          <a:solidFill>
            <a:srgbClr val="F9F9F9">
              <a:alpha val="100000"/>
            </a:srgbClr>
          </a:solidFill>
          <a:ln w="12700" cap="flat" cmpd="sng">
            <a:solidFill>
              <a:srgbClr val="EBEBEB">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699000"/>
            <a:ext cx="76200" cy="1206500"/>
          </a:xfrm>
          <a:prstGeom prst="roundRect">
            <a:avLst>
              <a:gd name="adj" fmla="val 166666"/>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927600"/>
            <a:ext cx="457200" cy="457200"/>
          </a:xfrm>
          <a:prstGeom prst="rect">
            <a:avLst/>
          </a:prstGeom>
        </p:spPr>
      </p:pic>
      <p:sp>
        <p:nvSpPr>
          <p:cNvPr id="17" name="AutoShape 17"/>
          <p:cNvSpPr/>
          <p:nvPr/>
        </p:nvSpPr>
        <p:spPr>
          <a:xfrm>
            <a:off x="1778000" y="4826000"/>
            <a:ext cx="368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40000"/>
                </a:solidFill>
                <a:latin typeface="Poppins"/>
                <a:ea typeface="Poppins"/>
                <a:cs typeface="Poppins"/>
                <a:sym typeface="Poppins"/>
              </a:rPr>
              <a:t>DESIGN PRINCIPLE</a:t>
            </a:r>
            <a:endParaRPr lang="en-US" sz="1100"/>
          </a:p>
        </p:txBody>
      </p:sp>
      <p:sp>
        <p:nvSpPr>
          <p:cNvPr id="18" name="AutoShape 18"/>
          <p:cNvSpPr/>
          <p:nvPr/>
        </p:nvSpPr>
        <p:spPr>
          <a:xfrm>
            <a:off x="1778000" y="5207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Designed as "Pure Functions" – same input always yields the same output, ensuring high reusability and testability.</a:t>
            </a:r>
            <a:endParaRPr lang="en-US" sz="1100"/>
          </a:p>
        </p:txBody>
      </p:sp>
      <p:sp>
        <p:nvSpPr>
          <p:cNvPr id="19" name="AutoShape 19"/>
          <p:cNvSpPr/>
          <p:nvPr/>
        </p:nvSpPr>
        <p:spPr>
          <a:xfrm>
            <a:off x="5969000" y="1905000"/>
            <a:ext cx="5207000" cy="4000500"/>
          </a:xfrm>
          <a:prstGeom prst="roundRect">
            <a:avLst>
              <a:gd name="adj" fmla="val 4761"/>
            </a:avLst>
          </a:prstGeom>
          <a:solidFill>
            <a:srgbClr val="F5F7FA">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0" name="AutoShape 20"/>
          <p:cNvSpPr/>
          <p:nvPr/>
        </p:nvSpPr>
        <p:spPr>
          <a:xfrm>
            <a:off x="6223000" y="2095500"/>
            <a:ext cx="469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Poppins"/>
                <a:ea typeface="Poppins"/>
                <a:cs typeface="Poppins"/>
                <a:sym typeface="Poppins"/>
              </a:rPr>
              <a:t>ARCHITECTURE DIAGRAM</a:t>
            </a:r>
            <a:endParaRPr lang="en-US" sz="1100"/>
          </a:p>
        </p:txBody>
      </p:sp>
      <p:sp>
        <p:nvSpPr>
          <p:cNvPr id="21" name="AutoShape 21"/>
          <p:cNvSpPr/>
          <p:nvPr/>
        </p:nvSpPr>
        <p:spPr>
          <a:xfrm>
            <a:off x="6223000" y="2667000"/>
            <a:ext cx="4699000" cy="762000"/>
          </a:xfrm>
          <a:prstGeom prst="roundRect">
            <a:avLst>
              <a:gd name="adj" fmla="val 16666"/>
            </a:avLst>
          </a:prstGeom>
          <a:solidFill>
            <a:srgbClr val="FFFFFF">
              <a:alpha val="100000"/>
            </a:srgbClr>
          </a:solidFill>
          <a:ln w="12700" cap="flat" cmpd="sng">
            <a:solidFill>
              <a:srgbClr val="C8C8C8">
                <a:alpha val="10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2857500"/>
            <a:ext cx="381000" cy="381000"/>
          </a:xfrm>
          <a:prstGeom prst="rect">
            <a:avLst/>
          </a:prstGeom>
        </p:spPr>
      </p:pic>
      <p:sp>
        <p:nvSpPr>
          <p:cNvPr id="23" name="AutoShape 23"/>
          <p:cNvSpPr/>
          <p:nvPr/>
        </p:nvSpPr>
        <p:spPr>
          <a:xfrm>
            <a:off x="7112000" y="27940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Input State</a:t>
            </a:r>
            <a:endParaRPr lang="en-US" sz="1100"/>
          </a:p>
        </p:txBody>
      </p:sp>
      <p:sp>
        <p:nvSpPr>
          <p:cNvPr id="24" name="AutoShape 24"/>
          <p:cNvSpPr/>
          <p:nvPr/>
        </p:nvSpPr>
        <p:spPr>
          <a:xfrm>
            <a:off x="7112000" y="31115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808080"/>
                </a:solidFill>
                <a:latin typeface="Poppins"/>
                <a:ea typeface="Poppins"/>
                <a:cs typeface="Poppins"/>
                <a:sym typeface="Poppins"/>
              </a:rPr>
              <a:t>Context, Variables, Previous Results</a:t>
            </a:r>
            <a:endParaRPr lang="en-US" sz="1100"/>
          </a:p>
        </p:txBody>
      </p:sp>
      <p:sp>
        <p:nvSpPr>
          <p:cNvPr id="25" name="AutoShape 25"/>
          <p:cNvSpPr/>
          <p:nvPr/>
        </p:nvSpPr>
        <p:spPr>
          <a:xfrm>
            <a:off x="6223000" y="3683000"/>
            <a:ext cx="4699000" cy="952500"/>
          </a:xfrm>
          <a:prstGeom prst="roundRect">
            <a:avLst>
              <a:gd name="adj" fmla="val 13333"/>
            </a:avLst>
          </a:prstGeom>
          <a:solidFill>
            <a:srgbClr val="FFFFFF">
              <a:alpha val="100000"/>
            </a:srgbClr>
          </a:solidFill>
          <a:ln w="25400" cap="flat" cmpd="sng">
            <a:solidFill>
              <a:srgbClr val="D40000">
                <a:alpha val="100000"/>
              </a:srgbClr>
            </a:solidFill>
            <a:prstDash val="solid"/>
            <a:round/>
          </a:ln>
          <a:effectLst>
            <a:outerShdw blurRad="127000" dist="38100" dir="2700000" algn="tl" rotWithShape="0">
              <a:srgbClr val="D40000">
                <a:alpha val="15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3937000"/>
            <a:ext cx="457200" cy="457200"/>
          </a:xfrm>
          <a:prstGeom prst="rect">
            <a:avLst/>
          </a:prstGeom>
        </p:spPr>
      </p:pic>
      <p:sp>
        <p:nvSpPr>
          <p:cNvPr id="27" name="AutoShape 27"/>
          <p:cNvSpPr/>
          <p:nvPr/>
        </p:nvSpPr>
        <p:spPr>
          <a:xfrm>
            <a:off x="7112000" y="38100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Node: call_llm_node</a:t>
            </a:r>
            <a:endParaRPr lang="en-US" sz="1100"/>
          </a:p>
        </p:txBody>
      </p:sp>
      <p:sp>
        <p:nvSpPr>
          <p:cNvPr id="28" name="AutoShape 28"/>
          <p:cNvSpPr/>
          <p:nvPr/>
        </p:nvSpPr>
        <p:spPr>
          <a:xfrm>
            <a:off x="7112000" y="4127500"/>
            <a:ext cx="355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555555"/>
                </a:solidFill>
                <a:latin typeface="Poppins"/>
                <a:ea typeface="Poppins"/>
                <a:cs typeface="Poppins"/>
                <a:sym typeface="Poppins"/>
              </a:rPr>
              <a:t>Execution Logic: Call LLM API with system/user prompt</a:t>
            </a:r>
            <a:endParaRPr lang="en-US" sz="1100"/>
          </a:p>
        </p:txBody>
      </p:sp>
      <p:sp>
        <p:nvSpPr>
          <p:cNvPr id="29" name="AutoShape 29"/>
          <p:cNvSpPr/>
          <p:nvPr/>
        </p:nvSpPr>
        <p:spPr>
          <a:xfrm>
            <a:off x="6223000" y="4889500"/>
            <a:ext cx="4699000" cy="762000"/>
          </a:xfrm>
          <a:prstGeom prst="roundRect">
            <a:avLst>
              <a:gd name="adj" fmla="val 16666"/>
            </a:avLst>
          </a:prstGeom>
          <a:solidFill>
            <a:srgbClr val="FFFFFF">
              <a:alpha val="100000"/>
            </a:srgbClr>
          </a:solidFill>
          <a:ln w="12700" cap="flat" cmpd="sng">
            <a:solidFill>
              <a:srgbClr val="C8C8C8">
                <a:alpha val="100000"/>
              </a:srgbClr>
            </a:solid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5080000"/>
            <a:ext cx="381000" cy="381000"/>
          </a:xfrm>
          <a:prstGeom prst="rect">
            <a:avLst/>
          </a:prstGeom>
        </p:spPr>
      </p:pic>
      <p:sp>
        <p:nvSpPr>
          <p:cNvPr id="31" name="AutoShape 31"/>
          <p:cNvSpPr/>
          <p:nvPr/>
        </p:nvSpPr>
        <p:spPr>
          <a:xfrm>
            <a:off x="7112000" y="50165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Output State</a:t>
            </a:r>
            <a:endParaRPr lang="en-US" sz="1100"/>
          </a:p>
        </p:txBody>
      </p:sp>
      <p:sp>
        <p:nvSpPr>
          <p:cNvPr id="32" name="AutoShape 32"/>
          <p:cNvSpPr/>
          <p:nvPr/>
        </p:nvSpPr>
        <p:spPr>
          <a:xfrm>
            <a:off x="7112000" y="53340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808080"/>
                </a:solidFill>
                <a:latin typeface="Poppins"/>
                <a:ea typeface="Poppins"/>
                <a:cs typeface="Poppins"/>
                <a:sym typeface="Poppins"/>
              </a:rPr>
              <a:t>Enriched Data, LLM Response, Next Step Trigger</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Core Component 3: Edge (The Navigator)</a:t>
            </a:r>
            <a:endParaRPr lang="en-US" sz="1100"/>
          </a:p>
        </p:txBody>
      </p:sp>
      <p:sp>
        <p:nvSpPr>
          <p:cNvPr id="3" name="AutoShape 3"/>
          <p:cNvSpPr/>
          <p:nvPr/>
        </p:nvSpPr>
        <p:spPr>
          <a:xfrm>
            <a:off x="762000" y="133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1" u="none" strike="noStrike">
                <a:solidFill>
                  <a:srgbClr val="777777"/>
                </a:solidFill>
                <a:latin typeface="Poppins"/>
                <a:ea typeface="Poppins"/>
                <a:cs typeface="Poppins"/>
                <a:sym typeface="Poppins"/>
              </a:rPr>
              <a:t>The rule that determines the next step after a node completes its execution.</a:t>
            </a:r>
            <a:endParaRPr lang="en-US" sz="1100"/>
          </a:p>
        </p:txBody>
      </p:sp>
      <p:sp>
        <p:nvSpPr>
          <p:cNvPr id="4" name="AutoShape 4"/>
          <p:cNvSpPr/>
          <p:nvPr/>
        </p:nvSpPr>
        <p:spPr>
          <a:xfrm>
            <a:off x="762000" y="1905000"/>
            <a:ext cx="5080000" cy="1206500"/>
          </a:xfrm>
          <a:prstGeom prst="roundRect">
            <a:avLst>
              <a:gd name="adj" fmla="val 10526"/>
            </a:avLst>
          </a:prstGeom>
          <a:solidFill>
            <a:srgbClr val="F9F9F9">
              <a:alpha val="100000"/>
            </a:srgbClr>
          </a:solidFill>
          <a:ln cap="flat" cmpd="sng">
            <a:solidFill>
              <a:srgbClr val="E0C9C9">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032000"/>
            <a:ext cx="4572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40000"/>
                </a:solidFill>
                <a:latin typeface="Poppins"/>
                <a:ea typeface="Poppins"/>
                <a:cs typeface="Poppins"/>
                <a:sym typeface="Poppins"/>
              </a:rPr>
              <a:t>▍ DEFINITION</a:t>
            </a:r>
            <a:endParaRPr lang="en-US" sz="1100"/>
          </a:p>
        </p:txBody>
      </p:sp>
      <p:sp>
        <p:nvSpPr>
          <p:cNvPr id="6" name="AutoShape 6"/>
          <p:cNvSpPr/>
          <p:nvPr/>
        </p:nvSpPr>
        <p:spPr>
          <a:xfrm>
            <a:off x="1016000" y="2413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A logical connection between two workflow nodes that defines the transition path. It acts as the "traffic sign" for the workflow engine.</a:t>
            </a:r>
            <a:endParaRPr lang="en-US" sz="1100"/>
          </a:p>
        </p:txBody>
      </p:sp>
      <p:sp>
        <p:nvSpPr>
          <p:cNvPr id="7" name="AutoShape 7"/>
          <p:cNvSpPr/>
          <p:nvPr/>
        </p:nvSpPr>
        <p:spPr>
          <a:xfrm>
            <a:off x="762000" y="3302000"/>
            <a:ext cx="5080000" cy="1270000"/>
          </a:xfrm>
          <a:prstGeom prst="roundRect">
            <a:avLst>
              <a:gd name="adj" fmla="val 10000"/>
            </a:avLst>
          </a:prstGeom>
          <a:solidFill>
            <a:srgbClr val="F9F9F9">
              <a:alpha val="100000"/>
            </a:srgbClr>
          </a:solidFill>
          <a:ln cap="flat" cmpd="sng">
            <a:solidFill>
              <a:srgbClr val="E0C9C9">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016000" y="3429000"/>
            <a:ext cx="4572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40000"/>
                </a:solidFill>
                <a:latin typeface="Poppins"/>
                <a:ea typeface="Poppins"/>
                <a:cs typeface="Poppins"/>
                <a:sym typeface="Poppins"/>
              </a:rPr>
              <a:t>▍ TYPE 1: NORMAL EDGE</a:t>
            </a:r>
            <a:endParaRPr lang="en-US" sz="1100"/>
          </a:p>
        </p:txBody>
      </p:sp>
      <p:sp>
        <p:nvSpPr>
          <p:cNvPr id="9" name="AutoShape 9"/>
          <p:cNvSpPr/>
          <p:nvPr/>
        </p:nvSpPr>
        <p:spPr>
          <a:xfrm>
            <a:off x="1016000" y="3810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Represents a fixed, linear sequence (e.g., A → B → C). The workflow proceeds directly to the next node without any evaluation.</a:t>
            </a:r>
            <a:endParaRPr lang="en-US" sz="1100"/>
          </a:p>
        </p:txBody>
      </p:sp>
      <p:sp>
        <p:nvSpPr>
          <p:cNvPr id="10" name="AutoShape 10"/>
          <p:cNvSpPr/>
          <p:nvPr/>
        </p:nvSpPr>
        <p:spPr>
          <a:xfrm>
            <a:off x="762000" y="4762500"/>
            <a:ext cx="5080000" cy="1460500"/>
          </a:xfrm>
          <a:prstGeom prst="roundRect">
            <a:avLst>
              <a:gd name="adj" fmla="val 8695"/>
            </a:avLst>
          </a:prstGeom>
          <a:solidFill>
            <a:srgbClr val="FFF5F5">
              <a:alpha val="100000"/>
            </a:srgbClr>
          </a:solidFill>
          <a:ln w="12700" cap="flat" cmpd="sng">
            <a:solidFill>
              <a:srgbClr val="D40000">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889500"/>
            <a:ext cx="4572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40000"/>
                </a:solidFill>
                <a:latin typeface="Poppins"/>
                <a:ea typeface="Poppins"/>
                <a:cs typeface="Poppins"/>
                <a:sym typeface="Poppins"/>
              </a:rPr>
              <a:t>▍ TYPE 2: CONDITIONAL EDGE (KEY)</a:t>
            </a:r>
            <a:endParaRPr lang="en-US" sz="1100"/>
          </a:p>
        </p:txBody>
      </p:sp>
      <p:sp>
        <p:nvSpPr>
          <p:cNvPr id="12" name="AutoShape 12"/>
          <p:cNvSpPr/>
          <p:nvPr/>
        </p:nvSpPr>
        <p:spPr>
          <a:xfrm>
            <a:off x="1016000" y="5270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444444"/>
                </a:solidFill>
                <a:latin typeface="Poppins"/>
                <a:ea typeface="Poppins"/>
                <a:cs typeface="Poppins"/>
                <a:sym typeface="Poppins"/>
              </a:rPr>
              <a:t>Dynamically chooses the next node based on the current data state. This is the fundamental mechanism for implementing loops, branches, and adaptive decision-making in AI workflows.</a:t>
            </a:r>
            <a:endParaRPr lang="en-US" sz="1100"/>
          </a:p>
        </p:txBody>
      </p:sp>
      <p:sp>
        <p:nvSpPr>
          <p:cNvPr id="13" name="AutoShape 13"/>
          <p:cNvSpPr/>
          <p:nvPr/>
        </p:nvSpPr>
        <p:spPr>
          <a:xfrm>
            <a:off x="6096000" y="1905000"/>
            <a:ext cx="5080000" cy="4318000"/>
          </a:xfrm>
          <a:prstGeom prst="roundRect">
            <a:avLst>
              <a:gd name="adj" fmla="val 3529"/>
            </a:avLst>
          </a:prstGeom>
          <a:solidFill>
            <a:srgbClr val="F7F8FA">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nvSpPr>
        <p:spPr>
          <a:xfrm>
            <a:off x="6350000" y="20955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Poppins"/>
                <a:ea typeface="Poppins"/>
                <a:cs typeface="Poppins"/>
                <a:sym typeface="Poppins"/>
              </a:rPr>
              <a:t>WORKFLOW LOGIC VISUALIZATION</a:t>
            </a:r>
            <a:endParaRPr lang="en-US" sz="1100"/>
          </a:p>
        </p:txBody>
      </p:sp>
      <p:sp>
        <p:nvSpPr>
          <p:cNvPr id="15" name="AutoShape 15"/>
          <p:cNvSpPr/>
          <p:nvPr/>
        </p:nvSpPr>
        <p:spPr>
          <a:xfrm>
            <a:off x="6477000" y="2794000"/>
            <a:ext cx="1397000" cy="762000"/>
          </a:xfrm>
          <a:prstGeom prst="roundRect">
            <a:avLst>
              <a:gd name="adj" fmla="val 13333"/>
            </a:avLst>
          </a:prstGeom>
          <a:solidFill>
            <a:srgbClr val="FFFFFF">
              <a:alpha val="100000"/>
            </a:srgbClr>
          </a:solidFill>
          <a:ln w="25400" cap="flat" cmpd="sng">
            <a:solidFill>
              <a:srgbClr val="D40000">
                <a:alpha val="60000"/>
              </a:srgbClr>
            </a:solid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Poppins"/>
                <a:ea typeface="Poppins"/>
                <a:cs typeface="Poppins"/>
                <a:sym typeface="Poppins"/>
              </a:rPr>
              <a:t>Node A</a:t>
            </a:r>
            <a:br>
              <a:rPr lang="en-US" sz="1600" b="0" i="0" u="none" strike="noStrike">
                <a:solidFill>
                  <a:srgbClr val="1F2329"/>
                </a:solidFill>
                <a:latin typeface="Poppins"/>
                <a:ea typeface="Poppins"/>
                <a:cs typeface="Poppins"/>
                <a:sym typeface="Poppins"/>
              </a:rPr>
            </a:br>
            <a:r>
              <a:rPr lang="en-US" sz="1000" b="0" i="0" u="none" strike="noStrike">
                <a:solidFill>
                  <a:srgbClr val="999999"/>
                </a:solidFill>
                <a:latin typeface="Poppins"/>
                <a:ea typeface="Poppins"/>
                <a:cs typeface="Poppins"/>
                <a:sym typeface="Poppins"/>
              </a:rPr>
              <a:t>Start Point</a:t>
            </a:r>
            <a:endParaRPr lang="en-US" sz="1100"/>
          </a:p>
        </p:txBody>
      </p:sp>
      <p:cxnSp>
        <p:nvCxnSpPr>
          <p:cNvPr id="16" name="Connector 16"/>
          <p:cNvCxnSpPr/>
          <p:nvPr/>
        </p:nvCxnSpPr>
        <p:spPr>
          <a:xfrm rot="-114549">
            <a:off x="8001106" y="3168650"/>
            <a:ext cx="381000" cy="12700"/>
          </a:xfrm>
          <a:prstGeom prst="line">
            <a:avLst/>
          </a:prstGeom>
          <a:solidFill>
            <a:srgbClr val="DEE0E3">
              <a:alpha val="100000"/>
            </a:srgbClr>
          </a:solidFill>
          <a:ln w="25400" cap="flat" cmpd="sng">
            <a:solidFill>
              <a:srgbClr val="666666">
                <a:alpha val="100000"/>
              </a:srgbClr>
            </a:solidFill>
            <a:prstDash val="solid"/>
            <a:round/>
            <a:headEnd type="none" w="lg" len="lg"/>
            <a:tailEnd type="arrow" w="med" len="med"/>
          </a:ln>
        </p:spPr>
      </p:cxnSp>
      <p:sp>
        <p:nvSpPr>
          <p:cNvPr id="17" name="AutoShape 17"/>
          <p:cNvSpPr/>
          <p:nvPr/>
        </p:nvSpPr>
        <p:spPr>
          <a:xfrm>
            <a:off x="8509000" y="2730500"/>
            <a:ext cx="1651000" cy="889000"/>
          </a:xfrm>
          <a:prstGeom prst="diamond">
            <a:avLst/>
          </a:prstGeom>
          <a:solidFill>
            <a:srgbClr val="D4000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Poppins"/>
                <a:ea typeface="Poppins"/>
                <a:cs typeface="Poppins"/>
                <a:sym typeface="Poppins"/>
              </a:rPr>
              <a:t>Condition?</a:t>
            </a:r>
            <a:endParaRPr lang="en-US" sz="1100"/>
          </a:p>
        </p:txBody>
      </p:sp>
      <p:cxnSp>
        <p:nvCxnSpPr>
          <p:cNvPr id="18" name="Connector 18"/>
          <p:cNvCxnSpPr/>
          <p:nvPr/>
        </p:nvCxnSpPr>
        <p:spPr>
          <a:xfrm rot="5323618">
            <a:off x="9048750" y="3898971"/>
            <a:ext cx="571500" cy="12700"/>
          </a:xfrm>
          <a:prstGeom prst="line">
            <a:avLst/>
          </a:prstGeom>
          <a:solidFill>
            <a:srgbClr val="DEE0E3">
              <a:alpha val="100000"/>
            </a:srgbClr>
          </a:solidFill>
          <a:ln w="25400" cap="flat" cmpd="sng">
            <a:solidFill>
              <a:srgbClr val="2E8B57">
                <a:alpha val="100000"/>
              </a:srgbClr>
            </a:solidFill>
            <a:prstDash val="solid"/>
            <a:round/>
            <a:headEnd type="none" w="lg" len="lg"/>
            <a:tailEnd type="arrow" w="med" len="med"/>
          </a:ln>
        </p:spPr>
      </p:cxnSp>
      <p:sp>
        <p:nvSpPr>
          <p:cNvPr id="19" name="AutoShape 19"/>
          <p:cNvSpPr/>
          <p:nvPr/>
        </p:nvSpPr>
        <p:spPr>
          <a:xfrm>
            <a:off x="9525000" y="3746500"/>
            <a:ext cx="63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2E8B57"/>
                </a:solidFill>
                <a:latin typeface="Poppins"/>
                <a:ea typeface="Poppins"/>
                <a:cs typeface="Poppins"/>
                <a:sym typeface="Poppins"/>
              </a:rPr>
              <a:t>YES</a:t>
            </a:r>
            <a:endParaRPr lang="en-US" sz="1100"/>
          </a:p>
        </p:txBody>
      </p:sp>
      <p:sp>
        <p:nvSpPr>
          <p:cNvPr id="20" name="AutoShape 20"/>
          <p:cNvSpPr/>
          <p:nvPr/>
        </p:nvSpPr>
        <p:spPr>
          <a:xfrm>
            <a:off x="8699500" y="4254500"/>
            <a:ext cx="1270000" cy="635000"/>
          </a:xfrm>
          <a:prstGeom prst="roundRect">
            <a:avLst>
              <a:gd name="adj" fmla="val 16000"/>
            </a:avLst>
          </a:prstGeom>
          <a:solidFill>
            <a:srgbClr val="FFFFFF">
              <a:alpha val="100000"/>
            </a:srgbClr>
          </a:solidFill>
          <a:ln w="25400" cap="flat" cmpd="sng">
            <a:solidFill>
              <a:srgbClr val="2E8B57">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Poppins"/>
                <a:ea typeface="Poppins"/>
                <a:cs typeface="Poppins"/>
                <a:sym typeface="Poppins"/>
              </a:rPr>
              <a:t>Node B</a:t>
            </a:r>
            <a:endParaRPr lang="en-US" sz="1100"/>
          </a:p>
        </p:txBody>
      </p:sp>
      <p:cxnSp>
        <p:nvCxnSpPr>
          <p:cNvPr id="21" name="Connector 21"/>
          <p:cNvCxnSpPr/>
          <p:nvPr/>
        </p:nvCxnSpPr>
        <p:spPr>
          <a:xfrm rot="10750892">
            <a:off x="7619955" y="3613150"/>
            <a:ext cx="889000" cy="12700"/>
          </a:xfrm>
          <a:prstGeom prst="line">
            <a:avLst/>
          </a:prstGeom>
          <a:solidFill>
            <a:srgbClr val="DEE0E3">
              <a:alpha val="100000"/>
            </a:srgbClr>
          </a:solidFill>
          <a:ln w="25400" cap="flat" cmpd="sng">
            <a:solidFill>
              <a:srgbClr val="EB5757">
                <a:alpha val="100000"/>
              </a:srgbClr>
            </a:solidFill>
            <a:prstDash val="solid"/>
            <a:round/>
            <a:headEnd type="none" w="lg" len="lg"/>
            <a:tailEnd type="none" w="lg" len="lg"/>
          </a:ln>
        </p:spPr>
      </p:cxnSp>
      <p:cxnSp>
        <p:nvCxnSpPr>
          <p:cNvPr id="22" name="Connector 22"/>
          <p:cNvCxnSpPr/>
          <p:nvPr/>
        </p:nvCxnSpPr>
        <p:spPr>
          <a:xfrm rot="5372498">
            <a:off x="6826250" y="4406925"/>
            <a:ext cx="1587500" cy="12700"/>
          </a:xfrm>
          <a:prstGeom prst="line">
            <a:avLst/>
          </a:prstGeom>
          <a:solidFill>
            <a:srgbClr val="DEE0E3">
              <a:alpha val="100000"/>
            </a:srgbClr>
          </a:solidFill>
          <a:ln w="25400" cap="flat" cmpd="sng">
            <a:solidFill>
              <a:srgbClr val="EB5757">
                <a:alpha val="100000"/>
              </a:srgbClr>
            </a:solidFill>
            <a:prstDash val="solid"/>
            <a:round/>
            <a:headEnd type="none" w="lg" len="lg"/>
            <a:tailEnd type="none" w="lg" len="lg"/>
          </a:ln>
        </p:spPr>
      </p:cxnSp>
      <p:cxnSp>
        <p:nvCxnSpPr>
          <p:cNvPr id="23" name="Connector 23"/>
          <p:cNvCxnSpPr/>
          <p:nvPr/>
        </p:nvCxnSpPr>
        <p:spPr>
          <a:xfrm rot="10701805">
            <a:off x="7175409" y="5200650"/>
            <a:ext cx="444500" cy="12700"/>
          </a:xfrm>
          <a:prstGeom prst="line">
            <a:avLst/>
          </a:prstGeom>
          <a:solidFill>
            <a:srgbClr val="DEE0E3">
              <a:alpha val="100000"/>
            </a:srgbClr>
          </a:solidFill>
          <a:ln w="25400" cap="flat" cmpd="sng">
            <a:solidFill>
              <a:srgbClr val="EB5757">
                <a:alpha val="100000"/>
              </a:srgbClr>
            </a:solidFill>
            <a:prstDash val="solid"/>
            <a:round/>
            <a:headEnd type="none" w="lg" len="lg"/>
            <a:tailEnd type="arrow" w="med" len="med"/>
          </a:ln>
        </p:spPr>
      </p:cxnSp>
      <p:sp>
        <p:nvSpPr>
          <p:cNvPr id="24" name="AutoShape 24"/>
          <p:cNvSpPr/>
          <p:nvPr/>
        </p:nvSpPr>
        <p:spPr>
          <a:xfrm>
            <a:off x="6477000" y="3683000"/>
            <a:ext cx="101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EB5757"/>
                </a:solidFill>
                <a:latin typeface="Poppins"/>
                <a:ea typeface="Poppins"/>
                <a:cs typeface="Poppins"/>
                <a:sym typeface="Poppins"/>
              </a:rPr>
              <a:t>NO (Loop)</a:t>
            </a:r>
            <a:endParaRPr lang="en-US" sz="1100"/>
          </a:p>
        </p:txBody>
      </p:sp>
      <p:sp>
        <p:nvSpPr>
          <p:cNvPr id="25" name="AutoShape 25"/>
          <p:cNvSpPr/>
          <p:nvPr/>
        </p:nvSpPr>
        <p:spPr>
          <a:xfrm>
            <a:off x="6477000" y="53340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808080"/>
                </a:solidFill>
                <a:latin typeface="Poppins"/>
                <a:ea typeface="Poppins"/>
                <a:cs typeface="Poppins"/>
                <a:sym typeface="Poppins"/>
              </a:rPr>
              <a:t>Conditional edges enable dynamic pathfinding &amp; iteration</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Core Component 4: Graph (The Blueprint)</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66666"/>
                </a:solidFill>
                <a:latin typeface="Poppins"/>
                <a:ea typeface="Poppins"/>
                <a:cs typeface="Poppins"/>
                <a:sym typeface="Poppins"/>
              </a:rPr>
              <a:t>The entire workflow constructed from Nodes and Edges.</a:t>
            </a:r>
            <a:endParaRPr lang="en-US" sz="1100"/>
          </a:p>
        </p:txBody>
      </p:sp>
      <p:sp>
        <p:nvSpPr>
          <p:cNvPr id="4" name="AutoShape 4"/>
          <p:cNvSpPr/>
          <p:nvPr/>
        </p:nvSpPr>
        <p:spPr>
          <a:xfrm>
            <a:off x="762000" y="1905000"/>
            <a:ext cx="4826000" cy="1143000"/>
          </a:xfrm>
          <a:prstGeom prst="roundRect">
            <a:avLst>
              <a:gd name="adj" fmla="val 8888"/>
            </a:avLst>
          </a:prstGeom>
          <a:solidFill>
            <a:srgbClr val="F9F9F9">
              <a:alpha val="100000"/>
            </a:srgbClr>
          </a:solidFill>
          <a:ln w="25400" cap="flat" cmpd="sng">
            <a:noFill/>
            <a:prstDash val="solid"/>
            <a:round/>
          </a:ln>
          <a:effectLst>
            <a:outerShdw blurRad="1270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nvSpPr>
        <p:spPr>
          <a:xfrm>
            <a:off x="762000" y="1905000"/>
            <a:ext cx="76200" cy="11430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32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D40000"/>
                </a:solidFill>
                <a:latin typeface="Poppins"/>
                <a:ea typeface="Poppins"/>
                <a:cs typeface="Poppins"/>
                <a:sym typeface="Poppins"/>
              </a:rPr>
              <a:t>DEFINITION</a:t>
            </a:r>
            <a:endParaRPr lang="en-US" sz="1100"/>
          </a:p>
        </p:txBody>
      </p:sp>
      <p:sp>
        <p:nvSpPr>
          <p:cNvPr id="7" name="AutoShape 7"/>
          <p:cNvSpPr/>
          <p:nvPr/>
        </p:nvSpPr>
        <p:spPr>
          <a:xfrm>
            <a:off x="1016000" y="2413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The complete structural model that defines the application's logical flow, data dependencies, and execution paths.</a:t>
            </a:r>
            <a:endParaRPr lang="en-US" sz="1100"/>
          </a:p>
        </p:txBody>
      </p:sp>
      <p:sp>
        <p:nvSpPr>
          <p:cNvPr id="8" name="AutoShape 8"/>
          <p:cNvSpPr/>
          <p:nvPr/>
        </p:nvSpPr>
        <p:spPr>
          <a:xfrm>
            <a:off x="762000" y="3302000"/>
            <a:ext cx="4826000" cy="2413000"/>
          </a:xfrm>
          <a:prstGeom prst="roundRect">
            <a:avLst>
              <a:gd name="adj" fmla="val 4210"/>
            </a:avLst>
          </a:prstGeom>
          <a:solidFill>
            <a:srgbClr val="F9F9F9">
              <a:alpha val="100000"/>
            </a:srgbClr>
          </a:solidFill>
          <a:ln w="25400" cap="flat" cmpd="sng">
            <a:noFill/>
            <a:prstDash val="solid"/>
            <a:round/>
          </a:ln>
          <a:effectLst>
            <a:outerShdw blurRad="1270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9" name="AutoShape 9"/>
          <p:cNvSpPr/>
          <p:nvPr/>
        </p:nvSpPr>
        <p:spPr>
          <a:xfrm>
            <a:off x="762000" y="3302000"/>
            <a:ext cx="76200" cy="24130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429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D40000"/>
                </a:solidFill>
                <a:latin typeface="Poppins"/>
                <a:ea typeface="Poppins"/>
                <a:cs typeface="Poppins"/>
                <a:sym typeface="Poppins"/>
              </a:rPr>
              <a:t>ASSEMBLY LIFECYCLE</a:t>
            </a:r>
            <a:endParaRPr lang="en-US" sz="1100"/>
          </a:p>
        </p:txBody>
      </p:sp>
      <p:sp>
        <p:nvSpPr>
          <p:cNvPr id="11" name="AutoShape 11"/>
          <p:cNvSpPr/>
          <p:nvPr/>
        </p:nvSpPr>
        <p:spPr>
          <a:xfrm>
            <a:off x="1016000" y="3937000"/>
            <a:ext cx="2032000" cy="635000"/>
          </a:xfrm>
          <a:prstGeom prst="roundRect">
            <a:avLst>
              <a:gd name="adj" fmla="val 12000"/>
            </a:avLst>
          </a:prstGeom>
          <a:solidFill>
            <a:srgbClr val="FFFFFF">
              <a:alpha val="100000"/>
            </a:srgbClr>
          </a:solidFill>
          <a:ln w="25400" cap="flat" cmpd="sng">
            <a:noFill/>
            <a:prstDash val="solid"/>
            <a:round/>
          </a:ln>
          <a:effectLst>
            <a:outerShdw blurRad="76200" dist="25400" dir="2700000" algn="tl" rotWithShape="0">
              <a:srgbClr val="000000">
                <a:alpha val="4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4064000"/>
            <a:ext cx="355600" cy="355600"/>
          </a:xfrm>
          <a:prstGeom prst="rect">
            <a:avLst/>
          </a:prstGeom>
        </p:spPr>
      </p:pic>
      <p:sp>
        <p:nvSpPr>
          <p:cNvPr id="13" name="AutoShape 13"/>
          <p:cNvSpPr/>
          <p:nvPr/>
        </p:nvSpPr>
        <p:spPr>
          <a:xfrm>
            <a:off x="1587500" y="4013200"/>
            <a:ext cx="1397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33333"/>
                </a:solidFill>
                <a:latin typeface="Poppins"/>
                <a:ea typeface="Poppins"/>
                <a:cs typeface="Poppins"/>
                <a:sym typeface="Poppins"/>
              </a:rPr>
              <a:t>Define State</a:t>
            </a:r>
            <a:br>
              <a:rPr lang="en-US" sz="1600" b="0" i="0" u="none" strike="noStrike">
                <a:solidFill>
                  <a:srgbClr val="1F2329"/>
                </a:solidFill>
                <a:latin typeface="Poppins"/>
                <a:ea typeface="Poppins"/>
                <a:cs typeface="Poppins"/>
                <a:sym typeface="Poppins"/>
              </a:rPr>
            </a:br>
            <a:r>
              <a:rPr lang="en-US" sz="900" b="0" i="0" u="none" strike="noStrike">
                <a:solidFill>
                  <a:srgbClr val="808080"/>
                </a:solidFill>
                <a:latin typeface="Poppins"/>
                <a:ea typeface="Poppins"/>
                <a:cs typeface="Poppins"/>
                <a:sym typeface="Poppins"/>
              </a:rPr>
              <a:t>Create shared memory</a:t>
            </a:r>
            <a:endParaRPr lang="en-US" sz="1100"/>
          </a:p>
        </p:txBody>
      </p:sp>
      <p:sp>
        <p:nvSpPr>
          <p:cNvPr id="14" name="AutoShape 14"/>
          <p:cNvSpPr/>
          <p:nvPr/>
        </p:nvSpPr>
        <p:spPr>
          <a:xfrm>
            <a:off x="3175000" y="3937000"/>
            <a:ext cx="2032000" cy="635000"/>
          </a:xfrm>
          <a:prstGeom prst="roundRect">
            <a:avLst>
              <a:gd name="adj" fmla="val 12000"/>
            </a:avLst>
          </a:prstGeom>
          <a:solidFill>
            <a:srgbClr val="FFFFFF">
              <a:alpha val="100000"/>
            </a:srgbClr>
          </a:solidFill>
          <a:ln w="25400" cap="flat" cmpd="sng">
            <a:noFill/>
            <a:prstDash val="solid"/>
            <a:round/>
          </a:ln>
          <a:effectLst>
            <a:outerShdw blurRad="76200" dist="25400" dir="2700000" algn="tl" rotWithShape="0">
              <a:srgbClr val="000000">
                <a:alpha val="4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02000" y="4064000"/>
            <a:ext cx="355600" cy="355600"/>
          </a:xfrm>
          <a:prstGeom prst="rect">
            <a:avLst/>
          </a:prstGeom>
        </p:spPr>
      </p:pic>
      <p:sp>
        <p:nvSpPr>
          <p:cNvPr id="16" name="AutoShape 16"/>
          <p:cNvSpPr/>
          <p:nvPr/>
        </p:nvSpPr>
        <p:spPr>
          <a:xfrm>
            <a:off x="3746500" y="4013200"/>
            <a:ext cx="1397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33333"/>
                </a:solidFill>
                <a:latin typeface="Poppins"/>
                <a:ea typeface="Poppins"/>
                <a:cs typeface="Poppins"/>
                <a:sym typeface="Poppins"/>
              </a:rPr>
              <a:t>Add Nodes</a:t>
            </a:r>
            <a:br>
              <a:rPr lang="en-US" sz="1600" b="0" i="0" u="none" strike="noStrike">
                <a:solidFill>
                  <a:srgbClr val="1F2329"/>
                </a:solidFill>
                <a:latin typeface="Poppins"/>
                <a:ea typeface="Poppins"/>
                <a:cs typeface="Poppins"/>
                <a:sym typeface="Poppins"/>
              </a:rPr>
            </a:br>
            <a:r>
              <a:rPr lang="en-US" sz="900" b="0" i="0" u="none" strike="noStrike">
                <a:solidFill>
                  <a:srgbClr val="808080"/>
                </a:solidFill>
                <a:latin typeface="Poppins"/>
                <a:ea typeface="Poppins"/>
                <a:cs typeface="Poppins"/>
                <a:sym typeface="Poppins"/>
              </a:rPr>
              <a:t>Register worker logic</a:t>
            </a:r>
            <a:endParaRPr lang="en-US" sz="1100"/>
          </a:p>
        </p:txBody>
      </p:sp>
      <p:sp>
        <p:nvSpPr>
          <p:cNvPr id="17" name="AutoShape 17"/>
          <p:cNvSpPr/>
          <p:nvPr/>
        </p:nvSpPr>
        <p:spPr>
          <a:xfrm>
            <a:off x="1016000" y="4826000"/>
            <a:ext cx="2032000" cy="635000"/>
          </a:xfrm>
          <a:prstGeom prst="roundRect">
            <a:avLst>
              <a:gd name="adj" fmla="val 12000"/>
            </a:avLst>
          </a:prstGeom>
          <a:solidFill>
            <a:srgbClr val="FFFFFF">
              <a:alpha val="100000"/>
            </a:srgbClr>
          </a:solidFill>
          <a:ln w="25400" cap="flat" cmpd="sng">
            <a:noFill/>
            <a:prstDash val="solid"/>
            <a:round/>
          </a:ln>
          <a:effectLst>
            <a:outerShdw blurRad="76200" dist="25400" dir="2700000" algn="tl" rotWithShape="0">
              <a:srgbClr val="000000">
                <a:alpha val="4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4953000"/>
            <a:ext cx="355600" cy="355600"/>
          </a:xfrm>
          <a:prstGeom prst="rect">
            <a:avLst/>
          </a:prstGeom>
        </p:spPr>
      </p:pic>
      <p:sp>
        <p:nvSpPr>
          <p:cNvPr id="19" name="AutoShape 19"/>
          <p:cNvSpPr/>
          <p:nvPr/>
        </p:nvSpPr>
        <p:spPr>
          <a:xfrm>
            <a:off x="1587500" y="4902200"/>
            <a:ext cx="1397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33333"/>
                </a:solidFill>
                <a:latin typeface="Poppins"/>
                <a:ea typeface="Poppins"/>
                <a:cs typeface="Poppins"/>
                <a:sym typeface="Poppins"/>
              </a:rPr>
              <a:t>Add Edges</a:t>
            </a:r>
            <a:br>
              <a:rPr lang="en-US" sz="1600" b="0" i="0" u="none" strike="noStrike">
                <a:solidFill>
                  <a:srgbClr val="1F2329"/>
                </a:solidFill>
                <a:latin typeface="Poppins"/>
                <a:ea typeface="Poppins"/>
                <a:cs typeface="Poppins"/>
                <a:sym typeface="Poppins"/>
              </a:rPr>
            </a:br>
            <a:r>
              <a:rPr lang="en-US" sz="900" b="0" i="0" u="none" strike="noStrike">
                <a:solidFill>
                  <a:srgbClr val="808080"/>
                </a:solidFill>
                <a:latin typeface="Poppins"/>
                <a:ea typeface="Poppins"/>
                <a:cs typeface="Poppins"/>
                <a:sym typeface="Poppins"/>
              </a:rPr>
              <a:t>Set flow &amp; rules</a:t>
            </a:r>
            <a:endParaRPr lang="en-US" sz="1100"/>
          </a:p>
        </p:txBody>
      </p:sp>
      <p:sp>
        <p:nvSpPr>
          <p:cNvPr id="20" name="AutoShape 20"/>
          <p:cNvSpPr/>
          <p:nvPr/>
        </p:nvSpPr>
        <p:spPr>
          <a:xfrm>
            <a:off x="3175000" y="4826000"/>
            <a:ext cx="2032000" cy="635000"/>
          </a:xfrm>
          <a:prstGeom prst="roundRect">
            <a:avLst>
              <a:gd name="adj" fmla="val 12000"/>
            </a:avLst>
          </a:prstGeom>
          <a:solidFill>
            <a:srgbClr val="FFFFFF">
              <a:alpha val="100000"/>
            </a:srgbClr>
          </a:solidFill>
          <a:ln w="25400" cap="flat" cmpd="sng">
            <a:noFill/>
            <a:prstDash val="solid"/>
            <a:round/>
          </a:ln>
          <a:effectLst>
            <a:outerShdw blurRad="76200" dist="25400" dir="2700000" algn="tl" rotWithShape="0">
              <a:srgbClr val="000000">
                <a:alpha val="4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02000" y="4953000"/>
            <a:ext cx="355600" cy="355600"/>
          </a:xfrm>
          <a:prstGeom prst="rect">
            <a:avLst/>
          </a:prstGeom>
        </p:spPr>
      </p:pic>
      <p:sp>
        <p:nvSpPr>
          <p:cNvPr id="22" name="AutoShape 22"/>
          <p:cNvSpPr/>
          <p:nvPr/>
        </p:nvSpPr>
        <p:spPr>
          <a:xfrm>
            <a:off x="3746500" y="4902200"/>
            <a:ext cx="13970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33333"/>
                </a:solidFill>
                <a:latin typeface="Poppins"/>
                <a:ea typeface="Poppins"/>
                <a:cs typeface="Poppins"/>
                <a:sym typeface="Poppins"/>
              </a:rPr>
              <a:t>Compile</a:t>
            </a:r>
            <a:br>
              <a:rPr lang="en-US" sz="1600" b="0" i="0" u="none" strike="noStrike">
                <a:solidFill>
                  <a:srgbClr val="1F2329"/>
                </a:solidFill>
                <a:latin typeface="Poppins"/>
                <a:ea typeface="Poppins"/>
                <a:cs typeface="Poppins"/>
                <a:sym typeface="Poppins"/>
              </a:rPr>
            </a:br>
            <a:r>
              <a:rPr lang="en-US" sz="900" b="0" i="0" u="none" strike="noStrike">
                <a:solidFill>
                  <a:srgbClr val="808080"/>
                </a:solidFill>
                <a:latin typeface="Poppins"/>
                <a:ea typeface="Poppins"/>
                <a:cs typeface="Poppins"/>
                <a:sym typeface="Poppins"/>
              </a:rPr>
              <a:t>Build executable</a:t>
            </a:r>
            <a:endParaRPr lang="en-US" sz="1100"/>
          </a:p>
        </p:txBody>
      </p:sp>
      <p:sp>
        <p:nvSpPr>
          <p:cNvPr id="23" name="AutoShape 23"/>
          <p:cNvSpPr/>
          <p:nvPr/>
        </p:nvSpPr>
        <p:spPr>
          <a:xfrm>
            <a:off x="5842000" y="1905000"/>
            <a:ext cx="5334000" cy="3556000"/>
          </a:xfrm>
          <a:prstGeom prst="roundRect">
            <a:avLst>
              <a:gd name="adj" fmla="val 4285"/>
            </a:avLst>
          </a:prstGeom>
          <a:solidFill>
            <a:srgbClr val="FEF0F0">
              <a:alpha val="100000"/>
            </a:srgbClr>
          </a:solidFill>
          <a:ln w="25400" cap="flat" cmpd="sng">
            <a:noFill/>
            <a:prstDash val="solid"/>
            <a:round/>
          </a:ln>
          <a:effectLst>
            <a:outerShdw blurRad="1524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24" name="AutoShape 24"/>
          <p:cNvSpPr/>
          <p:nvPr/>
        </p:nvSpPr>
        <p:spPr>
          <a:xfrm>
            <a:off x="6096000" y="2286000"/>
            <a:ext cx="1270000" cy="2413000"/>
          </a:xfrm>
          <a:prstGeom prst="roundRect">
            <a:avLst>
              <a:gd name="adj" fmla="val 8000"/>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25" name="AutoShape 25"/>
          <p:cNvSpPr/>
          <p:nvPr/>
        </p:nvSpPr>
        <p:spPr>
          <a:xfrm>
            <a:off x="6096000" y="2413000"/>
            <a:ext cx="1270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Poppins"/>
                <a:ea typeface="Poppins"/>
                <a:cs typeface="Poppins"/>
                <a:sym typeface="Poppins"/>
              </a:rPr>
              <a:t>Components</a:t>
            </a:r>
            <a:endParaRPr lang="en-US" sz="1100"/>
          </a:p>
        </p:txBody>
      </p:sp>
      <p:sp>
        <p:nvSpPr>
          <p:cNvPr id="26" name="AutoShape 26"/>
          <p:cNvSpPr/>
          <p:nvPr/>
        </p:nvSpPr>
        <p:spPr>
          <a:xfrm>
            <a:off x="6223000" y="2794000"/>
            <a:ext cx="1016000" cy="508000"/>
          </a:xfrm>
          <a:prstGeom prst="roundRect">
            <a:avLst>
              <a:gd name="adj" fmla="val 15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86500" y="2895600"/>
            <a:ext cx="254000" cy="254000"/>
          </a:xfrm>
          <a:prstGeom prst="rect">
            <a:avLst/>
          </a:prstGeom>
        </p:spPr>
      </p:pic>
      <p:sp>
        <p:nvSpPr>
          <p:cNvPr id="28" name="AutoShape 28"/>
          <p:cNvSpPr/>
          <p:nvPr/>
        </p:nvSpPr>
        <p:spPr>
          <a:xfrm>
            <a:off x="6604000" y="2895600"/>
            <a:ext cx="571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505050"/>
                </a:solidFill>
                <a:latin typeface="Poppins"/>
                <a:ea typeface="Poppins"/>
                <a:cs typeface="Poppins"/>
                <a:sym typeface="Poppins"/>
              </a:rPr>
              <a:t>State</a:t>
            </a:r>
            <a:endParaRPr lang="en-US" sz="1100"/>
          </a:p>
        </p:txBody>
      </p:sp>
      <p:sp>
        <p:nvSpPr>
          <p:cNvPr id="29" name="AutoShape 29"/>
          <p:cNvSpPr/>
          <p:nvPr/>
        </p:nvSpPr>
        <p:spPr>
          <a:xfrm>
            <a:off x="6223000" y="3429000"/>
            <a:ext cx="1016000" cy="508000"/>
          </a:xfrm>
          <a:prstGeom prst="roundRect">
            <a:avLst>
              <a:gd name="adj" fmla="val 15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286500" y="3530600"/>
            <a:ext cx="254000" cy="254000"/>
          </a:xfrm>
          <a:prstGeom prst="rect">
            <a:avLst/>
          </a:prstGeom>
        </p:spPr>
      </p:pic>
      <p:sp>
        <p:nvSpPr>
          <p:cNvPr id="31" name="AutoShape 31"/>
          <p:cNvSpPr/>
          <p:nvPr/>
        </p:nvSpPr>
        <p:spPr>
          <a:xfrm>
            <a:off x="6604000" y="3530600"/>
            <a:ext cx="571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505050"/>
                </a:solidFill>
                <a:latin typeface="Poppins"/>
                <a:ea typeface="Poppins"/>
                <a:cs typeface="Poppins"/>
                <a:sym typeface="Poppins"/>
              </a:rPr>
              <a:t>Node</a:t>
            </a:r>
            <a:endParaRPr lang="en-US" sz="1100"/>
          </a:p>
        </p:txBody>
      </p:sp>
      <p:sp>
        <p:nvSpPr>
          <p:cNvPr id="32" name="AutoShape 32"/>
          <p:cNvSpPr/>
          <p:nvPr/>
        </p:nvSpPr>
        <p:spPr>
          <a:xfrm>
            <a:off x="6223000" y="4064000"/>
            <a:ext cx="1016000" cy="508000"/>
          </a:xfrm>
          <a:prstGeom prst="roundRect">
            <a:avLst>
              <a:gd name="adj" fmla="val 15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86500" y="4165600"/>
            <a:ext cx="254000" cy="254000"/>
          </a:xfrm>
          <a:prstGeom prst="rect">
            <a:avLst/>
          </a:prstGeom>
        </p:spPr>
      </p:pic>
      <p:sp>
        <p:nvSpPr>
          <p:cNvPr id="34" name="AutoShape 34"/>
          <p:cNvSpPr/>
          <p:nvPr/>
        </p:nvSpPr>
        <p:spPr>
          <a:xfrm>
            <a:off x="6604000" y="4165600"/>
            <a:ext cx="571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505050"/>
                </a:solidFill>
                <a:latin typeface="Poppins"/>
                <a:ea typeface="Poppins"/>
                <a:cs typeface="Poppins"/>
                <a:sym typeface="Poppins"/>
              </a:rPr>
              <a:t>Edge</a:t>
            </a:r>
            <a:endParaRPr lang="en-US" sz="1100"/>
          </a:p>
        </p:txBody>
      </p:sp>
      <p:pic>
        <p:nvPicPr>
          <p:cNvPr id="35" name="Picture 35"/>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620000" y="3175000"/>
            <a:ext cx="609600" cy="609600"/>
          </a:xfrm>
          <a:prstGeom prst="rect">
            <a:avLst/>
          </a:prstGeom>
        </p:spPr>
      </p:pic>
      <p:sp>
        <p:nvSpPr>
          <p:cNvPr id="36" name="AutoShape 36"/>
          <p:cNvSpPr/>
          <p:nvPr/>
        </p:nvSpPr>
        <p:spPr>
          <a:xfrm>
            <a:off x="8509000" y="2286000"/>
            <a:ext cx="2159000" cy="2413000"/>
          </a:xfrm>
          <a:prstGeom prst="roundRect">
            <a:avLst>
              <a:gd name="adj" fmla="val 4705"/>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37" name="AutoShape 37"/>
          <p:cNvSpPr/>
          <p:nvPr/>
        </p:nvSpPr>
        <p:spPr>
          <a:xfrm>
            <a:off x="8509000" y="2413000"/>
            <a:ext cx="215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Poppins"/>
                <a:ea typeface="Poppins"/>
                <a:cs typeface="Poppins"/>
                <a:sym typeface="Poppins"/>
              </a:rPr>
              <a:t>Assembly Result</a:t>
            </a:r>
            <a:endParaRPr lang="en-US" sz="1100"/>
          </a:p>
        </p:txBody>
      </p:sp>
      <p:sp>
        <p:nvSpPr>
          <p:cNvPr id="38" name="AutoShape 38"/>
          <p:cNvSpPr/>
          <p:nvPr/>
        </p:nvSpPr>
        <p:spPr>
          <a:xfrm>
            <a:off x="8826500" y="2921000"/>
            <a:ext cx="1524000" cy="1143000"/>
          </a:xfrm>
          <a:prstGeom prst="roundRect">
            <a:avLst>
              <a:gd name="adj" fmla="val 11111"/>
            </a:avLst>
          </a:prstGeom>
          <a:solidFill>
            <a:srgbClr val="FEF5F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9" name="Picture 39"/>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144000" y="3111500"/>
            <a:ext cx="889000" cy="762000"/>
          </a:xfrm>
          <a:prstGeom prst="rect">
            <a:avLst/>
          </a:prstGeom>
        </p:spPr>
      </p:pic>
      <p:sp>
        <p:nvSpPr>
          <p:cNvPr id="40" name="AutoShape 40"/>
          <p:cNvSpPr/>
          <p:nvPr/>
        </p:nvSpPr>
        <p:spPr>
          <a:xfrm>
            <a:off x="8509000" y="4191000"/>
            <a:ext cx="215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D40000"/>
                </a:solidFill>
                <a:latin typeface="Poppins"/>
                <a:ea typeface="Poppins"/>
                <a:cs typeface="Poppins"/>
                <a:sym typeface="Poppins"/>
              </a:rPr>
              <a:t>Compiled Graph</a:t>
            </a:r>
            <a:br>
              <a:rPr lang="en-US" sz="1600" b="0" i="0" u="none" strike="noStrike">
                <a:solidFill>
                  <a:srgbClr val="1F2329"/>
                </a:solidFill>
                <a:latin typeface="Poppins"/>
                <a:ea typeface="Poppins"/>
                <a:cs typeface="Poppins"/>
                <a:sym typeface="Poppins"/>
              </a:rPr>
            </a:br>
            <a:r>
              <a:rPr lang="en-US" sz="1000" b="0" i="0" u="none" strike="noStrike">
                <a:solidFill>
                  <a:srgbClr val="646464"/>
                </a:solidFill>
                <a:latin typeface="Poppins"/>
                <a:ea typeface="Poppins"/>
                <a:cs typeface="Poppins"/>
                <a:sym typeface="Poppins"/>
              </a:rPr>
              <a:t>Ready to Run Application</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Indie Flower"/>
                <a:ea typeface="Indie Flower"/>
                <a:cs typeface="Indie Flower"/>
                <a:sym typeface="Indie Flower"/>
              </a:rPr>
              <a:t>Workflow vs. Agent</a:t>
            </a:r>
            <a:endParaRPr lang="en-US" sz="1100"/>
          </a:p>
        </p:txBody>
      </p:sp>
      <p:sp>
        <p:nvSpPr>
          <p:cNvPr id="3" name="AutoShape 3"/>
          <p:cNvSpPr/>
          <p:nvPr/>
        </p:nvSpPr>
        <p:spPr>
          <a:xfrm>
            <a:off x="762000" y="1524000"/>
            <a:ext cx="5207000" cy="2413000"/>
          </a:xfrm>
          <a:prstGeom prst="roundRect">
            <a:avLst>
              <a:gd name="adj" fmla="val 6315"/>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355600" cy="355600"/>
          </a:xfrm>
          <a:prstGeom prst="rect">
            <a:avLst/>
          </a:prstGeom>
        </p:spPr>
      </p:pic>
      <p:sp>
        <p:nvSpPr>
          <p:cNvPr id="5" name="AutoShape 5"/>
          <p:cNvSpPr/>
          <p:nvPr/>
        </p:nvSpPr>
        <p:spPr>
          <a:xfrm>
            <a:off x="1524000" y="171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40000"/>
                </a:solidFill>
                <a:latin typeface="Poppins"/>
                <a:ea typeface="Poppins"/>
                <a:cs typeface="Poppins"/>
                <a:sym typeface="Poppins"/>
              </a:rPr>
              <a:t>WORKFLOW</a:t>
            </a:r>
            <a:r>
              <a:rPr lang="en-US" sz="1400" b="0" i="0" u="none" strike="noStrike">
                <a:solidFill>
                  <a:srgbClr val="6B7280"/>
                </a:solidFill>
                <a:latin typeface="Noto Sans SC"/>
                <a:ea typeface="Noto Sans SC"/>
                <a:cs typeface="Noto Sans SC"/>
                <a:sym typeface="Noto Sans SC"/>
              </a:rPr>
              <a:t>| Rigid &amp; Predefined</a:t>
            </a:r>
            <a:endParaRPr lang="en-US" sz="1100"/>
          </a:p>
        </p:txBody>
      </p:sp>
      <p:sp>
        <p:nvSpPr>
          <p:cNvPr id="6" name="AutoShape 6"/>
          <p:cNvSpPr/>
          <p:nvPr/>
        </p:nvSpPr>
        <p:spPr>
          <a:xfrm>
            <a:off x="1016000" y="2286000"/>
            <a:ext cx="4699000" cy="508000"/>
          </a:xfrm>
          <a:prstGeom prst="roundRect">
            <a:avLst>
              <a:gd name="adj" fmla="val 15000"/>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7" name="AutoShape 7"/>
          <p:cNvSpPr/>
          <p:nvPr/>
        </p:nvSpPr>
        <p:spPr>
          <a:xfrm>
            <a:off x="1206500" y="2387600"/>
            <a:ext cx="101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Poppins"/>
                <a:ea typeface="Poppins"/>
                <a:cs typeface="Poppins"/>
                <a:sym typeface="Poppins"/>
              </a:rPr>
              <a:t>NATURE</a:t>
            </a:r>
            <a:endParaRPr lang="en-US" sz="1100"/>
          </a:p>
        </p:txBody>
      </p:sp>
      <p:sp>
        <p:nvSpPr>
          <p:cNvPr id="8" name="AutoShape 8"/>
          <p:cNvSpPr/>
          <p:nvPr/>
        </p:nvSpPr>
        <p:spPr>
          <a:xfrm>
            <a:off x="2286000" y="23876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25252"/>
                </a:solidFill>
                <a:latin typeface="Noto Sans SC"/>
                <a:ea typeface="Noto Sans SC"/>
                <a:cs typeface="Noto Sans SC"/>
                <a:sym typeface="Noto Sans SC"/>
              </a:rPr>
              <a:t>Fixed, rule-based process with zero deviation.</a:t>
            </a:r>
            <a:endParaRPr lang="en-US" sz="1100"/>
          </a:p>
        </p:txBody>
      </p:sp>
      <p:sp>
        <p:nvSpPr>
          <p:cNvPr id="9" name="AutoShape 9"/>
          <p:cNvSpPr/>
          <p:nvPr/>
        </p:nvSpPr>
        <p:spPr>
          <a:xfrm>
            <a:off x="1016000" y="2921000"/>
            <a:ext cx="4699000" cy="508000"/>
          </a:xfrm>
          <a:prstGeom prst="roundRect">
            <a:avLst>
              <a:gd name="adj" fmla="val 15000"/>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nvSpPr>
        <p:spPr>
          <a:xfrm>
            <a:off x="1206500" y="3022600"/>
            <a:ext cx="101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Poppins"/>
                <a:ea typeface="Poppins"/>
                <a:cs typeface="Poppins"/>
                <a:sym typeface="Poppins"/>
              </a:rPr>
              <a:t>EXECUTION</a:t>
            </a:r>
            <a:endParaRPr lang="en-US" sz="1100"/>
          </a:p>
        </p:txBody>
      </p:sp>
      <p:sp>
        <p:nvSpPr>
          <p:cNvPr id="11" name="AutoShape 11"/>
          <p:cNvSpPr/>
          <p:nvPr/>
        </p:nvSpPr>
        <p:spPr>
          <a:xfrm>
            <a:off x="2286000" y="30226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25252"/>
                </a:solidFill>
                <a:latin typeface="Noto Sans SC"/>
                <a:ea typeface="Noto Sans SC"/>
                <a:cs typeface="Noto Sans SC"/>
                <a:sym typeface="Noto Sans SC"/>
              </a:rPr>
              <a:t>Follows a strict, pre-written script step-by-step.</a:t>
            </a:r>
            <a:endParaRPr lang="en-US" sz="1100"/>
          </a:p>
        </p:txBody>
      </p:sp>
      <p:sp>
        <p:nvSpPr>
          <p:cNvPr id="12" name="AutoShape 12"/>
          <p:cNvSpPr/>
          <p:nvPr/>
        </p:nvSpPr>
        <p:spPr>
          <a:xfrm>
            <a:off x="6223000" y="1524000"/>
            <a:ext cx="5207000" cy="2413000"/>
          </a:xfrm>
          <a:prstGeom prst="roundRect">
            <a:avLst>
              <a:gd name="adj" fmla="val 6315"/>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14500"/>
            <a:ext cx="355600" cy="355600"/>
          </a:xfrm>
          <a:prstGeom prst="rect">
            <a:avLst/>
          </a:prstGeom>
        </p:spPr>
      </p:pic>
      <p:sp>
        <p:nvSpPr>
          <p:cNvPr id="14" name="AutoShape 14"/>
          <p:cNvSpPr/>
          <p:nvPr/>
        </p:nvSpPr>
        <p:spPr>
          <a:xfrm>
            <a:off x="6985000" y="171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40000"/>
                </a:solidFill>
                <a:latin typeface="Poppins"/>
                <a:ea typeface="Poppins"/>
                <a:cs typeface="Poppins"/>
                <a:sym typeface="Poppins"/>
              </a:rPr>
              <a:t>AI AGENT</a:t>
            </a:r>
            <a:r>
              <a:rPr lang="en-US" sz="1400" b="0" i="0" u="none" strike="noStrike">
                <a:solidFill>
                  <a:srgbClr val="6B7280"/>
                </a:solidFill>
                <a:latin typeface="Noto Sans SC"/>
                <a:ea typeface="Noto Sans SC"/>
                <a:cs typeface="Noto Sans SC"/>
                <a:sym typeface="Noto Sans SC"/>
              </a:rPr>
              <a:t>| Autonomous &amp; Dynamic</a:t>
            </a:r>
            <a:endParaRPr lang="en-US" sz="1100"/>
          </a:p>
        </p:txBody>
      </p:sp>
      <p:sp>
        <p:nvSpPr>
          <p:cNvPr id="15" name="AutoShape 15"/>
          <p:cNvSpPr/>
          <p:nvPr/>
        </p:nvSpPr>
        <p:spPr>
          <a:xfrm>
            <a:off x="6477000" y="2286000"/>
            <a:ext cx="4699000" cy="508000"/>
          </a:xfrm>
          <a:prstGeom prst="roundRect">
            <a:avLst>
              <a:gd name="adj" fmla="val 15000"/>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6" name="AutoShape 16"/>
          <p:cNvSpPr/>
          <p:nvPr/>
        </p:nvSpPr>
        <p:spPr>
          <a:xfrm>
            <a:off x="6667500" y="2387600"/>
            <a:ext cx="101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Poppins"/>
                <a:ea typeface="Poppins"/>
                <a:cs typeface="Poppins"/>
                <a:sym typeface="Poppins"/>
              </a:rPr>
              <a:t>NATURE</a:t>
            </a:r>
            <a:endParaRPr lang="en-US" sz="1100"/>
          </a:p>
        </p:txBody>
      </p:sp>
      <p:sp>
        <p:nvSpPr>
          <p:cNvPr id="17" name="AutoShape 17"/>
          <p:cNvSpPr/>
          <p:nvPr/>
        </p:nvSpPr>
        <p:spPr>
          <a:xfrm>
            <a:off x="7747000" y="23876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25252"/>
                </a:solidFill>
                <a:latin typeface="Noto Sans SC"/>
                <a:ea typeface="Noto Sans SC"/>
                <a:cs typeface="Noto Sans SC"/>
                <a:sym typeface="Noto Sans SC"/>
              </a:rPr>
              <a:t>AI-native core with reasoning &amp; self-learning.</a:t>
            </a:r>
            <a:endParaRPr lang="en-US" sz="1100"/>
          </a:p>
        </p:txBody>
      </p:sp>
      <p:sp>
        <p:nvSpPr>
          <p:cNvPr id="18" name="AutoShape 18"/>
          <p:cNvSpPr/>
          <p:nvPr/>
        </p:nvSpPr>
        <p:spPr>
          <a:xfrm>
            <a:off x="6477000" y="2921000"/>
            <a:ext cx="4699000" cy="508000"/>
          </a:xfrm>
          <a:prstGeom prst="roundRect">
            <a:avLst>
              <a:gd name="adj" fmla="val 15000"/>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9" name="AutoShape 19"/>
          <p:cNvSpPr/>
          <p:nvPr/>
        </p:nvSpPr>
        <p:spPr>
          <a:xfrm>
            <a:off x="6667500" y="3022600"/>
            <a:ext cx="101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Poppins"/>
                <a:ea typeface="Poppins"/>
                <a:cs typeface="Poppins"/>
                <a:sym typeface="Poppins"/>
              </a:rPr>
              <a:t>EXECUTION</a:t>
            </a:r>
            <a:endParaRPr lang="en-US" sz="1100"/>
          </a:p>
        </p:txBody>
      </p:sp>
      <p:sp>
        <p:nvSpPr>
          <p:cNvPr id="20" name="AutoShape 20"/>
          <p:cNvSpPr/>
          <p:nvPr/>
        </p:nvSpPr>
        <p:spPr>
          <a:xfrm>
            <a:off x="7747000" y="30226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25252"/>
                </a:solidFill>
                <a:latin typeface="Noto Sans SC"/>
                <a:ea typeface="Noto Sans SC"/>
                <a:cs typeface="Noto Sans SC"/>
                <a:sym typeface="Noto Sans SC"/>
              </a:rPr>
              <a:t>Proactively decomposes tasks &amp; plans dynamically.</a:t>
            </a:r>
            <a:endParaRPr lang="en-US" sz="1100"/>
          </a:p>
        </p:txBody>
      </p:sp>
      <p:sp>
        <p:nvSpPr>
          <p:cNvPr id="21" name="AutoShape 21"/>
          <p:cNvSpPr/>
          <p:nvPr/>
        </p:nvSpPr>
        <p:spPr>
          <a:xfrm>
            <a:off x="762000" y="4191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2" name="AutoShape 22"/>
          <p:cNvSpPr/>
          <p:nvPr/>
        </p:nvSpPr>
        <p:spPr>
          <a:xfrm>
            <a:off x="1016000" y="4381500"/>
            <a:ext cx="469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6B7280"/>
                </a:solidFill>
                <a:latin typeface="Poppins"/>
                <a:ea typeface="Poppins"/>
                <a:cs typeface="Poppins"/>
                <a:sym typeface="Poppins"/>
              </a:rPr>
              <a:t>ARCHITECTURE: LINEAR PIPELINE</a:t>
            </a:r>
            <a:endParaRPr lang="en-US" sz="1100"/>
          </a:p>
        </p:txBody>
      </p:sp>
      <p:sp>
        <p:nvSpPr>
          <p:cNvPr id="23" name="AutoShape 23"/>
          <p:cNvSpPr/>
          <p:nvPr/>
        </p:nvSpPr>
        <p:spPr>
          <a:xfrm>
            <a:off x="6223000" y="4191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4" name="AutoShape 24"/>
          <p:cNvSpPr/>
          <p:nvPr/>
        </p:nvSpPr>
        <p:spPr>
          <a:xfrm>
            <a:off x="6477000" y="4381500"/>
            <a:ext cx="469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6B7280"/>
                </a:solidFill>
                <a:latin typeface="Poppins"/>
                <a:ea typeface="Poppins"/>
                <a:cs typeface="Poppins"/>
                <a:sym typeface="Poppins"/>
              </a:rPr>
              <a:t>ARCHITECTURE: DYNAMIC NETWORK</a:t>
            </a:r>
            <a:endParaRPr lang="en-US" sz="1100"/>
          </a:p>
        </p:txBody>
      </p:sp>
      <p:sp>
        <p:nvSpPr>
          <p:cNvPr id="25" name="AutoShape 25"/>
          <p:cNvSpPr/>
          <p:nvPr/>
        </p:nvSpPr>
        <p:spPr>
          <a:xfrm>
            <a:off x="1016000" y="4826000"/>
            <a:ext cx="889000" cy="635000"/>
          </a:xfrm>
          <a:prstGeom prst="roundRect">
            <a:avLst>
              <a:gd name="adj" fmla="val 0"/>
            </a:avLst>
          </a:prstGeom>
          <a:solidFill>
            <a:srgbClr val="F3F4F6">
              <a:alpha val="100000"/>
            </a:srgbClr>
          </a:solidFill>
          <a:ln w="25400" cap="flat" cmpd="sng">
            <a:solidFill>
              <a:srgbClr val="374151">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74151"/>
                </a:solidFill>
                <a:latin typeface="Indie Flower"/>
                <a:ea typeface="Indie Flower"/>
                <a:cs typeface="Indie Flower"/>
                <a:sym typeface="Indie Flower"/>
              </a:rPr>
              <a:t>Step 1</a:t>
            </a:r>
            <a:endParaRPr lang="en-US" sz="1100"/>
          </a:p>
        </p:txBody>
      </p:sp>
      <p:sp>
        <p:nvSpPr>
          <p:cNvPr id="26" name="AutoShape 26"/>
          <p:cNvSpPr/>
          <p:nvPr/>
        </p:nvSpPr>
        <p:spPr>
          <a:xfrm>
            <a:off x="1968500" y="5016500"/>
            <a:ext cx="254000" cy="254000"/>
          </a:xfrm>
          <a:prstGeom prst="rightArrow">
            <a:avLst/>
          </a:prstGeom>
          <a:solidFill>
            <a:srgbClr val="37415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2286000" y="4826000"/>
            <a:ext cx="889000" cy="635000"/>
          </a:xfrm>
          <a:prstGeom prst="roundRect">
            <a:avLst>
              <a:gd name="adj" fmla="val 0"/>
            </a:avLst>
          </a:prstGeom>
          <a:solidFill>
            <a:srgbClr val="F3F4F6">
              <a:alpha val="100000"/>
            </a:srgbClr>
          </a:solidFill>
          <a:ln w="25400" cap="flat" cmpd="sng">
            <a:solidFill>
              <a:srgbClr val="374151">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74151"/>
                </a:solidFill>
                <a:latin typeface="Indie Flower"/>
                <a:ea typeface="Indie Flower"/>
                <a:cs typeface="Indie Flower"/>
                <a:sym typeface="Indie Flower"/>
              </a:rPr>
              <a:t>Step 2</a:t>
            </a:r>
            <a:endParaRPr lang="en-US" sz="1100"/>
          </a:p>
        </p:txBody>
      </p:sp>
      <p:sp>
        <p:nvSpPr>
          <p:cNvPr id="28" name="AutoShape 28"/>
          <p:cNvSpPr/>
          <p:nvPr/>
        </p:nvSpPr>
        <p:spPr>
          <a:xfrm>
            <a:off x="3238500" y="5016500"/>
            <a:ext cx="254000" cy="254000"/>
          </a:xfrm>
          <a:prstGeom prst="rightArrow">
            <a:avLst/>
          </a:prstGeom>
          <a:solidFill>
            <a:srgbClr val="37415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3556000" y="4826000"/>
            <a:ext cx="889000" cy="635000"/>
          </a:xfrm>
          <a:prstGeom prst="roundRect">
            <a:avLst>
              <a:gd name="adj" fmla="val 0"/>
            </a:avLst>
          </a:prstGeom>
          <a:solidFill>
            <a:srgbClr val="F3F4F6">
              <a:alpha val="100000"/>
            </a:srgbClr>
          </a:solidFill>
          <a:ln w="25400" cap="flat" cmpd="sng">
            <a:solidFill>
              <a:srgbClr val="374151">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74151"/>
                </a:solidFill>
                <a:latin typeface="Indie Flower"/>
                <a:ea typeface="Indie Flower"/>
                <a:cs typeface="Indie Flower"/>
                <a:sym typeface="Indie Flower"/>
              </a:rPr>
              <a:t>Step 3</a:t>
            </a:r>
            <a:endParaRPr lang="en-US" sz="1100"/>
          </a:p>
        </p:txBody>
      </p:sp>
      <p:sp>
        <p:nvSpPr>
          <p:cNvPr id="30" name="AutoShape 30"/>
          <p:cNvSpPr/>
          <p:nvPr/>
        </p:nvSpPr>
        <p:spPr>
          <a:xfrm>
            <a:off x="4508500" y="5016500"/>
            <a:ext cx="254000" cy="254000"/>
          </a:xfrm>
          <a:prstGeom prst="rightArrow">
            <a:avLst/>
          </a:prstGeom>
          <a:solidFill>
            <a:srgbClr val="374151">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4826000" y="4826000"/>
            <a:ext cx="889000" cy="635000"/>
          </a:xfrm>
          <a:prstGeom prst="roundRect">
            <a:avLst>
              <a:gd name="adj" fmla="val 0"/>
            </a:avLst>
          </a:prstGeom>
          <a:solidFill>
            <a:srgbClr val="FEF2F2">
              <a:alpha val="10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D40000"/>
                </a:solidFill>
                <a:latin typeface="Indie Flower"/>
                <a:ea typeface="Indie Flower"/>
                <a:cs typeface="Indie Flower"/>
                <a:sym typeface="Indie Flower"/>
              </a:rPr>
              <a:t>Step 4</a:t>
            </a:r>
            <a:endParaRPr lang="en-US" sz="1100"/>
          </a:p>
        </p:txBody>
      </p:sp>
      <p:sp>
        <p:nvSpPr>
          <p:cNvPr id="32" name="AutoShape 32"/>
          <p:cNvSpPr/>
          <p:nvPr/>
        </p:nvSpPr>
        <p:spPr>
          <a:xfrm>
            <a:off x="8064500" y="4699000"/>
            <a:ext cx="1016000" cy="1016000"/>
          </a:xfrm>
          <a:prstGeom prst="ellipse">
            <a:avLst/>
          </a:prstGeom>
          <a:solidFill>
            <a:srgbClr val="D40000">
              <a:alpha val="1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D40000"/>
                </a:solidFill>
                <a:latin typeface="Indie Flower"/>
                <a:ea typeface="Indie Flower"/>
                <a:cs typeface="Indie Flower"/>
                <a:sym typeface="Indie Flower"/>
              </a:rPr>
              <a:t>Agent</a:t>
            </a:r>
            <a:endParaRPr lang="en-US" sz="1100"/>
          </a:p>
        </p:txBody>
      </p:sp>
      <p:sp>
        <p:nvSpPr>
          <p:cNvPr id="33" name="AutoShape 33"/>
          <p:cNvSpPr/>
          <p:nvPr/>
        </p:nvSpPr>
        <p:spPr>
          <a:xfrm>
            <a:off x="6731000" y="4826000"/>
            <a:ext cx="889000" cy="508000"/>
          </a:xfrm>
          <a:prstGeom prst="roundRect">
            <a:avLst>
              <a:gd name="adj" fmla="val 0"/>
            </a:avLst>
          </a:prstGeom>
          <a:solidFill>
            <a:srgbClr val="F3F4F6">
              <a:alpha val="100000"/>
            </a:srgbClr>
          </a:solidFill>
          <a:ln w="25400" cap="flat" cmpd="sng">
            <a:solidFill>
              <a:srgbClr val="374151">
                <a:alpha val="100000"/>
              </a:srgbClr>
            </a:solid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4B5563"/>
                </a:solidFill>
                <a:latin typeface="Indie Flower"/>
                <a:ea typeface="Indie Flower"/>
                <a:cs typeface="Indie Flower"/>
                <a:sym typeface="Indie Flower"/>
              </a:rPr>
              <a:t>Tool A</a:t>
            </a:r>
            <a:endParaRPr lang="en-US" sz="1100"/>
          </a:p>
        </p:txBody>
      </p:sp>
      <p:sp>
        <p:nvSpPr>
          <p:cNvPr id="34" name="AutoShape 34"/>
          <p:cNvSpPr/>
          <p:nvPr/>
        </p:nvSpPr>
        <p:spPr>
          <a:xfrm>
            <a:off x="9525000" y="4826000"/>
            <a:ext cx="889000" cy="508000"/>
          </a:xfrm>
          <a:prstGeom prst="roundRect">
            <a:avLst>
              <a:gd name="adj" fmla="val 0"/>
            </a:avLst>
          </a:prstGeom>
          <a:solidFill>
            <a:srgbClr val="F3F4F6">
              <a:alpha val="100000"/>
            </a:srgbClr>
          </a:solidFill>
          <a:ln w="25400" cap="flat" cmpd="sng">
            <a:solidFill>
              <a:srgbClr val="374151">
                <a:alpha val="100000"/>
              </a:srgbClr>
            </a:solid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4B5563"/>
                </a:solidFill>
                <a:latin typeface="Indie Flower"/>
                <a:ea typeface="Indie Flower"/>
                <a:cs typeface="Indie Flower"/>
                <a:sym typeface="Indie Flower"/>
              </a:rPr>
              <a:t>Data B</a:t>
            </a:r>
            <a:endParaRPr lang="en-US" sz="1100"/>
          </a:p>
        </p:txBody>
      </p:sp>
      <p:sp>
        <p:nvSpPr>
          <p:cNvPr id="35" name="AutoShape 35"/>
          <p:cNvSpPr/>
          <p:nvPr/>
        </p:nvSpPr>
        <p:spPr>
          <a:xfrm>
            <a:off x="8128000" y="5842000"/>
            <a:ext cx="889000" cy="381000"/>
          </a:xfrm>
          <a:prstGeom prst="roundRect">
            <a:avLst>
              <a:gd name="adj" fmla="val 0"/>
            </a:avLst>
          </a:prstGeom>
          <a:solidFill>
            <a:srgbClr val="F3F4F6">
              <a:alpha val="100000"/>
            </a:srgbClr>
          </a:solidFill>
          <a:ln w="25400" cap="flat" cmpd="sng">
            <a:solidFill>
              <a:srgbClr val="374151">
                <a:alpha val="100000"/>
              </a:srgbClr>
            </a:solid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4B5563"/>
                </a:solidFill>
                <a:latin typeface="Indie Flower"/>
                <a:ea typeface="Indie Flower"/>
                <a:cs typeface="Indie Flower"/>
                <a:sym typeface="Indie Flower"/>
              </a:rPr>
              <a:t>Skill C</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 Single-Agent Architecture</a:t>
            </a:r>
            <a:endParaRPr lang="en-US" sz="1100"/>
          </a:p>
        </p:txBody>
      </p:sp>
      <p:sp>
        <p:nvSpPr>
          <p:cNvPr id="3" name="AutoShape 3"/>
          <p:cNvSpPr/>
          <p:nvPr/>
        </p:nvSpPr>
        <p:spPr>
          <a:xfrm>
            <a:off x="762000" y="1524000"/>
            <a:ext cx="4953000" cy="2286000"/>
          </a:xfrm>
          <a:prstGeom prst="roundRect">
            <a:avLst>
              <a:gd name="adj" fmla="val 6666"/>
            </a:avLst>
          </a:prstGeom>
          <a:solidFill>
            <a:srgbClr val="F8F8F8">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4953000" cy="508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78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D40000"/>
                </a:solidFill>
                <a:latin typeface="Poppins"/>
                <a:ea typeface="Poppins"/>
                <a:cs typeface="Poppins"/>
                <a:sym typeface="Poppins"/>
              </a:rPr>
              <a:t>CORE CONCEPT</a:t>
            </a:r>
            <a:endParaRPr lang="en-US" sz="1100"/>
          </a:p>
        </p:txBody>
      </p:sp>
      <p:sp>
        <p:nvSpPr>
          <p:cNvPr id="6" name="AutoShape 6"/>
          <p:cNvSpPr/>
          <p:nvPr/>
        </p:nvSpPr>
        <p:spPr>
          <a:xfrm>
            <a:off x="1016000" y="2286000"/>
            <a:ext cx="4445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55555"/>
                </a:solidFill>
                <a:latin typeface="Noto Sans SC"/>
                <a:ea typeface="Noto Sans SC"/>
                <a:cs typeface="Noto Sans SC"/>
                <a:sym typeface="Noto Sans SC"/>
              </a:rPr>
              <a:t>A</a:t>
            </a:r>
            <a:r>
              <a:rPr lang="en-US" sz="1200" b="1" i="0" u="none" strike="noStrike">
                <a:solidFill>
                  <a:srgbClr val="555555"/>
                </a:solidFill>
                <a:latin typeface="Noto Sans SC"/>
                <a:ea typeface="Noto Sans SC"/>
                <a:cs typeface="Noto Sans SC"/>
                <a:sym typeface="Noto Sans SC"/>
              </a:rPr>
              <a:t>Single-Agent</a:t>
            </a:r>
            <a:r>
              <a:rPr lang="en-US" sz="1200" b="0" i="0" u="none" strike="noStrike">
                <a:solidFill>
                  <a:srgbClr val="555555"/>
                </a:solidFill>
                <a:latin typeface="Noto Sans SC"/>
                <a:ea typeface="Noto Sans SC"/>
                <a:cs typeface="Noto Sans SC"/>
                <a:sym typeface="Noto Sans SC"/>
              </a:rPr>
              <a:t>handles the entire task workflow independently: from understanding the task, making decisions, invoking tools, to generating the final result. This is the most fundamental and straightforward architectural form in AI systems.</a:t>
            </a:r>
            <a:endParaRPr lang="en-US" sz="1100"/>
          </a:p>
        </p:txBody>
      </p:sp>
      <p:sp>
        <p:nvSpPr>
          <p:cNvPr id="7" name="AutoShape 7"/>
          <p:cNvSpPr/>
          <p:nvPr/>
        </p:nvSpPr>
        <p:spPr>
          <a:xfrm>
            <a:off x="762000" y="4064000"/>
            <a:ext cx="4953000" cy="1651000"/>
          </a:xfrm>
          <a:prstGeom prst="roundRect">
            <a:avLst>
              <a:gd name="adj" fmla="val 9230"/>
            </a:avLst>
          </a:prstGeom>
          <a:solidFill>
            <a:srgbClr val="FFF5F5">
              <a:alpha val="100000"/>
            </a:srgbClr>
          </a:solidFill>
          <a:ln w="12700" cap="flat" cmpd="sng">
            <a:solidFill>
              <a:srgbClr val="D40000">
                <a:alpha val="1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4381500"/>
            <a:ext cx="609600" cy="609600"/>
          </a:xfrm>
          <a:prstGeom prst="rect">
            <a:avLst/>
          </a:prstGeom>
        </p:spPr>
      </p:pic>
      <p:sp>
        <p:nvSpPr>
          <p:cNvPr id="9" name="AutoShape 9"/>
          <p:cNvSpPr/>
          <p:nvPr/>
        </p:nvSpPr>
        <p:spPr>
          <a:xfrm>
            <a:off x="1841500" y="4318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Poppins"/>
                <a:ea typeface="Poppins"/>
                <a:cs typeface="Poppins"/>
                <a:sym typeface="Poppins"/>
              </a:rPr>
              <a:t>Key Characteristics</a:t>
            </a:r>
            <a:endParaRPr lang="en-US" sz="1100"/>
          </a:p>
        </p:txBody>
      </p:sp>
      <p:sp>
        <p:nvSpPr>
          <p:cNvPr id="10" name="AutoShape 10"/>
          <p:cNvSpPr/>
          <p:nvPr/>
        </p:nvSpPr>
        <p:spPr>
          <a:xfrm>
            <a:off x="1841500" y="4826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Noto Sans SC"/>
                <a:ea typeface="Noto Sans SC"/>
                <a:cs typeface="Noto Sans SC"/>
                <a:sym typeface="Noto Sans SC"/>
              </a:rPr>
              <a:t>• Full end-to-end workflow management</a:t>
            </a:r>
            <a:br>
              <a:rPr lang="en-US" sz="1200" b="0" i="0" u="none" strike="noStrike">
                <a:solidFill>
                  <a:srgbClr val="666666"/>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 Self-sufficient decision making loop</a:t>
            </a:r>
            <a:br>
              <a:rPr lang="en-US" sz="1200" b="0" i="0" u="none" strike="noStrike">
                <a:solidFill>
                  <a:srgbClr val="666666"/>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 Simplest form for AI orchestration</a:t>
            </a:r>
            <a:endParaRPr lang="en-US" sz="1100"/>
          </a:p>
        </p:txBody>
      </p:sp>
      <p:sp>
        <p:nvSpPr>
          <p:cNvPr id="11" name="AutoShape 11"/>
          <p:cNvSpPr/>
          <p:nvPr/>
        </p:nvSpPr>
        <p:spPr>
          <a:xfrm>
            <a:off x="5969000" y="1524000"/>
            <a:ext cx="5207000" cy="4572000"/>
          </a:xfrm>
          <a:prstGeom prst="roundRect">
            <a:avLst>
              <a:gd name="adj" fmla="val 4444"/>
            </a:avLst>
          </a:prstGeom>
          <a:solidFill>
            <a:srgbClr val="F9F9F9">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2" name="AutoShape 12"/>
          <p:cNvSpPr/>
          <p:nvPr/>
        </p:nvSpPr>
        <p:spPr>
          <a:xfrm>
            <a:off x="6223000" y="1778000"/>
            <a:ext cx="469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Indie Flower"/>
                <a:ea typeface="Indie Flower"/>
                <a:cs typeface="Indie Flower"/>
                <a:sym typeface="Indie Flower"/>
              </a:rPr>
              <a:t>Single-Agent Workflow</a:t>
            </a:r>
            <a:endParaRPr lang="en-US" sz="1100"/>
          </a:p>
        </p:txBody>
      </p:sp>
      <p:sp>
        <p:nvSpPr>
          <p:cNvPr id="13" name="AutoShape 13"/>
          <p:cNvSpPr/>
          <p:nvPr/>
        </p:nvSpPr>
        <p:spPr>
          <a:xfrm>
            <a:off x="6604000" y="2413000"/>
            <a:ext cx="3810000" cy="762000"/>
          </a:xfrm>
          <a:prstGeom prst="ellipse">
            <a:avLst/>
          </a:prstGeom>
          <a:solidFill>
            <a:srgbClr val="FFFFFF">
              <a:alpha val="100000"/>
            </a:srgbClr>
          </a:solidFill>
          <a:ln w="25400" cap="flat" cmpd="sng">
            <a:solidFill>
              <a:srgbClr val="D40000">
                <a:alpha val="100000"/>
              </a:srgbClr>
            </a:solidFill>
            <a:prstDash val="dash"/>
            <a:round/>
          </a:ln>
        </p:spPr>
        <p:txBody>
          <a:bodyPr vert="horz" wrap="square" lIns="0" tIns="0" rIns="0" bIns="0" rtlCol="0" anchor="ctr" anchorCtr="0"/>
          <a:lstStyle/>
          <a:p>
            <a:pPr indent="0" algn="ctr">
              <a:lnSpc>
                <a:spcPct val="125000"/>
              </a:lnSpc>
              <a:defRPr/>
            </a:pPr>
            <a:r>
              <a:rPr lang="en-US" sz="1400" b="0" i="0" u="none" strike="noStrike">
                <a:solidFill>
                  <a:srgbClr val="D40000"/>
                </a:solidFill>
                <a:latin typeface="Indie Flower"/>
                <a:ea typeface="Indie Flower"/>
                <a:cs typeface="Indie Flower"/>
                <a:sym typeface="Indie Flower"/>
              </a:rPr>
              <a:t>Task Input</a:t>
            </a:r>
            <a:endParaRPr lang="en-US" sz="1100"/>
          </a:p>
        </p:txBody>
      </p:sp>
      <p:sp>
        <p:nvSpPr>
          <p:cNvPr id="14" name="AutoShape 14"/>
          <p:cNvSpPr/>
          <p:nvPr/>
        </p:nvSpPr>
        <p:spPr>
          <a:xfrm>
            <a:off x="8255000" y="3175000"/>
            <a:ext cx="508000" cy="381000"/>
          </a:xfrm>
          <a:prstGeom prst="downArrow">
            <a:avLst/>
          </a:prstGeom>
          <a:solidFill>
            <a:srgbClr val="D40000">
              <a:alpha val="60000"/>
            </a:srgbClr>
          </a:solidFill>
          <a:ln w="12700" cap="flat" cmpd="sng">
            <a:solidFill>
              <a:srgbClr val="D40000">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3683000"/>
            <a:ext cx="4064000" cy="1524000"/>
          </a:xfrm>
          <a:prstGeom prst="roundRect">
            <a:avLst>
              <a:gd name="adj" fmla="val 0"/>
            </a:avLst>
          </a:prstGeom>
          <a:solidFill>
            <a:srgbClr val="FFF5F5">
              <a:alpha val="100000"/>
            </a:srgbClr>
          </a:solidFill>
          <a:ln w="25400" cap="flat" cmpd="sng">
            <a:solidFill>
              <a:srgbClr val="D40000">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Indie Flower"/>
                <a:ea typeface="Indie Flower"/>
                <a:cs typeface="Indie Flower"/>
                <a:sym typeface="Indie Flower"/>
              </a:rPr>
              <a:t>Agent</a:t>
            </a:r>
            <a:endParaRPr lang="en-US" sz="1100"/>
          </a:p>
          <a:p>
            <a:pPr indent="0" algn="ctr">
              <a:lnSpc>
                <a:spcPct val="125000"/>
              </a:lnSpc>
            </a:pPr>
            <a:r>
              <a:rPr lang="en-US" sz="1200" b="0" i="0" u="none" strike="noStrike">
                <a:solidFill>
                  <a:srgbClr val="333333"/>
                </a:solidFill>
                <a:latin typeface="Indie Flower"/>
                <a:ea typeface="Indie Flower"/>
                <a:cs typeface="Indie Flower"/>
                <a:sym typeface="Indie Flower"/>
              </a:rPr>
              <a:t>(Understand → Plan → Execute)</a:t>
            </a:r>
            <a:endParaRPr lang="en-US" sz="1200" b="0" i="0" u="none" strike="noStrike">
              <a:solidFill>
                <a:srgbClr val="333333"/>
              </a:solidFill>
              <a:latin typeface="Indie Flower"/>
              <a:ea typeface="Indie Flower"/>
              <a:cs typeface="Indie Flower"/>
              <a:sym typeface="Indie Flower"/>
            </a:endParaRPr>
          </a:p>
        </p:txBody>
      </p:sp>
      <p:sp>
        <p:nvSpPr>
          <p:cNvPr id="16" name="AutoShape 16"/>
          <p:cNvSpPr/>
          <p:nvPr/>
        </p:nvSpPr>
        <p:spPr>
          <a:xfrm>
            <a:off x="8255000" y="5334000"/>
            <a:ext cx="508000" cy="381000"/>
          </a:xfrm>
          <a:prstGeom prst="downArrow">
            <a:avLst/>
          </a:prstGeom>
          <a:solidFill>
            <a:srgbClr val="D40000">
              <a:alpha val="60000"/>
            </a:srgbClr>
          </a:solidFill>
          <a:ln w="12700" cap="flat" cmpd="sng">
            <a:solidFill>
              <a:srgbClr val="D40000">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604000" y="5715000"/>
            <a:ext cx="3810000" cy="635000"/>
          </a:xfrm>
          <a:prstGeom prst="ellipse">
            <a:avLst/>
          </a:prstGeom>
          <a:solidFill>
            <a:srgbClr val="FFFFFF">
              <a:alpha val="100000"/>
            </a:srgbClr>
          </a:solidFill>
          <a:ln w="25400" cap="flat" cmpd="sng">
            <a:solidFill>
              <a:srgbClr val="D40000">
                <a:alpha val="100000"/>
              </a:srgbClr>
            </a:solidFill>
            <a:prstDash val="dash"/>
            <a:round/>
          </a:ln>
        </p:spPr>
        <p:txBody>
          <a:bodyPr vert="horz" wrap="square" lIns="0" tIns="0" rIns="0" bIns="0" rtlCol="0" anchor="ctr" anchorCtr="0"/>
          <a:lstStyle/>
          <a:p>
            <a:pPr indent="0" algn="ctr">
              <a:lnSpc>
                <a:spcPct val="125000"/>
              </a:lnSpc>
              <a:defRPr/>
            </a:pPr>
            <a:r>
              <a:rPr lang="en-US" sz="1400" b="0" i="0" u="none" strike="noStrike">
                <a:solidFill>
                  <a:srgbClr val="D40000"/>
                </a:solidFill>
                <a:latin typeface="Indie Flower"/>
                <a:ea typeface="Indie Flower"/>
                <a:cs typeface="Indie Flower"/>
                <a:sym typeface="Indie Flower"/>
              </a:rPr>
              <a:t>Task Output</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 Multi-Agent Architecture</a:t>
            </a:r>
            <a:endParaRPr lang="en-US" sz="1100"/>
          </a:p>
        </p:txBody>
      </p:sp>
      <p:sp>
        <p:nvSpPr>
          <p:cNvPr id="3" name="AutoShape 3"/>
          <p:cNvSpPr/>
          <p:nvPr/>
        </p:nvSpPr>
        <p:spPr>
          <a:xfrm>
            <a:off x="762000" y="1524000"/>
            <a:ext cx="4953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666666"/>
                </a:solidFill>
                <a:latin typeface="Poppins"/>
                <a:ea typeface="Poppins"/>
                <a:cs typeface="Poppins"/>
                <a:sym typeface="Poppins"/>
              </a:rPr>
              <a:t>A Multi-Agent system mimics a high-performing human team, structured with one central orchestrator and multiple specialized executors to tackle complex, multi-faceted challenges.</a:t>
            </a:r>
            <a:endParaRPr lang="en-US" sz="1100"/>
          </a:p>
        </p:txBody>
      </p:sp>
      <p:sp>
        <p:nvSpPr>
          <p:cNvPr id="4" name="AutoShape 4"/>
          <p:cNvSpPr/>
          <p:nvPr/>
        </p:nvSpPr>
        <p:spPr>
          <a:xfrm>
            <a:off x="762000" y="2603500"/>
            <a:ext cx="4953000" cy="1460500"/>
          </a:xfrm>
          <a:prstGeom prst="roundRect">
            <a:avLst>
              <a:gd name="adj" fmla="val 10434"/>
            </a:avLst>
          </a:prstGeom>
          <a:solidFill>
            <a:srgbClr val="FDF2F2">
              <a:alpha val="100000"/>
            </a:srgbClr>
          </a:solidFill>
          <a:ln w="12700" cap="flat" cmpd="sng">
            <a:solidFill>
              <a:srgbClr val="D40000">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603500"/>
            <a:ext cx="76200" cy="14605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921000"/>
            <a:ext cx="609600" cy="609600"/>
          </a:xfrm>
          <a:prstGeom prst="rect">
            <a:avLst/>
          </a:prstGeom>
        </p:spPr>
      </p:pic>
      <p:sp>
        <p:nvSpPr>
          <p:cNvPr id="7" name="AutoShape 7"/>
          <p:cNvSpPr/>
          <p:nvPr/>
        </p:nvSpPr>
        <p:spPr>
          <a:xfrm>
            <a:off x="1841500" y="2794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D40000"/>
                </a:solidFill>
                <a:latin typeface="Poppins"/>
                <a:ea typeface="Poppins"/>
                <a:cs typeface="Poppins"/>
                <a:sym typeface="Poppins"/>
              </a:rPr>
              <a:t>Main Agent (The Coordinator)</a:t>
            </a:r>
            <a:endParaRPr lang="en-US" sz="1100"/>
          </a:p>
        </p:txBody>
      </p:sp>
      <p:sp>
        <p:nvSpPr>
          <p:cNvPr id="8" name="AutoShape 8"/>
          <p:cNvSpPr/>
          <p:nvPr/>
        </p:nvSpPr>
        <p:spPr>
          <a:xfrm>
            <a:off x="1841500" y="32385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Responsible for decomposing the main goal into sub-tasks, assigning work to the right specialists, and finally compiling all the outputs into a cohesive result.</a:t>
            </a:r>
            <a:endParaRPr lang="en-US" sz="1100"/>
          </a:p>
        </p:txBody>
      </p:sp>
      <p:sp>
        <p:nvSpPr>
          <p:cNvPr id="9" name="AutoShape 9"/>
          <p:cNvSpPr/>
          <p:nvPr/>
        </p:nvSpPr>
        <p:spPr>
          <a:xfrm>
            <a:off x="762000" y="4254500"/>
            <a:ext cx="4953000" cy="1460500"/>
          </a:xfrm>
          <a:prstGeom prst="roundRect">
            <a:avLst>
              <a:gd name="adj" fmla="val 10434"/>
            </a:avLst>
          </a:prstGeom>
          <a:solidFill>
            <a:srgbClr val="F9F9F9">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254500"/>
            <a:ext cx="76200" cy="14605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572000"/>
            <a:ext cx="609600" cy="609600"/>
          </a:xfrm>
          <a:prstGeom prst="rect">
            <a:avLst/>
          </a:prstGeom>
        </p:spPr>
      </p:pic>
      <p:sp>
        <p:nvSpPr>
          <p:cNvPr id="12" name="AutoShape 12"/>
          <p:cNvSpPr/>
          <p:nvPr/>
        </p:nvSpPr>
        <p:spPr>
          <a:xfrm>
            <a:off x="1841500" y="4445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D40000"/>
                </a:solidFill>
                <a:latin typeface="Poppins"/>
                <a:ea typeface="Poppins"/>
                <a:cs typeface="Poppins"/>
                <a:sym typeface="Poppins"/>
              </a:rPr>
              <a:t>Specialized Sub-Agents</a:t>
            </a:r>
            <a:endParaRPr lang="en-US" sz="1100"/>
          </a:p>
        </p:txBody>
      </p:sp>
      <p:sp>
        <p:nvSpPr>
          <p:cNvPr id="13" name="AutoShape 13"/>
          <p:cNvSpPr/>
          <p:nvPr/>
        </p:nvSpPr>
        <p:spPr>
          <a:xfrm>
            <a:off x="1841500" y="48895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Poppins"/>
                <a:ea typeface="Poppins"/>
                <a:cs typeface="Poppins"/>
                <a:sym typeface="Poppins"/>
              </a:rPr>
              <a:t>Domain experts (e.g., Research, Analysis) that execute their assigned micro-tasks independently and efficiently, then send their specific results back to the Main Agent.</a:t>
            </a:r>
            <a:endParaRPr lang="en-US" sz="1100"/>
          </a:p>
        </p:txBody>
      </p:sp>
      <p:sp>
        <p:nvSpPr>
          <p:cNvPr id="14" name="AutoShape 14"/>
          <p:cNvSpPr/>
          <p:nvPr/>
        </p:nvSpPr>
        <p:spPr>
          <a:xfrm>
            <a:off x="6096000" y="1397000"/>
            <a:ext cx="508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Comic Sans Ms" panose="030F0902030302020204"/>
                <a:ea typeface="Comic Sans Ms" panose="030F0902030302020204"/>
                <a:cs typeface="Comic Sans Ms" panose="030F0902030302020204"/>
                <a:sym typeface="Comic Sans Ms" panose="030F0902030302020204"/>
              </a:rPr>
              <a:t>Multi-Agent Team</a:t>
            </a:r>
            <a:endParaRPr lang="en-US" sz="1100"/>
          </a:p>
        </p:txBody>
      </p:sp>
      <p:sp>
        <p:nvSpPr>
          <p:cNvPr id="15" name="AutoShape 15"/>
          <p:cNvSpPr/>
          <p:nvPr/>
        </p:nvSpPr>
        <p:spPr>
          <a:xfrm>
            <a:off x="6731000" y="2032000"/>
            <a:ext cx="3810000" cy="1016000"/>
          </a:xfrm>
          <a:prstGeom prst="roundRect">
            <a:avLst>
              <a:gd name="adj" fmla="val 15000"/>
            </a:avLst>
          </a:prstGeom>
          <a:solidFill>
            <a:srgbClr val="FFF8DC">
              <a:alpha val="100000"/>
            </a:srgbClr>
          </a:solidFill>
          <a:ln w="25400" cap="flat" cmpd="sng">
            <a:solidFill>
              <a:srgbClr val="D40000">
                <a:alpha val="100000"/>
              </a:srgbClr>
            </a:solidFill>
            <a:prstDash val="dash"/>
            <a:round/>
          </a:ln>
        </p:spPr>
        <p:txBody>
          <a:bodyPr vert="horz" wrap="square" lIns="0" tIns="0" rIns="0" bIns="0" rtlCol="0" anchor="ctr" anchorCtr="0"/>
          <a:lstStyle/>
          <a:p>
            <a:pPr indent="0" algn="ctr">
              <a:lnSpc>
                <a:spcPct val="125000"/>
              </a:lnSpc>
              <a:defRPr/>
            </a:pPr>
            <a:r>
              <a:rPr lang="en-US" sz="1400" b="1" i="0" u="none" strike="noStrike">
                <a:solidFill>
                  <a:srgbClr val="D40000"/>
                </a:solidFill>
                <a:latin typeface="Comic Sans Ms" panose="030F0902030302020204"/>
                <a:ea typeface="Comic Sans Ms" panose="030F0902030302020204"/>
                <a:cs typeface="Comic Sans Ms" panose="030F0902030302020204"/>
                <a:sym typeface="Comic Sans Ms" panose="030F0902030302020204"/>
              </a:rPr>
              <a:t>Main Agent (Coordinator)</a:t>
            </a:r>
            <a:endParaRPr lang="en-US" sz="1100"/>
          </a:p>
        </p:txBody>
      </p:sp>
      <p:sp>
        <p:nvSpPr>
          <p:cNvPr id="16" name="AutoShape 16"/>
          <p:cNvSpPr/>
          <p:nvPr/>
        </p:nvSpPr>
        <p:spPr>
          <a:xfrm>
            <a:off x="6096000" y="3556000"/>
            <a:ext cx="1651000" cy="1270000"/>
          </a:xfrm>
          <a:prstGeom prst="roundRect">
            <a:avLst>
              <a:gd name="adj" fmla="val 12000"/>
            </a:avLst>
          </a:prstGeom>
          <a:solidFill>
            <a:srgbClr val="F0F8FF">
              <a:alpha val="100000"/>
            </a:srgbClr>
          </a:solidFill>
          <a:ln w="25400" cap="flat" cmpd="sng">
            <a:solidFill>
              <a:srgbClr val="0066CC">
                <a:alpha val="100000"/>
              </a:srgbClr>
            </a:solidFill>
            <a:prstDash val="dash"/>
            <a:round/>
          </a:ln>
        </p:spPr>
        <p:txBody>
          <a:bodyPr vert="horz" wrap="square" lIns="0" tIns="0" rIns="0" bIns="0" rtlCol="0" anchor="ctr" anchorCtr="0"/>
          <a:lstStyle/>
          <a:p>
            <a:pPr indent="0" algn="ctr">
              <a:lnSpc>
                <a:spcPct val="125000"/>
              </a:lnSpc>
              <a:defRPr/>
            </a:pPr>
            <a:r>
              <a:rPr lang="en-US" sz="1200" b="1" i="0" u="none" strike="noStrike">
                <a:solidFill>
                  <a:srgbClr val="0066CC"/>
                </a:solidFill>
                <a:latin typeface="Comic Sans Ms" panose="030F0902030302020204"/>
                <a:ea typeface="Comic Sans Ms" panose="030F0902030302020204"/>
                <a:cs typeface="Comic Sans Ms" panose="030F0902030302020204"/>
                <a:sym typeface="Comic Sans Ms" panose="030F0902030302020204"/>
              </a:rPr>
              <a:t>Sub-Agent</a:t>
            </a:r>
            <a:endParaRPr lang="en-US" sz="1100"/>
          </a:p>
          <a:p>
            <a:pPr indent="0" algn="ctr">
              <a:lnSpc>
                <a:spcPct val="125000"/>
              </a:lnSpc>
            </a:pPr>
            <a:r>
              <a:rPr lang="en-US" sz="1200" b="1" i="0" u="none" strike="noStrike">
                <a:solidFill>
                  <a:srgbClr val="0066CC"/>
                </a:solidFill>
                <a:latin typeface="Comic Sans Ms" panose="030F0902030302020204"/>
                <a:ea typeface="Comic Sans Ms" panose="030F0902030302020204"/>
                <a:cs typeface="Comic Sans Ms" panose="030F0902030302020204"/>
                <a:sym typeface="Comic Sans Ms" panose="030F0902030302020204"/>
              </a:rPr>
              <a:t>(Research)</a:t>
            </a:r>
            <a:endParaRPr lang="en-US" sz="1200" b="1" i="0" u="none" strike="noStrike">
              <a:solidFill>
                <a:srgbClr val="0066CC"/>
              </a:solidFill>
              <a:latin typeface="Comic Sans Ms" panose="030F0902030302020204"/>
              <a:ea typeface="Comic Sans Ms" panose="030F0902030302020204"/>
              <a:cs typeface="Comic Sans Ms" panose="030F0902030302020204"/>
              <a:sym typeface="Comic Sans Ms" panose="030F0902030302020204"/>
            </a:endParaRPr>
          </a:p>
        </p:txBody>
      </p:sp>
      <p:sp>
        <p:nvSpPr>
          <p:cNvPr id="17" name="AutoShape 17"/>
          <p:cNvSpPr/>
          <p:nvPr/>
        </p:nvSpPr>
        <p:spPr>
          <a:xfrm>
            <a:off x="8001000" y="3556000"/>
            <a:ext cx="1651000" cy="1270000"/>
          </a:xfrm>
          <a:prstGeom prst="roundRect">
            <a:avLst>
              <a:gd name="adj" fmla="val 12000"/>
            </a:avLst>
          </a:prstGeom>
          <a:solidFill>
            <a:srgbClr val="F0F8FF">
              <a:alpha val="100000"/>
            </a:srgbClr>
          </a:solidFill>
          <a:ln w="25400" cap="flat" cmpd="sng">
            <a:solidFill>
              <a:srgbClr val="0066CC">
                <a:alpha val="100000"/>
              </a:srgbClr>
            </a:solidFill>
            <a:prstDash val="dash"/>
            <a:round/>
          </a:ln>
        </p:spPr>
        <p:txBody>
          <a:bodyPr vert="horz" wrap="square" lIns="0" tIns="0" rIns="0" bIns="0" rtlCol="0" anchor="ctr" anchorCtr="0"/>
          <a:lstStyle/>
          <a:p>
            <a:pPr indent="0" algn="ctr">
              <a:lnSpc>
                <a:spcPct val="125000"/>
              </a:lnSpc>
              <a:defRPr/>
            </a:pPr>
            <a:r>
              <a:rPr lang="en-US" sz="1200" b="1" i="0" u="none" strike="noStrike">
                <a:solidFill>
                  <a:srgbClr val="0066CC"/>
                </a:solidFill>
                <a:latin typeface="Comic Sans Ms" panose="030F0902030302020204"/>
                <a:ea typeface="Comic Sans Ms" panose="030F0902030302020204"/>
                <a:cs typeface="Comic Sans Ms" panose="030F0902030302020204"/>
                <a:sym typeface="Comic Sans Ms" panose="030F0902030302020204"/>
              </a:rPr>
              <a:t>Sub-Agent</a:t>
            </a:r>
            <a:endParaRPr lang="en-US" sz="1100"/>
          </a:p>
          <a:p>
            <a:pPr indent="0" algn="ctr">
              <a:lnSpc>
                <a:spcPct val="125000"/>
              </a:lnSpc>
            </a:pPr>
            <a:r>
              <a:rPr lang="en-US" sz="1200" b="1" i="0" u="none" strike="noStrike">
                <a:solidFill>
                  <a:srgbClr val="0066CC"/>
                </a:solidFill>
                <a:latin typeface="Comic Sans Ms" panose="030F0902030302020204"/>
                <a:ea typeface="Comic Sans Ms" panose="030F0902030302020204"/>
                <a:cs typeface="Comic Sans Ms" panose="030F0902030302020204"/>
                <a:sym typeface="Comic Sans Ms" panose="030F0902030302020204"/>
              </a:rPr>
              <a:t>(Analysis)</a:t>
            </a:r>
            <a:endParaRPr lang="en-US" sz="1200" b="1" i="0" u="none" strike="noStrike">
              <a:solidFill>
                <a:srgbClr val="0066CC"/>
              </a:solidFill>
              <a:latin typeface="Comic Sans Ms" panose="030F0902030302020204"/>
              <a:ea typeface="Comic Sans Ms" panose="030F0902030302020204"/>
              <a:cs typeface="Comic Sans Ms" panose="030F0902030302020204"/>
              <a:sym typeface="Comic Sans Ms" panose="030F0902030302020204"/>
            </a:endParaRPr>
          </a:p>
        </p:txBody>
      </p:sp>
      <p:sp>
        <p:nvSpPr>
          <p:cNvPr id="18" name="AutoShape 18"/>
          <p:cNvSpPr/>
          <p:nvPr/>
        </p:nvSpPr>
        <p:spPr>
          <a:xfrm>
            <a:off x="9906000" y="3556000"/>
            <a:ext cx="1651000" cy="1270000"/>
          </a:xfrm>
          <a:prstGeom prst="roundRect">
            <a:avLst>
              <a:gd name="adj" fmla="val 12000"/>
            </a:avLst>
          </a:prstGeom>
          <a:solidFill>
            <a:srgbClr val="F0F8FF">
              <a:alpha val="100000"/>
            </a:srgbClr>
          </a:solidFill>
          <a:ln w="25400" cap="flat" cmpd="sng">
            <a:solidFill>
              <a:srgbClr val="0066CC">
                <a:alpha val="100000"/>
              </a:srgbClr>
            </a:solidFill>
            <a:prstDash val="dash"/>
            <a:round/>
          </a:ln>
        </p:spPr>
        <p:txBody>
          <a:bodyPr vert="horz" wrap="square" lIns="0" tIns="0" rIns="0" bIns="0" rtlCol="0" anchor="ctr" anchorCtr="0"/>
          <a:lstStyle/>
          <a:p>
            <a:pPr indent="0" algn="ctr">
              <a:lnSpc>
                <a:spcPct val="125000"/>
              </a:lnSpc>
              <a:defRPr/>
            </a:pPr>
            <a:r>
              <a:rPr lang="en-US" sz="1200" b="1" i="0" u="none" strike="noStrike">
                <a:solidFill>
                  <a:srgbClr val="0066CC"/>
                </a:solidFill>
                <a:latin typeface="Comic Sans Ms" panose="030F0902030302020204"/>
                <a:ea typeface="Comic Sans Ms" panose="030F0902030302020204"/>
                <a:cs typeface="Comic Sans Ms" panose="030F0902030302020204"/>
                <a:sym typeface="Comic Sans Ms" panose="030F0902030302020204"/>
              </a:rPr>
              <a:t>Sub-Agent</a:t>
            </a:r>
            <a:endParaRPr lang="en-US" sz="1100"/>
          </a:p>
          <a:p>
            <a:pPr indent="0" algn="ctr">
              <a:lnSpc>
                <a:spcPct val="125000"/>
              </a:lnSpc>
            </a:pPr>
            <a:r>
              <a:rPr lang="en-US" sz="1200" b="1" i="0" u="none" strike="noStrike">
                <a:solidFill>
                  <a:srgbClr val="0066CC"/>
                </a:solidFill>
                <a:latin typeface="Comic Sans Ms" panose="030F0902030302020204"/>
                <a:ea typeface="Comic Sans Ms" panose="030F0902030302020204"/>
                <a:cs typeface="Comic Sans Ms" panose="030F0902030302020204"/>
                <a:sym typeface="Comic Sans Ms" panose="030F0902030302020204"/>
              </a:rPr>
              <a:t>(Reporting)</a:t>
            </a:r>
            <a:endParaRPr lang="en-US" sz="1200" b="1" i="0" u="none" strike="noStrike">
              <a:solidFill>
                <a:srgbClr val="0066CC"/>
              </a:solidFill>
              <a:latin typeface="Comic Sans Ms" panose="030F0902030302020204"/>
              <a:ea typeface="Comic Sans Ms" panose="030F0902030302020204"/>
              <a:cs typeface="Comic Sans Ms" panose="030F0902030302020204"/>
              <a:sym typeface="Comic Sans Ms" panose="030F0902030302020204"/>
            </a:endParaRPr>
          </a:p>
        </p:txBody>
      </p:sp>
      <p:sp>
        <p:nvSpPr>
          <p:cNvPr id="19" name="AutoShape 19"/>
          <p:cNvSpPr/>
          <p:nvPr/>
        </p:nvSpPr>
        <p:spPr>
          <a:xfrm>
            <a:off x="6540500" y="3048000"/>
            <a:ext cx="762000" cy="254000"/>
          </a:xfrm>
          <a:prstGeom prst="downArrow">
            <a:avLst/>
          </a:prstGeom>
          <a:solidFill>
            <a:srgbClr val="D40000">
              <a:alpha val="6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900" b="0" i="0" u="none" strike="noStrike">
                <a:solidFill>
                  <a:srgbClr val="FFFFFF"/>
                </a:solidFill>
                <a:latin typeface="Comic Sans Ms" panose="030F0902030302020204"/>
                <a:ea typeface="Comic Sans Ms" panose="030F0902030302020204"/>
                <a:cs typeface="Comic Sans Ms" panose="030F0902030302020204"/>
                <a:sym typeface="Comic Sans Ms" panose="030F0902030302020204"/>
              </a:rPr>
              <a:t>Task</a:t>
            </a:r>
            <a:endParaRPr lang="en-US" sz="1100"/>
          </a:p>
        </p:txBody>
      </p:sp>
      <p:sp>
        <p:nvSpPr>
          <p:cNvPr id="20" name="AutoShape 20"/>
          <p:cNvSpPr/>
          <p:nvPr/>
        </p:nvSpPr>
        <p:spPr>
          <a:xfrm>
            <a:off x="8445500" y="3048000"/>
            <a:ext cx="762000" cy="254000"/>
          </a:xfrm>
          <a:prstGeom prst="downArrow">
            <a:avLst/>
          </a:prstGeom>
          <a:solidFill>
            <a:srgbClr val="D40000">
              <a:alpha val="6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900" b="0" i="0" u="none" strike="noStrike">
                <a:solidFill>
                  <a:srgbClr val="FFFFFF"/>
                </a:solidFill>
                <a:latin typeface="Comic Sans Ms" panose="030F0902030302020204"/>
                <a:ea typeface="Comic Sans Ms" panose="030F0902030302020204"/>
                <a:cs typeface="Comic Sans Ms" panose="030F0902030302020204"/>
                <a:sym typeface="Comic Sans Ms" panose="030F0902030302020204"/>
              </a:rPr>
              <a:t>Task</a:t>
            </a:r>
            <a:endParaRPr lang="en-US" sz="1100"/>
          </a:p>
        </p:txBody>
      </p:sp>
      <p:sp>
        <p:nvSpPr>
          <p:cNvPr id="21" name="AutoShape 21"/>
          <p:cNvSpPr/>
          <p:nvPr/>
        </p:nvSpPr>
        <p:spPr>
          <a:xfrm>
            <a:off x="10350500" y="3048000"/>
            <a:ext cx="762000" cy="254000"/>
          </a:xfrm>
          <a:prstGeom prst="downArrow">
            <a:avLst/>
          </a:prstGeom>
          <a:solidFill>
            <a:srgbClr val="D40000">
              <a:alpha val="6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900" b="0" i="0" u="none" strike="noStrike">
                <a:solidFill>
                  <a:srgbClr val="FFFFFF"/>
                </a:solidFill>
                <a:latin typeface="Comic Sans Ms" panose="030F0902030302020204"/>
                <a:ea typeface="Comic Sans Ms" panose="030F0902030302020204"/>
                <a:cs typeface="Comic Sans Ms" panose="030F0902030302020204"/>
                <a:sym typeface="Comic Sans Ms" panose="030F0902030302020204"/>
              </a:rPr>
              <a:t>Task</a:t>
            </a:r>
            <a:endParaRPr lang="en-US" sz="1100"/>
          </a:p>
        </p:txBody>
      </p:sp>
      <p:sp>
        <p:nvSpPr>
          <p:cNvPr id="22" name="AutoShape 22"/>
          <p:cNvSpPr/>
          <p:nvPr/>
        </p:nvSpPr>
        <p:spPr>
          <a:xfrm>
            <a:off x="6540500" y="4953000"/>
            <a:ext cx="762000" cy="254000"/>
          </a:xfrm>
          <a:prstGeom prst="upArrow">
            <a:avLst/>
          </a:prstGeom>
          <a:solidFill>
            <a:srgbClr val="0066CC">
              <a:alpha val="6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900" b="0" i="0" u="none" strike="noStrike">
                <a:solidFill>
                  <a:srgbClr val="FFFFFF"/>
                </a:solidFill>
                <a:latin typeface="Comic Sans Ms" panose="030F0902030302020204"/>
                <a:ea typeface="Comic Sans Ms" panose="030F0902030302020204"/>
                <a:cs typeface="Comic Sans Ms" panose="030F0902030302020204"/>
                <a:sym typeface="Comic Sans Ms" panose="030F0902030302020204"/>
              </a:rPr>
              <a:t>Result</a:t>
            </a:r>
            <a:endParaRPr lang="en-US" sz="1100"/>
          </a:p>
        </p:txBody>
      </p:sp>
      <p:sp>
        <p:nvSpPr>
          <p:cNvPr id="23" name="AutoShape 23"/>
          <p:cNvSpPr/>
          <p:nvPr/>
        </p:nvSpPr>
        <p:spPr>
          <a:xfrm>
            <a:off x="8445500" y="4953000"/>
            <a:ext cx="762000" cy="254000"/>
          </a:xfrm>
          <a:prstGeom prst="upArrow">
            <a:avLst/>
          </a:prstGeom>
          <a:solidFill>
            <a:srgbClr val="0066CC">
              <a:alpha val="6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900" b="0" i="0" u="none" strike="noStrike">
                <a:solidFill>
                  <a:srgbClr val="FFFFFF"/>
                </a:solidFill>
                <a:latin typeface="Comic Sans Ms" panose="030F0902030302020204"/>
                <a:ea typeface="Comic Sans Ms" panose="030F0902030302020204"/>
                <a:cs typeface="Comic Sans Ms" panose="030F0902030302020204"/>
                <a:sym typeface="Comic Sans Ms" panose="030F0902030302020204"/>
              </a:rPr>
              <a:t>Result</a:t>
            </a:r>
            <a:endParaRPr lang="en-US" sz="1100"/>
          </a:p>
        </p:txBody>
      </p:sp>
      <p:sp>
        <p:nvSpPr>
          <p:cNvPr id="24" name="AutoShape 24"/>
          <p:cNvSpPr/>
          <p:nvPr/>
        </p:nvSpPr>
        <p:spPr>
          <a:xfrm>
            <a:off x="10350500" y="4953000"/>
            <a:ext cx="762000" cy="254000"/>
          </a:xfrm>
          <a:prstGeom prst="upArrow">
            <a:avLst/>
          </a:prstGeom>
          <a:solidFill>
            <a:srgbClr val="0066CC">
              <a:alpha val="6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900" b="0" i="0" u="none" strike="noStrike">
                <a:solidFill>
                  <a:srgbClr val="FFFFFF"/>
                </a:solidFill>
                <a:latin typeface="Comic Sans Ms" panose="030F0902030302020204"/>
                <a:ea typeface="Comic Sans Ms" panose="030F0902030302020204"/>
                <a:cs typeface="Comic Sans Ms" panose="030F0902030302020204"/>
                <a:sym typeface="Comic Sans Ms" panose="030F0902030302020204"/>
              </a:rPr>
              <a:t>Result</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The Design Principle</a:t>
            </a:r>
            <a:endParaRPr lang="en-US" sz="1100"/>
          </a:p>
        </p:txBody>
      </p:sp>
      <p:sp>
        <p:nvSpPr>
          <p:cNvPr id="4" name="AutoShape 4"/>
          <p:cNvSpPr/>
          <p:nvPr/>
        </p:nvSpPr>
        <p:spPr>
          <a:xfrm>
            <a:off x="762000" y="1270000"/>
            <a:ext cx="1066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D40000"/>
                </a:solidFill>
                <a:latin typeface="Poppins"/>
                <a:ea typeface="Poppins"/>
                <a:cs typeface="Poppins"/>
                <a:sym typeface="Poppins"/>
              </a:rPr>
              <a:t>Keep It Simple</a:t>
            </a:r>
            <a:endParaRPr lang="en-US" sz="1100"/>
          </a:p>
        </p:txBody>
      </p:sp>
      <p:sp>
        <p:nvSpPr>
          <p:cNvPr id="5" name="AutoShape 5"/>
          <p:cNvSpPr/>
          <p:nvPr/>
        </p:nvSpPr>
        <p:spPr>
          <a:xfrm>
            <a:off x="762000" y="2032000"/>
            <a:ext cx="5588000" cy="1079500"/>
          </a:xfrm>
          <a:prstGeom prst="roundRect">
            <a:avLst>
              <a:gd name="adj" fmla="val 11764"/>
            </a:avLst>
          </a:prstGeom>
          <a:solidFill>
            <a:srgbClr val="FFFFFF">
              <a:alpha val="92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6" name="AutoShape 6"/>
          <p:cNvSpPr/>
          <p:nvPr/>
        </p:nvSpPr>
        <p:spPr>
          <a:xfrm>
            <a:off x="762000" y="2184400"/>
            <a:ext cx="76200" cy="774700"/>
          </a:xfrm>
          <a:prstGeom prst="roundRect">
            <a:avLst>
              <a:gd name="adj" fmla="val 5000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41400" y="2311400"/>
            <a:ext cx="558800" cy="558800"/>
          </a:xfrm>
          <a:prstGeom prst="ellipse">
            <a:avLst/>
          </a:prstGeom>
          <a:solidFill>
            <a:srgbClr val="D40000">
              <a:alpha val="1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8400" y="2438400"/>
            <a:ext cx="304800" cy="304800"/>
          </a:xfrm>
          <a:prstGeom prst="rect">
            <a:avLst/>
          </a:prstGeom>
        </p:spPr>
      </p:pic>
      <p:sp>
        <p:nvSpPr>
          <p:cNvPr id="9" name="AutoShape 9"/>
          <p:cNvSpPr/>
          <p:nvPr/>
        </p:nvSpPr>
        <p:spPr>
          <a:xfrm>
            <a:off x="1778000" y="2159000"/>
            <a:ext cx="4318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Poppins"/>
                <a:ea typeface="Poppins"/>
                <a:cs typeface="Poppins"/>
                <a:sym typeface="Poppins"/>
              </a:rPr>
              <a:t>1. Use a prompt if it can solve the problem</a:t>
            </a:r>
            <a:endParaRPr lang="en-US" sz="1100"/>
          </a:p>
        </p:txBody>
      </p:sp>
      <p:sp>
        <p:nvSpPr>
          <p:cNvPr id="10" name="AutoShape 10"/>
          <p:cNvSpPr/>
          <p:nvPr/>
        </p:nvSpPr>
        <p:spPr>
          <a:xfrm>
            <a:off x="1778000" y="2667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55555"/>
                </a:solidFill>
                <a:latin typeface="Poppins"/>
                <a:ea typeface="Poppins"/>
                <a:cs typeface="Poppins"/>
                <a:sym typeface="Poppins"/>
              </a:rPr>
              <a:t>Start with a well-crafted prompt to a large language model for the most straightforward tasks.</a:t>
            </a:r>
            <a:endParaRPr lang="en-US" sz="1100"/>
          </a:p>
        </p:txBody>
      </p:sp>
      <p:sp>
        <p:nvSpPr>
          <p:cNvPr id="11" name="AutoShape 11"/>
          <p:cNvSpPr/>
          <p:nvPr/>
        </p:nvSpPr>
        <p:spPr>
          <a:xfrm>
            <a:off x="762000" y="3302000"/>
            <a:ext cx="5588000" cy="1079500"/>
          </a:xfrm>
          <a:prstGeom prst="roundRect">
            <a:avLst>
              <a:gd name="adj" fmla="val 11764"/>
            </a:avLst>
          </a:prstGeom>
          <a:solidFill>
            <a:srgbClr val="FFFFFF">
              <a:alpha val="92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2" name="AutoShape 12"/>
          <p:cNvSpPr/>
          <p:nvPr/>
        </p:nvSpPr>
        <p:spPr>
          <a:xfrm>
            <a:off x="762000" y="3454400"/>
            <a:ext cx="76200" cy="774700"/>
          </a:xfrm>
          <a:prstGeom prst="roundRect">
            <a:avLst>
              <a:gd name="adj" fmla="val 5000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41400" y="3581400"/>
            <a:ext cx="558800" cy="558800"/>
          </a:xfrm>
          <a:prstGeom prst="ellipse">
            <a:avLst/>
          </a:prstGeom>
          <a:solidFill>
            <a:srgbClr val="D40000">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400" y="3708400"/>
            <a:ext cx="304800" cy="304800"/>
          </a:xfrm>
          <a:prstGeom prst="rect">
            <a:avLst/>
          </a:prstGeom>
        </p:spPr>
      </p:pic>
      <p:sp>
        <p:nvSpPr>
          <p:cNvPr id="15" name="AutoShape 15"/>
          <p:cNvSpPr/>
          <p:nvPr/>
        </p:nvSpPr>
        <p:spPr>
          <a:xfrm>
            <a:off x="1778000" y="3429000"/>
            <a:ext cx="4318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Poppins"/>
                <a:ea typeface="Poppins"/>
                <a:cs typeface="Poppins"/>
                <a:sym typeface="Poppins"/>
              </a:rPr>
              <a:t>2. Use an automated workflow for fixed steps</a:t>
            </a:r>
            <a:endParaRPr lang="en-US" sz="1100"/>
          </a:p>
        </p:txBody>
      </p:sp>
      <p:sp>
        <p:nvSpPr>
          <p:cNvPr id="16" name="AutoShape 16"/>
          <p:cNvSpPr/>
          <p:nvPr/>
        </p:nvSpPr>
        <p:spPr>
          <a:xfrm>
            <a:off x="1778000" y="38354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55555"/>
                </a:solidFill>
                <a:latin typeface="Poppins"/>
                <a:ea typeface="Poppins"/>
                <a:cs typeface="Poppins"/>
                <a:sym typeface="Poppins"/>
              </a:rPr>
              <a:t>For tasks requiring a predictable sequence of operations, a workflow is more efficient and reliable.</a:t>
            </a:r>
            <a:endParaRPr lang="en-US" sz="1100"/>
          </a:p>
        </p:txBody>
      </p:sp>
      <p:sp>
        <p:nvSpPr>
          <p:cNvPr id="17" name="AutoShape 17"/>
          <p:cNvSpPr/>
          <p:nvPr/>
        </p:nvSpPr>
        <p:spPr>
          <a:xfrm>
            <a:off x="762000" y="4572000"/>
            <a:ext cx="5588000" cy="1079500"/>
          </a:xfrm>
          <a:prstGeom prst="roundRect">
            <a:avLst>
              <a:gd name="adj" fmla="val 11764"/>
            </a:avLst>
          </a:prstGeom>
          <a:solidFill>
            <a:srgbClr val="FFFFFF">
              <a:alpha val="92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8" name="AutoShape 18"/>
          <p:cNvSpPr/>
          <p:nvPr/>
        </p:nvSpPr>
        <p:spPr>
          <a:xfrm>
            <a:off x="762000" y="4724400"/>
            <a:ext cx="76200" cy="774700"/>
          </a:xfrm>
          <a:prstGeom prst="roundRect">
            <a:avLst>
              <a:gd name="adj" fmla="val 5000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041400" y="4851400"/>
            <a:ext cx="558800" cy="558800"/>
          </a:xfrm>
          <a:prstGeom prst="ellipse">
            <a:avLst/>
          </a:prstGeom>
          <a:solidFill>
            <a:srgbClr val="D40000">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8400" y="4978400"/>
            <a:ext cx="304800" cy="304800"/>
          </a:xfrm>
          <a:prstGeom prst="rect">
            <a:avLst/>
          </a:prstGeom>
        </p:spPr>
      </p:pic>
      <p:sp>
        <p:nvSpPr>
          <p:cNvPr id="21" name="AutoShape 21"/>
          <p:cNvSpPr/>
          <p:nvPr/>
        </p:nvSpPr>
        <p:spPr>
          <a:xfrm>
            <a:off x="1778000" y="4699000"/>
            <a:ext cx="4318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Poppins"/>
                <a:ea typeface="Poppins"/>
                <a:cs typeface="Poppins"/>
                <a:sym typeface="Poppins"/>
              </a:rPr>
              <a:t>3. Use a single Agent for autonomous tasks</a:t>
            </a:r>
            <a:endParaRPr lang="en-US" sz="1100"/>
          </a:p>
        </p:txBody>
      </p:sp>
      <p:sp>
        <p:nvSpPr>
          <p:cNvPr id="22" name="AutoShape 22"/>
          <p:cNvSpPr/>
          <p:nvPr/>
        </p:nvSpPr>
        <p:spPr>
          <a:xfrm>
            <a:off x="1778000" y="51054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55555"/>
                </a:solidFill>
                <a:latin typeface="Poppins"/>
                <a:ea typeface="Poppins"/>
                <a:cs typeface="Poppins"/>
                <a:sym typeface="Poppins"/>
              </a:rPr>
              <a:t>Reserve the complexity of a full Agent for problems that demand true adaptability and independent action.</a:t>
            </a:r>
            <a:endParaRPr lang="en-US" sz="1100"/>
          </a:p>
        </p:txBody>
      </p:sp>
      <p:sp>
        <p:nvSpPr>
          <p:cNvPr id="23" name="AutoShape 23"/>
          <p:cNvSpPr/>
          <p:nvPr/>
        </p:nvSpPr>
        <p:spPr>
          <a:xfrm>
            <a:off x="762000" y="5842000"/>
            <a:ext cx="5588000" cy="889000"/>
          </a:xfrm>
          <a:prstGeom prst="roundRect">
            <a:avLst>
              <a:gd name="adj" fmla="val 14285"/>
            </a:avLst>
          </a:prstGeom>
          <a:solidFill>
            <a:srgbClr val="FFFFFF">
              <a:alpha val="92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4" name="AutoShape 24"/>
          <p:cNvSpPr/>
          <p:nvPr/>
        </p:nvSpPr>
        <p:spPr>
          <a:xfrm>
            <a:off x="762000" y="5969000"/>
            <a:ext cx="76200" cy="635000"/>
          </a:xfrm>
          <a:prstGeom prst="roundRect">
            <a:avLst>
              <a:gd name="adj" fmla="val 5000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1041400" y="5969000"/>
            <a:ext cx="558800" cy="558800"/>
          </a:xfrm>
          <a:prstGeom prst="ellipse">
            <a:avLst/>
          </a:prstGeom>
          <a:solidFill>
            <a:srgbClr val="D40000">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68400" y="6096000"/>
            <a:ext cx="304800" cy="304800"/>
          </a:xfrm>
          <a:prstGeom prst="rect">
            <a:avLst/>
          </a:prstGeom>
        </p:spPr>
      </p:pic>
      <p:sp>
        <p:nvSpPr>
          <p:cNvPr id="27" name="AutoShape 27"/>
          <p:cNvSpPr/>
          <p:nvPr/>
        </p:nvSpPr>
        <p:spPr>
          <a:xfrm>
            <a:off x="1778000" y="5905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1300" b="1" i="0" u="none" strike="noStrike">
                <a:solidFill>
                  <a:srgbClr val="333333"/>
                </a:solidFill>
                <a:latin typeface="Poppins"/>
                <a:ea typeface="Poppins"/>
                <a:cs typeface="Poppins"/>
                <a:sym typeface="Poppins"/>
              </a:rPr>
              <a:t>4. Multi-Agent system only for high complexity</a:t>
            </a:r>
            <a:br>
              <a:rPr lang="en-US" sz="1600" b="0" i="0" u="none" strike="noStrike">
                <a:solidFill>
                  <a:srgbClr val="1F2329"/>
                </a:solidFill>
                <a:latin typeface="Poppins"/>
                <a:ea typeface="Poppins"/>
                <a:cs typeface="Poppins"/>
                <a:sym typeface="Poppins"/>
              </a:rPr>
            </a:br>
            <a:r>
              <a:rPr lang="en-US" sz="1000" b="0" i="0" u="none" strike="noStrike">
                <a:solidFill>
                  <a:srgbClr val="555555"/>
                </a:solidFill>
                <a:latin typeface="Poppins"/>
                <a:ea typeface="Poppins"/>
                <a:cs typeface="Poppins"/>
                <a:sym typeface="Poppins"/>
              </a:rPr>
              <a:t>Deploy a team of agents only when no single agent can handle the complexity.</a:t>
            </a:r>
            <a:endParaRPr lang="en-US" sz="1100"/>
          </a:p>
        </p:txBody>
      </p:sp>
      <p:pic>
        <p:nvPicPr>
          <p:cNvPr id="31" name="Picture 30"/>
          <p:cNvPicPr>
            <a:picLocks noChangeAspect="1"/>
          </p:cNvPicPr>
          <p:nvPr/>
        </p:nvPicPr>
        <p:blipFill>
          <a:blip r:embed="rId10"/>
          <a:stretch>
            <a:fillRect/>
          </a:stretch>
        </p:blipFill>
        <p:spPr>
          <a:xfrm>
            <a:off x="6448425" y="2032000"/>
            <a:ext cx="5702935" cy="46983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032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333333"/>
                </a:solidFill>
                <a:latin typeface="Poppins"/>
                <a:ea typeface="Poppins"/>
                <a:cs typeface="Poppins"/>
                <a:sym typeface="Poppins"/>
              </a:rPr>
              <a:t>Thank You</a:t>
            </a:r>
            <a:endParaRPr lang="en-US" sz="1100"/>
          </a:p>
        </p:txBody>
      </p:sp>
      <p:sp>
        <p:nvSpPr>
          <p:cNvPr id="3" name="AutoShape 3"/>
          <p:cNvSpPr/>
          <p:nvPr/>
        </p:nvSpPr>
        <p:spPr>
          <a:xfrm>
            <a:off x="0" y="3175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D40000"/>
                </a:solidFill>
                <a:latin typeface="Poppins"/>
                <a:ea typeface="Poppins"/>
                <a:cs typeface="Poppins"/>
                <a:sym typeface="Poppins"/>
              </a:rPr>
              <a:t>Q&amp;A</a:t>
            </a:r>
            <a:endParaRPr lang="en-US" sz="1100"/>
          </a:p>
        </p:txBody>
      </p:sp>
      <p:sp>
        <p:nvSpPr>
          <p:cNvPr id="4" name="AutoShape 4"/>
          <p:cNvSpPr/>
          <p:nvPr/>
        </p:nvSpPr>
        <p:spPr>
          <a:xfrm>
            <a:off x="0" y="5080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spc="200">
                <a:solidFill>
                  <a:srgbClr val="999999"/>
                </a:solidFill>
                <a:latin typeface="Poppins"/>
                <a:ea typeface="Poppins"/>
                <a:cs typeface="Poppins"/>
                <a:sym typeface="Poppins"/>
              </a:rPr>
              <a:t>LET'S DISCUSS</a:t>
            </a:r>
            <a:endParaRPr lang="en-US" sz="1100"/>
          </a:p>
        </p:txBody>
      </p:sp>
      <p:sp>
        <p:nvSpPr>
          <p:cNvPr id="5" name="AutoShape 5"/>
          <p:cNvSpPr/>
          <p:nvPr/>
        </p:nvSpPr>
        <p:spPr>
          <a:xfrm>
            <a:off x="5588000" y="5842000"/>
            <a:ext cx="1016000" cy="50800"/>
          </a:xfrm>
          <a:prstGeom prst="roundRect">
            <a:avLst>
              <a:gd name="adj" fmla="val 0"/>
            </a:avLst>
          </a:prstGeom>
          <a:solidFill>
            <a:srgbClr val="D4000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9417</Words>
  <Application>WPS Presentation</Application>
  <PresentationFormat/>
  <Paragraphs>442</Paragraphs>
  <Slides>18</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18</vt:i4>
      </vt:variant>
    </vt:vector>
  </HeadingPairs>
  <TitlesOfParts>
    <vt:vector size="41" baseType="lpstr">
      <vt:lpstr>Arial</vt:lpstr>
      <vt:lpstr>SimSun</vt:lpstr>
      <vt:lpstr>Wingdings</vt:lpstr>
      <vt:lpstr>Arial</vt:lpstr>
      <vt:lpstr>Poppins</vt:lpstr>
      <vt:lpstr>Thonburi</vt:lpstr>
      <vt:lpstr>Noto Sans SC</vt:lpstr>
      <vt:lpstr>SimSun</vt:lpstr>
      <vt:lpstr>Comic Sans Ms</vt:lpstr>
      <vt:lpstr>Indie Flower</vt:lpstr>
      <vt:lpstr>Microsoft YaHei</vt:lpstr>
      <vt:lpstr>汉仪旗黑</vt:lpstr>
      <vt:lpstr>Arial Unicode MS</vt:lpstr>
      <vt:lpstr>汉仪书宋二KW</vt:lpstr>
      <vt:lpstr>Comic Sans Ms</vt:lpstr>
      <vt:lpstr>Indie Flower</vt:lpstr>
      <vt:lpstr>Noto Sans SC</vt:lpstr>
      <vt:lpstr>Poppins</vt:lpstr>
      <vt:lpstr>苹方-简</vt:lpstr>
      <vt:lpstr>Apple Color Emoji</vt:lpstr>
      <vt:lpstr>宋体-简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Thomas</cp:lastModifiedBy>
  <cp:revision>4</cp:revision>
  <dcterms:created xsi:type="dcterms:W3CDTF">2026-04-23T23:32:24Z</dcterms:created>
  <dcterms:modified xsi:type="dcterms:W3CDTF">2026-04-23T23:32:24Z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1033-12.1.25869.25869</vt:lpwstr>
  </property>
  <property fmtid="{D5CDD505-2E9C-101B-9397-08002B2CF9AE}" pid="3" name="ICV">
    <vt:lpwstr>60F289064FCC274EF341EA69BD7DCEDD_42</vt:lpwstr>
  </property>
</Properties>
</file>